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40"/>
  </p:notesMasterIdLst>
  <p:handoutMasterIdLst>
    <p:handoutMasterId r:id="rId41"/>
  </p:handoutMasterIdLst>
  <p:sldIdLst>
    <p:sldId id="640" r:id="rId2"/>
    <p:sldId id="559" r:id="rId3"/>
    <p:sldId id="2076137026" r:id="rId4"/>
    <p:sldId id="545" r:id="rId5"/>
    <p:sldId id="2076137062" r:id="rId6"/>
    <p:sldId id="2076137063" r:id="rId7"/>
    <p:sldId id="532" r:id="rId8"/>
    <p:sldId id="2076137030" r:id="rId9"/>
    <p:sldId id="2076137041" r:id="rId10"/>
    <p:sldId id="2076137042" r:id="rId11"/>
    <p:sldId id="2076137053" r:id="rId12"/>
    <p:sldId id="2076137055" r:id="rId13"/>
    <p:sldId id="2076137054" r:id="rId14"/>
    <p:sldId id="517" r:id="rId15"/>
    <p:sldId id="2076137027" r:id="rId16"/>
    <p:sldId id="2076137029" r:id="rId17"/>
    <p:sldId id="2076137028" r:id="rId18"/>
    <p:sldId id="2076137052" r:id="rId19"/>
    <p:sldId id="2076137044" r:id="rId20"/>
    <p:sldId id="2076137045" r:id="rId21"/>
    <p:sldId id="2076137046" r:id="rId22"/>
    <p:sldId id="2076137047" r:id="rId23"/>
    <p:sldId id="2076137048" r:id="rId24"/>
    <p:sldId id="2076137031" r:id="rId25"/>
    <p:sldId id="2076137049" r:id="rId26"/>
    <p:sldId id="2076137050" r:id="rId27"/>
    <p:sldId id="2076137057" r:id="rId28"/>
    <p:sldId id="2076137032" r:id="rId29"/>
    <p:sldId id="2076137033" r:id="rId30"/>
    <p:sldId id="2076137034" r:id="rId31"/>
    <p:sldId id="2076137035" r:id="rId32"/>
    <p:sldId id="2076137036" r:id="rId33"/>
    <p:sldId id="2076137058" r:id="rId34"/>
    <p:sldId id="2076137059" r:id="rId35"/>
    <p:sldId id="2076137060" r:id="rId36"/>
    <p:sldId id="2076137043" r:id="rId37"/>
    <p:sldId id="2076137064" r:id="rId38"/>
    <p:sldId id="2076137061" r:id="rId39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l slides" id="{69C79F6C-AA55-485D-BB9F-DB342B159076}">
          <p14:sldIdLst>
            <p14:sldId id="640"/>
            <p14:sldId id="559"/>
            <p14:sldId id="2076137026"/>
            <p14:sldId id="545"/>
            <p14:sldId id="2076137062"/>
            <p14:sldId id="2076137063"/>
            <p14:sldId id="532"/>
            <p14:sldId id="2076137030"/>
            <p14:sldId id="2076137041"/>
            <p14:sldId id="2076137042"/>
            <p14:sldId id="2076137053"/>
            <p14:sldId id="2076137055"/>
            <p14:sldId id="2076137054"/>
            <p14:sldId id="517"/>
            <p14:sldId id="2076137027"/>
            <p14:sldId id="2076137029"/>
            <p14:sldId id="2076137028"/>
            <p14:sldId id="2076137052"/>
            <p14:sldId id="2076137044"/>
            <p14:sldId id="2076137045"/>
            <p14:sldId id="2076137046"/>
            <p14:sldId id="2076137047"/>
            <p14:sldId id="2076137048"/>
            <p14:sldId id="2076137031"/>
            <p14:sldId id="2076137049"/>
            <p14:sldId id="2076137050"/>
            <p14:sldId id="2076137057"/>
            <p14:sldId id="2076137032"/>
            <p14:sldId id="2076137033"/>
            <p14:sldId id="2076137034"/>
            <p14:sldId id="2076137035"/>
            <p14:sldId id="2076137036"/>
            <p14:sldId id="2076137058"/>
            <p14:sldId id="2076137059"/>
            <p14:sldId id="2076137060"/>
            <p14:sldId id="2076137043"/>
            <p14:sldId id="2076137064"/>
            <p14:sldId id="20761370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8" userDrawn="1">
          <p15:clr>
            <a:srgbClr val="A4A3A4"/>
          </p15:clr>
        </p15:guide>
        <p15:guide id="2" pos="230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elle Howell" initials="MH" lastIdx="4" clrIdx="0">
    <p:extLst>
      <p:ext uri="{19B8F6BF-5375-455C-9EA6-DF929625EA0E}">
        <p15:presenceInfo xmlns:p15="http://schemas.microsoft.com/office/powerpoint/2012/main" userId="Michelle How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DDDB"/>
    <a:srgbClr val="FDFEFE"/>
    <a:srgbClr val="FEFEFE"/>
    <a:srgbClr val="FFFEFE"/>
    <a:srgbClr val="FFFFFD"/>
    <a:srgbClr val="FFFFFE"/>
    <a:srgbClr val="FFFEFF"/>
    <a:srgbClr val="FEFFFF"/>
    <a:srgbClr val="FFFFFF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55" autoAdjust="0"/>
    <p:restoredTop sz="73245" autoAdjust="0"/>
  </p:normalViewPr>
  <p:slideViewPr>
    <p:cSldViewPr snapToGrid="0" showGuides="1">
      <p:cViewPr varScale="1">
        <p:scale>
          <a:sx n="81" d="100"/>
          <a:sy n="81" d="100"/>
        </p:scale>
        <p:origin x="1404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9" d="100"/>
        <a:sy n="149" d="100"/>
      </p:scale>
      <p:origin x="0" y="0"/>
    </p:cViewPr>
  </p:sorterViewPr>
  <p:notesViewPr>
    <p:cSldViewPr snapToGrid="0" showGuides="1">
      <p:cViewPr varScale="1">
        <p:scale>
          <a:sx n="42" d="100"/>
          <a:sy n="42" d="100"/>
        </p:scale>
        <p:origin x="2828" y="36"/>
      </p:cViewPr>
      <p:guideLst>
        <p:guide orient="horz" pos="3888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985D03-38A2-4B01-8F5D-846E480CAE1F}" type="doc">
      <dgm:prSet loTypeId="urn:microsoft.com/office/officeart/2005/8/layout/gear1" loCatId="cycle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6D983A2-11A6-47F3-ACF3-962DC8EA896B}">
      <dgm:prSet phldrT="[Tekst]" phldr="0"/>
      <dgm:spPr/>
      <dgm:t>
        <a:bodyPr/>
        <a:lstStyle/>
        <a:p>
          <a:r>
            <a:rPr lang="pl-PL" dirty="0"/>
            <a:t>Build</a:t>
          </a:r>
          <a:endParaRPr lang="en-US" dirty="0"/>
        </a:p>
      </dgm:t>
    </dgm:pt>
    <dgm:pt modelId="{6AF1D49E-F657-42BF-AE8D-2AAADF1D7AF2}" type="parTrans" cxnId="{58C7C225-DB67-4BB4-9C08-8EBC8F77C34E}">
      <dgm:prSet/>
      <dgm:spPr/>
      <dgm:t>
        <a:bodyPr/>
        <a:lstStyle/>
        <a:p>
          <a:endParaRPr lang="en-US"/>
        </a:p>
      </dgm:t>
    </dgm:pt>
    <dgm:pt modelId="{61972A33-8C00-4712-9F77-046AA12FA52D}" type="sibTrans" cxnId="{58C7C225-DB67-4BB4-9C08-8EBC8F77C34E}">
      <dgm:prSet/>
      <dgm:spPr/>
      <dgm:t>
        <a:bodyPr/>
        <a:lstStyle/>
        <a:p>
          <a:endParaRPr lang="en-US"/>
        </a:p>
      </dgm:t>
    </dgm:pt>
    <dgm:pt modelId="{64393BCF-A02E-4B22-9825-C9CE55BCF192}">
      <dgm:prSet phldrT="[Tekst]" phldr="0"/>
      <dgm:spPr/>
      <dgm:t>
        <a:bodyPr/>
        <a:lstStyle/>
        <a:p>
          <a:r>
            <a:rPr lang="pl-PL" dirty="0"/>
            <a:t>Build</a:t>
          </a:r>
          <a:endParaRPr lang="en-US" dirty="0"/>
        </a:p>
      </dgm:t>
    </dgm:pt>
    <dgm:pt modelId="{5FDD7B25-E5C8-45B7-B74D-550B68B7581E}" type="parTrans" cxnId="{8603ADFD-3219-4C46-8233-4DF1417A49A9}">
      <dgm:prSet/>
      <dgm:spPr/>
      <dgm:t>
        <a:bodyPr/>
        <a:lstStyle/>
        <a:p>
          <a:endParaRPr lang="en-US"/>
        </a:p>
      </dgm:t>
    </dgm:pt>
    <dgm:pt modelId="{32384A75-B9C2-4E20-84D0-919F59A361AE}" type="sibTrans" cxnId="{8603ADFD-3219-4C46-8233-4DF1417A49A9}">
      <dgm:prSet/>
      <dgm:spPr/>
      <dgm:t>
        <a:bodyPr/>
        <a:lstStyle/>
        <a:p>
          <a:endParaRPr lang="en-US"/>
        </a:p>
      </dgm:t>
    </dgm:pt>
    <dgm:pt modelId="{01CFB82B-5F05-45E4-B0BD-CE6F80764C0E}">
      <dgm:prSet phldrT="[Tekst]" phldr="0"/>
      <dgm:spPr/>
      <dgm:t>
        <a:bodyPr/>
        <a:lstStyle/>
        <a:p>
          <a:r>
            <a:rPr lang="pl-PL" dirty="0"/>
            <a:t>Build</a:t>
          </a:r>
          <a:endParaRPr lang="en-US" dirty="0"/>
        </a:p>
      </dgm:t>
    </dgm:pt>
    <dgm:pt modelId="{A697E85F-5DF5-450F-BB42-B915314D45FE}" type="sibTrans" cxnId="{F1297B73-C783-4838-BE0C-BF455AC0E8F8}">
      <dgm:prSet/>
      <dgm:spPr/>
      <dgm:t>
        <a:bodyPr/>
        <a:lstStyle/>
        <a:p>
          <a:endParaRPr lang="en-US"/>
        </a:p>
      </dgm:t>
    </dgm:pt>
    <dgm:pt modelId="{97EBCF3F-0F3B-401E-A6D1-AF2AB1EC74F4}" type="parTrans" cxnId="{F1297B73-C783-4838-BE0C-BF455AC0E8F8}">
      <dgm:prSet/>
      <dgm:spPr/>
      <dgm:t>
        <a:bodyPr/>
        <a:lstStyle/>
        <a:p>
          <a:endParaRPr lang="en-US"/>
        </a:p>
      </dgm:t>
    </dgm:pt>
    <dgm:pt modelId="{231ECD91-1B47-4319-978C-8577EC5593EA}" type="pres">
      <dgm:prSet presAssocID="{DF985D03-38A2-4B01-8F5D-846E480CAE1F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139492C-CF17-4962-B394-8C71E9DAF789}" type="pres">
      <dgm:prSet presAssocID="{01CFB82B-5F05-45E4-B0BD-CE6F80764C0E}" presName="gear1" presStyleLbl="node1" presStyleIdx="0" presStyleCnt="3">
        <dgm:presLayoutVars>
          <dgm:chMax val="1"/>
          <dgm:bulletEnabled val="1"/>
        </dgm:presLayoutVars>
      </dgm:prSet>
      <dgm:spPr/>
    </dgm:pt>
    <dgm:pt modelId="{00737F53-2EA4-4897-8E6A-A2D765B43EBE}" type="pres">
      <dgm:prSet presAssocID="{01CFB82B-5F05-45E4-B0BD-CE6F80764C0E}" presName="gear1srcNode" presStyleLbl="node1" presStyleIdx="0" presStyleCnt="3"/>
      <dgm:spPr/>
    </dgm:pt>
    <dgm:pt modelId="{74F8CFBA-EF3E-4A28-A6A5-52358A885246}" type="pres">
      <dgm:prSet presAssocID="{01CFB82B-5F05-45E4-B0BD-CE6F80764C0E}" presName="gear1dstNode" presStyleLbl="node1" presStyleIdx="0" presStyleCnt="3"/>
      <dgm:spPr/>
    </dgm:pt>
    <dgm:pt modelId="{AD08E859-CF6E-4C4C-89DE-918015282AE5}" type="pres">
      <dgm:prSet presAssocID="{C6D983A2-11A6-47F3-ACF3-962DC8EA896B}" presName="gear2" presStyleLbl="node1" presStyleIdx="1" presStyleCnt="3">
        <dgm:presLayoutVars>
          <dgm:chMax val="1"/>
          <dgm:bulletEnabled val="1"/>
        </dgm:presLayoutVars>
      </dgm:prSet>
      <dgm:spPr/>
    </dgm:pt>
    <dgm:pt modelId="{01395815-9D4B-4FC4-8720-0F1E3DEC26E8}" type="pres">
      <dgm:prSet presAssocID="{C6D983A2-11A6-47F3-ACF3-962DC8EA896B}" presName="gear2srcNode" presStyleLbl="node1" presStyleIdx="1" presStyleCnt="3"/>
      <dgm:spPr/>
    </dgm:pt>
    <dgm:pt modelId="{D311FF74-C16C-42BF-B301-4A7B7B3187A0}" type="pres">
      <dgm:prSet presAssocID="{C6D983A2-11A6-47F3-ACF3-962DC8EA896B}" presName="gear2dstNode" presStyleLbl="node1" presStyleIdx="1" presStyleCnt="3"/>
      <dgm:spPr/>
    </dgm:pt>
    <dgm:pt modelId="{54E05F58-FF03-4341-A666-9E113A9B8873}" type="pres">
      <dgm:prSet presAssocID="{64393BCF-A02E-4B22-9825-C9CE55BCF192}" presName="gear3" presStyleLbl="node1" presStyleIdx="2" presStyleCnt="3"/>
      <dgm:spPr/>
    </dgm:pt>
    <dgm:pt modelId="{CA97EAC6-1329-401B-89E0-AA057254160B}" type="pres">
      <dgm:prSet presAssocID="{64393BCF-A02E-4B22-9825-C9CE55BCF192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AD403E58-3D1D-4799-95AC-BB2AB5A493CF}" type="pres">
      <dgm:prSet presAssocID="{64393BCF-A02E-4B22-9825-C9CE55BCF192}" presName="gear3srcNode" presStyleLbl="node1" presStyleIdx="2" presStyleCnt="3"/>
      <dgm:spPr/>
    </dgm:pt>
    <dgm:pt modelId="{75956A36-595B-44A4-A03F-2EF3EB72A378}" type="pres">
      <dgm:prSet presAssocID="{64393BCF-A02E-4B22-9825-C9CE55BCF192}" presName="gear3dstNode" presStyleLbl="node1" presStyleIdx="2" presStyleCnt="3"/>
      <dgm:spPr/>
    </dgm:pt>
    <dgm:pt modelId="{ED9749AD-95F9-4921-B4A6-87409F56BCC8}" type="pres">
      <dgm:prSet presAssocID="{A697E85F-5DF5-450F-BB42-B915314D45FE}" presName="connector1" presStyleLbl="sibTrans2D1" presStyleIdx="0" presStyleCnt="3"/>
      <dgm:spPr/>
    </dgm:pt>
    <dgm:pt modelId="{8F2798BE-0387-4B4C-8A8D-E73E33D153B6}" type="pres">
      <dgm:prSet presAssocID="{61972A33-8C00-4712-9F77-046AA12FA52D}" presName="connector2" presStyleLbl="sibTrans2D1" presStyleIdx="1" presStyleCnt="3"/>
      <dgm:spPr/>
    </dgm:pt>
    <dgm:pt modelId="{3D81C32A-3FDA-4AD9-94CE-380F34B41F97}" type="pres">
      <dgm:prSet presAssocID="{32384A75-B9C2-4E20-84D0-919F59A361AE}" presName="connector3" presStyleLbl="sibTrans2D1" presStyleIdx="2" presStyleCnt="3"/>
      <dgm:spPr/>
    </dgm:pt>
  </dgm:ptLst>
  <dgm:cxnLst>
    <dgm:cxn modelId="{068E5317-D297-4187-A0F9-8FC99E70E923}" type="presOf" srcId="{61972A33-8C00-4712-9F77-046AA12FA52D}" destId="{8F2798BE-0387-4B4C-8A8D-E73E33D153B6}" srcOrd="0" destOrd="0" presId="urn:microsoft.com/office/officeart/2005/8/layout/gear1"/>
    <dgm:cxn modelId="{C2AFAB1F-29C9-4487-A963-DF96AF8B00FA}" type="presOf" srcId="{C6D983A2-11A6-47F3-ACF3-962DC8EA896B}" destId="{D311FF74-C16C-42BF-B301-4A7B7B3187A0}" srcOrd="2" destOrd="0" presId="urn:microsoft.com/office/officeart/2005/8/layout/gear1"/>
    <dgm:cxn modelId="{BAC18221-F900-465A-BD34-FD445D939D83}" type="presOf" srcId="{01CFB82B-5F05-45E4-B0BD-CE6F80764C0E}" destId="{00737F53-2EA4-4897-8E6A-A2D765B43EBE}" srcOrd="1" destOrd="0" presId="urn:microsoft.com/office/officeart/2005/8/layout/gear1"/>
    <dgm:cxn modelId="{E6CEC423-B9DD-45FF-9522-1586231D30B0}" type="presOf" srcId="{C6D983A2-11A6-47F3-ACF3-962DC8EA896B}" destId="{AD08E859-CF6E-4C4C-89DE-918015282AE5}" srcOrd="0" destOrd="0" presId="urn:microsoft.com/office/officeart/2005/8/layout/gear1"/>
    <dgm:cxn modelId="{58C7C225-DB67-4BB4-9C08-8EBC8F77C34E}" srcId="{DF985D03-38A2-4B01-8F5D-846E480CAE1F}" destId="{C6D983A2-11A6-47F3-ACF3-962DC8EA896B}" srcOrd="1" destOrd="0" parTransId="{6AF1D49E-F657-42BF-AE8D-2AAADF1D7AF2}" sibTransId="{61972A33-8C00-4712-9F77-046AA12FA52D}"/>
    <dgm:cxn modelId="{DC140B64-B407-4646-B861-5719D8F652AA}" type="presOf" srcId="{32384A75-B9C2-4E20-84D0-919F59A361AE}" destId="{3D81C32A-3FDA-4AD9-94CE-380F34B41F97}" srcOrd="0" destOrd="0" presId="urn:microsoft.com/office/officeart/2005/8/layout/gear1"/>
    <dgm:cxn modelId="{57A7C74D-2FF6-4B11-9A6B-6AC5A21A818B}" type="presOf" srcId="{64393BCF-A02E-4B22-9825-C9CE55BCF192}" destId="{54E05F58-FF03-4341-A666-9E113A9B8873}" srcOrd="0" destOrd="0" presId="urn:microsoft.com/office/officeart/2005/8/layout/gear1"/>
    <dgm:cxn modelId="{2260AD51-CFC8-44DE-A603-2CD2981754F2}" type="presOf" srcId="{64393BCF-A02E-4B22-9825-C9CE55BCF192}" destId="{AD403E58-3D1D-4799-95AC-BB2AB5A493CF}" srcOrd="2" destOrd="0" presId="urn:microsoft.com/office/officeart/2005/8/layout/gear1"/>
    <dgm:cxn modelId="{F1297B73-C783-4838-BE0C-BF455AC0E8F8}" srcId="{DF985D03-38A2-4B01-8F5D-846E480CAE1F}" destId="{01CFB82B-5F05-45E4-B0BD-CE6F80764C0E}" srcOrd="0" destOrd="0" parTransId="{97EBCF3F-0F3B-401E-A6D1-AF2AB1EC74F4}" sibTransId="{A697E85F-5DF5-450F-BB42-B915314D45FE}"/>
    <dgm:cxn modelId="{8D21D48F-9476-4143-BD4A-F07DD9A1E2EE}" type="presOf" srcId="{C6D983A2-11A6-47F3-ACF3-962DC8EA896B}" destId="{01395815-9D4B-4FC4-8720-0F1E3DEC26E8}" srcOrd="1" destOrd="0" presId="urn:microsoft.com/office/officeart/2005/8/layout/gear1"/>
    <dgm:cxn modelId="{9DC75FC8-5651-4814-90B0-D82BC1646B95}" type="presOf" srcId="{A697E85F-5DF5-450F-BB42-B915314D45FE}" destId="{ED9749AD-95F9-4921-B4A6-87409F56BCC8}" srcOrd="0" destOrd="0" presId="urn:microsoft.com/office/officeart/2005/8/layout/gear1"/>
    <dgm:cxn modelId="{C1A46DC9-F29C-4B43-874D-C1A114AE5C88}" type="presOf" srcId="{01CFB82B-5F05-45E4-B0BD-CE6F80764C0E}" destId="{B139492C-CF17-4962-B394-8C71E9DAF789}" srcOrd="0" destOrd="0" presId="urn:microsoft.com/office/officeart/2005/8/layout/gear1"/>
    <dgm:cxn modelId="{D47BEFD9-9980-4256-AE15-AE68F75A677A}" type="presOf" srcId="{01CFB82B-5F05-45E4-B0BD-CE6F80764C0E}" destId="{74F8CFBA-EF3E-4A28-A6A5-52358A885246}" srcOrd="2" destOrd="0" presId="urn:microsoft.com/office/officeart/2005/8/layout/gear1"/>
    <dgm:cxn modelId="{562F0BE0-18C2-4C2D-B77D-0E9B6202C45A}" type="presOf" srcId="{64393BCF-A02E-4B22-9825-C9CE55BCF192}" destId="{75956A36-595B-44A4-A03F-2EF3EB72A378}" srcOrd="3" destOrd="0" presId="urn:microsoft.com/office/officeart/2005/8/layout/gear1"/>
    <dgm:cxn modelId="{C8E5C4E4-633E-41C7-B2FD-92E22BB038B1}" type="presOf" srcId="{64393BCF-A02E-4B22-9825-C9CE55BCF192}" destId="{CA97EAC6-1329-401B-89E0-AA057254160B}" srcOrd="1" destOrd="0" presId="urn:microsoft.com/office/officeart/2005/8/layout/gear1"/>
    <dgm:cxn modelId="{FC01F0FC-4AE5-4FB3-8AE1-4AA9427F7037}" type="presOf" srcId="{DF985D03-38A2-4B01-8F5D-846E480CAE1F}" destId="{231ECD91-1B47-4319-978C-8577EC5593EA}" srcOrd="0" destOrd="0" presId="urn:microsoft.com/office/officeart/2005/8/layout/gear1"/>
    <dgm:cxn modelId="{8603ADFD-3219-4C46-8233-4DF1417A49A9}" srcId="{DF985D03-38A2-4B01-8F5D-846E480CAE1F}" destId="{64393BCF-A02E-4B22-9825-C9CE55BCF192}" srcOrd="2" destOrd="0" parTransId="{5FDD7B25-E5C8-45B7-B74D-550B68B7581E}" sibTransId="{32384A75-B9C2-4E20-84D0-919F59A361AE}"/>
    <dgm:cxn modelId="{765C0584-DE0B-4137-8C73-8ED110CB9615}" type="presParOf" srcId="{231ECD91-1B47-4319-978C-8577EC5593EA}" destId="{B139492C-CF17-4962-B394-8C71E9DAF789}" srcOrd="0" destOrd="0" presId="urn:microsoft.com/office/officeart/2005/8/layout/gear1"/>
    <dgm:cxn modelId="{F15AEE48-34AB-4C18-BAA0-CB341377FEC0}" type="presParOf" srcId="{231ECD91-1B47-4319-978C-8577EC5593EA}" destId="{00737F53-2EA4-4897-8E6A-A2D765B43EBE}" srcOrd="1" destOrd="0" presId="urn:microsoft.com/office/officeart/2005/8/layout/gear1"/>
    <dgm:cxn modelId="{658E8A79-4CC1-4024-B104-5DF3C10858C1}" type="presParOf" srcId="{231ECD91-1B47-4319-978C-8577EC5593EA}" destId="{74F8CFBA-EF3E-4A28-A6A5-52358A885246}" srcOrd="2" destOrd="0" presId="urn:microsoft.com/office/officeart/2005/8/layout/gear1"/>
    <dgm:cxn modelId="{9C823D23-6704-4C6A-BA4B-AE83D1E323F4}" type="presParOf" srcId="{231ECD91-1B47-4319-978C-8577EC5593EA}" destId="{AD08E859-CF6E-4C4C-89DE-918015282AE5}" srcOrd="3" destOrd="0" presId="urn:microsoft.com/office/officeart/2005/8/layout/gear1"/>
    <dgm:cxn modelId="{A7768D92-04A3-48F2-9704-78E1E0B5F629}" type="presParOf" srcId="{231ECD91-1B47-4319-978C-8577EC5593EA}" destId="{01395815-9D4B-4FC4-8720-0F1E3DEC26E8}" srcOrd="4" destOrd="0" presId="urn:microsoft.com/office/officeart/2005/8/layout/gear1"/>
    <dgm:cxn modelId="{6E3D533D-F2F4-4846-9296-64D7637074F6}" type="presParOf" srcId="{231ECD91-1B47-4319-978C-8577EC5593EA}" destId="{D311FF74-C16C-42BF-B301-4A7B7B3187A0}" srcOrd="5" destOrd="0" presId="urn:microsoft.com/office/officeart/2005/8/layout/gear1"/>
    <dgm:cxn modelId="{F1EBBA54-D056-4ECB-A464-F961C724588F}" type="presParOf" srcId="{231ECD91-1B47-4319-978C-8577EC5593EA}" destId="{54E05F58-FF03-4341-A666-9E113A9B8873}" srcOrd="6" destOrd="0" presId="urn:microsoft.com/office/officeart/2005/8/layout/gear1"/>
    <dgm:cxn modelId="{82DEB843-9693-433F-B1E8-605D6DE84670}" type="presParOf" srcId="{231ECD91-1B47-4319-978C-8577EC5593EA}" destId="{CA97EAC6-1329-401B-89E0-AA057254160B}" srcOrd="7" destOrd="0" presId="urn:microsoft.com/office/officeart/2005/8/layout/gear1"/>
    <dgm:cxn modelId="{FC89778A-F1FC-41CF-9255-72A19EBEEAE8}" type="presParOf" srcId="{231ECD91-1B47-4319-978C-8577EC5593EA}" destId="{AD403E58-3D1D-4799-95AC-BB2AB5A493CF}" srcOrd="8" destOrd="0" presId="urn:microsoft.com/office/officeart/2005/8/layout/gear1"/>
    <dgm:cxn modelId="{6AA671E0-D6A7-4007-A6E3-C244884B82F5}" type="presParOf" srcId="{231ECD91-1B47-4319-978C-8577EC5593EA}" destId="{75956A36-595B-44A4-A03F-2EF3EB72A378}" srcOrd="9" destOrd="0" presId="urn:microsoft.com/office/officeart/2005/8/layout/gear1"/>
    <dgm:cxn modelId="{73093634-822B-4EA2-9C96-ADED74A8D979}" type="presParOf" srcId="{231ECD91-1B47-4319-978C-8577EC5593EA}" destId="{ED9749AD-95F9-4921-B4A6-87409F56BCC8}" srcOrd="10" destOrd="0" presId="urn:microsoft.com/office/officeart/2005/8/layout/gear1"/>
    <dgm:cxn modelId="{22F2A418-427D-4284-ADBE-DA2D463BD70D}" type="presParOf" srcId="{231ECD91-1B47-4319-978C-8577EC5593EA}" destId="{8F2798BE-0387-4B4C-8A8D-E73E33D153B6}" srcOrd="11" destOrd="0" presId="urn:microsoft.com/office/officeart/2005/8/layout/gear1"/>
    <dgm:cxn modelId="{86370B4C-D380-453C-B0CE-32AEB9604B22}" type="presParOf" srcId="{231ECD91-1B47-4319-978C-8577EC5593EA}" destId="{3D81C32A-3FDA-4AD9-94CE-380F34B41F97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9492C-CF17-4962-B394-8C71E9DAF789}">
      <dsp:nvSpPr>
        <dsp:cNvPr id="0" name=""/>
        <dsp:cNvSpPr/>
      </dsp:nvSpPr>
      <dsp:spPr>
        <a:xfrm>
          <a:off x="699288" y="622093"/>
          <a:ext cx="760336" cy="760336"/>
        </a:xfrm>
        <a:prstGeom prst="gear9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 dirty="0"/>
            <a:t>Build</a:t>
          </a:r>
          <a:endParaRPr lang="en-US" sz="900" kern="1200" dirty="0"/>
        </a:p>
      </dsp:txBody>
      <dsp:txXfrm>
        <a:off x="852149" y="800198"/>
        <a:ext cx="454614" cy="390828"/>
      </dsp:txXfrm>
    </dsp:sp>
    <dsp:sp modelId="{AD08E859-CF6E-4C4C-89DE-918015282AE5}">
      <dsp:nvSpPr>
        <dsp:cNvPr id="0" name=""/>
        <dsp:cNvSpPr/>
      </dsp:nvSpPr>
      <dsp:spPr>
        <a:xfrm>
          <a:off x="256911" y="442377"/>
          <a:ext cx="552972" cy="552972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 dirty="0"/>
            <a:t>Build</a:t>
          </a:r>
          <a:endParaRPr lang="en-US" sz="900" kern="1200" dirty="0"/>
        </a:p>
      </dsp:txBody>
      <dsp:txXfrm>
        <a:off x="396123" y="582431"/>
        <a:ext cx="274548" cy="272864"/>
      </dsp:txXfrm>
    </dsp:sp>
    <dsp:sp modelId="{54E05F58-FF03-4341-A666-9E113A9B8873}">
      <dsp:nvSpPr>
        <dsp:cNvPr id="0" name=""/>
        <dsp:cNvSpPr/>
      </dsp:nvSpPr>
      <dsp:spPr>
        <a:xfrm rot="20700000">
          <a:off x="566632" y="60883"/>
          <a:ext cx="541799" cy="541799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900" kern="1200" dirty="0"/>
            <a:t>Build</a:t>
          </a:r>
          <a:endParaRPr lang="en-US" sz="900" kern="1200" dirty="0"/>
        </a:p>
      </dsp:txBody>
      <dsp:txXfrm rot="-20700000">
        <a:off x="685464" y="179715"/>
        <a:ext cx="304134" cy="304134"/>
      </dsp:txXfrm>
    </dsp:sp>
    <dsp:sp modelId="{ED9749AD-95F9-4921-B4A6-87409F56BCC8}">
      <dsp:nvSpPr>
        <dsp:cNvPr id="0" name=""/>
        <dsp:cNvSpPr/>
      </dsp:nvSpPr>
      <dsp:spPr>
        <a:xfrm>
          <a:off x="614334" y="521484"/>
          <a:ext cx="973230" cy="973230"/>
        </a:xfrm>
        <a:prstGeom prst="circularArrow">
          <a:avLst>
            <a:gd name="adj1" fmla="val 4688"/>
            <a:gd name="adj2" fmla="val 299029"/>
            <a:gd name="adj3" fmla="val 2357503"/>
            <a:gd name="adj4" fmla="val 16259722"/>
            <a:gd name="adj5" fmla="val 5469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2798BE-0387-4B4C-8A8D-E73E33D153B6}">
      <dsp:nvSpPr>
        <dsp:cNvPr id="0" name=""/>
        <dsp:cNvSpPr/>
      </dsp:nvSpPr>
      <dsp:spPr>
        <a:xfrm>
          <a:off x="158981" y="332093"/>
          <a:ext cx="707112" cy="707112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1C32A-3FDA-4AD9-94CE-380F34B41F97}">
      <dsp:nvSpPr>
        <dsp:cNvPr id="0" name=""/>
        <dsp:cNvSpPr/>
      </dsp:nvSpPr>
      <dsp:spPr>
        <a:xfrm>
          <a:off x="441308" y="-45723"/>
          <a:ext cx="762410" cy="762410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554425A-3696-4DFB-B808-D2B88F3EB7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1457F-2D60-4187-92B7-C5BBED78E9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/>
            </a:lvl1pPr>
          </a:lstStyle>
          <a:p>
            <a:fld id="{320DD655-51D6-466D-8D72-5C78765FC630}" type="datetimeFigureOut">
              <a:rPr lang="en-US" smtClean="0">
                <a:latin typeface="Oracle Sans Tab" panose="020B0503020204020204" pitchFamily="34" charset="0"/>
              </a:rPr>
              <a:t>9/10/2026</a:t>
            </a:fld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FA8CCD-D5C0-4680-BEFC-52889AACDB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l">
              <a:defRPr sz="1600"/>
            </a:lvl1pPr>
          </a:lstStyle>
          <a:p>
            <a:endParaRPr lang="en-US" dirty="0">
              <a:latin typeface="Oracle Sans Tab" panose="020B05030202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50B35B-8976-44A2-B80D-FC8BD07A167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 vert="horz" lIns="112299" tIns="56150" rIns="112299" bIns="56150" rtlCol="0" anchor="b"/>
          <a:lstStyle>
            <a:lvl1pPr algn="r">
              <a:defRPr sz="1600"/>
            </a:lvl1pPr>
          </a:lstStyle>
          <a:p>
            <a:fld id="{9D34DC6F-9D14-4548-8221-51EE6F5B6657}" type="slidenum">
              <a:rPr lang="en-US" smtClean="0">
                <a:latin typeface="Oracle Sans Tab" panose="020B0503020204020204" pitchFamily="34" charset="0"/>
              </a:rPr>
              <a:t>‹#›</a:t>
            </a:fld>
            <a:endParaRPr lang="en-US" dirty="0">
              <a:latin typeface="Oracle Sans Tab" panose="020B05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1278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19" cy="619364"/>
          </a:xfrm>
          <a:prstGeom prst="rect">
            <a:avLst/>
          </a:prstGeom>
        </p:spPr>
        <p:txBody>
          <a:bodyPr vert="horz" lIns="112299" tIns="56150" rIns="112299" bIns="56150" rtlCol="0"/>
          <a:lstStyle>
            <a:lvl1pPr algn="r">
              <a:defRPr sz="1600">
                <a:latin typeface="Oracle Sans Tab" panose="020B0503020204020204" pitchFamily="34" charset="0"/>
              </a:defRPr>
            </a:lvl1pPr>
          </a:lstStyle>
          <a:p>
            <a:fld id="{4F9C25BA-F9B0-4418-8CA0-3A9DF1256BA5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11" name="Symbol zastępczy nagłówka 10">
            <a:extLst>
              <a:ext uri="{FF2B5EF4-FFF2-40B4-BE49-F238E27FC236}">
                <a16:creationId xmlns:a16="http://schemas.microsoft.com/office/drawing/2014/main" id="{4B0CCC23-43CE-F9A9-762B-33D3A3B4BC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2" name="Symbol zastępczy notatek 11">
            <a:extLst>
              <a:ext uri="{FF2B5EF4-FFF2-40B4-BE49-F238E27FC236}">
                <a16:creationId xmlns:a16="http://schemas.microsoft.com/office/drawing/2014/main" id="{44BAA6D0-A547-E933-A95F-D6095CEBB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5940425"/>
            <a:ext cx="5851525" cy="48609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3" name="Symbol zastępczy numeru slajdu 12">
            <a:extLst>
              <a:ext uri="{FF2B5EF4-FFF2-40B4-BE49-F238E27FC236}">
                <a16:creationId xmlns:a16="http://schemas.microsoft.com/office/drawing/2014/main" id="{3CDFF81C-03CF-51BF-3E57-20AA1E958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8E260-42C9-48D5-8A07-E0ACD181170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Symbol zastępczy obrazu slajdu 14">
            <a:extLst>
              <a:ext uri="{FF2B5EF4-FFF2-40B4-BE49-F238E27FC236}">
                <a16:creationId xmlns:a16="http://schemas.microsoft.com/office/drawing/2014/main" id="{365E46A6-70ED-7760-B009-50274953A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9716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1pPr>
    <a:lvl2pPr marL="457200" algn="l" defTabSz="914400" rtl="0" eaLnBrk="1" latinLnBrk="0" hangingPunct="1">
      <a:defRPr lang="en-US" sz="1200" b="0" i="0" kern="1200">
        <a:solidFill>
          <a:schemeClr val="tx1"/>
        </a:solidFill>
        <a:latin typeface="Oracle Sans Tab" panose="020B0503020204020204" pitchFamily="34" charset="0"/>
        <a:ea typeface="+mn-ea"/>
        <a:cs typeface="Oracle Sans Tab" panose="020B0503020204020204" pitchFamily="34" charset="0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3pPr>
    <a:lvl4pPr marL="1371600" algn="l" defTabSz="914400" rtl="0" eaLnBrk="1" latinLnBrk="0" hangingPunct="1">
      <a:defRPr lang="en-US" sz="105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4pPr>
    <a:lvl5pPr marL="1828800" algn="l" defTabSz="914400" rtl="0" eaLnBrk="1" latinLnBrk="0" hangingPunct="1">
      <a:defRPr lang="en-US" sz="1000" kern="1200">
        <a:solidFill>
          <a:schemeClr val="tx1"/>
        </a:solidFill>
        <a:latin typeface="Oracle Sans Tab Light" panose="020B0403020204020204" pitchFamily="34" charset="0"/>
        <a:ea typeface="+mn-ea"/>
        <a:cs typeface="Oracle Sans Tab Light" panose="020B0403020204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r>
              <a:rPr lang="pl-PL" b="0" u="none" dirty="0"/>
              <a:t>Presentation </a:t>
            </a:r>
            <a:r>
              <a:rPr lang="pl-PL" b="0" u="none" dirty="0" err="1"/>
              <a:t>goals</a:t>
            </a:r>
            <a:endParaRPr lang="pl-PL" b="0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0" u="none" dirty="0"/>
              <a:t>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Showing how we built automation for Oracle technologies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0" u="none" dirty="0"/>
              <a:t>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Using Gitlab as your primary DevOps tool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	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What we learned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0" u="none" dirty="0"/>
              <a:t>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0" u="none" dirty="0"/>
              <a:t>##############################</a:t>
            </a:r>
          </a:p>
          <a:p>
            <a:endParaRPr lang="pl-PL" b="0" u="none" dirty="0"/>
          </a:p>
          <a:p>
            <a:r>
              <a:rPr lang="pl-PL" b="0" u="none" dirty="0"/>
              <a:t>Cel prezentacji –  Pokazanie jak zbudowaliśmy automatyzację dla technologii Oracle</a:t>
            </a:r>
          </a:p>
          <a:p>
            <a:r>
              <a:rPr lang="pl-PL" b="0" u="none" dirty="0"/>
              <a:t>                            Użycie </a:t>
            </a:r>
            <a:r>
              <a:rPr lang="pl-PL" b="0" u="none" dirty="0" err="1"/>
              <a:t>Gitlaba</a:t>
            </a:r>
            <a:r>
              <a:rPr lang="pl-PL" b="0" u="none" dirty="0"/>
              <a:t> jak podstawowego narzędzia </a:t>
            </a:r>
            <a:r>
              <a:rPr lang="pl-PL" b="0" u="none" dirty="0" err="1"/>
              <a:t>DevOps</a:t>
            </a:r>
            <a:endParaRPr lang="pl-PL" b="0" u="none" dirty="0"/>
          </a:p>
          <a:p>
            <a:r>
              <a:rPr lang="pl-PL" b="0" u="none" dirty="0"/>
              <a:t>	    Czego się nauczyliśmy.</a:t>
            </a:r>
          </a:p>
          <a:p>
            <a:endParaRPr lang="pl-PL" b="0" u="none" dirty="0"/>
          </a:p>
          <a:p>
            <a:r>
              <a:rPr lang="pl-PL" b="0" u="none" dirty="0"/>
              <a:t>##############################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b="0" u="non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b="1" u="sng" dirty="0"/>
              <a:t>Prezentacja (30 – 35?? slajdów)</a:t>
            </a:r>
            <a:endParaRPr lang="pl-PL" dirty="0"/>
          </a:p>
          <a:p>
            <a:endParaRPr lang="pl-PL" dirty="0"/>
          </a:p>
          <a:p>
            <a:r>
              <a:rPr lang="pl-PL" dirty="0"/>
              <a:t>[1] </a:t>
            </a:r>
            <a:r>
              <a:rPr lang="pl-PL" dirty="0" err="1"/>
              <a:t>Main</a:t>
            </a:r>
            <a:r>
              <a:rPr lang="pl-PL" dirty="0"/>
              <a:t> </a:t>
            </a:r>
            <a:r>
              <a:rPr lang="pl-PL" dirty="0" err="1"/>
              <a:t>slide</a:t>
            </a:r>
            <a:endParaRPr lang="pl-PL" dirty="0"/>
          </a:p>
          <a:p>
            <a:r>
              <a:rPr lang="pl-PL" dirty="0"/>
              <a:t>[2] </a:t>
            </a:r>
            <a:r>
              <a:rPr lang="pl-PL" dirty="0" err="1"/>
              <a:t>About</a:t>
            </a:r>
            <a:r>
              <a:rPr lang="pl-PL" dirty="0"/>
              <a:t> Me</a:t>
            </a:r>
          </a:p>
          <a:p>
            <a:r>
              <a:rPr lang="pl-PL" dirty="0"/>
              <a:t>[3] Oracle ACE Program</a:t>
            </a:r>
          </a:p>
          <a:p>
            <a:r>
              <a:rPr lang="pl-PL" dirty="0"/>
              <a:t>[4] Agenda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[5]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GitLab server 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r>
              <a:rPr lang="pl-PL" dirty="0"/>
              <a:t>[6] </a:t>
            </a:r>
            <a:r>
              <a:rPr lang="pl-PL" sz="1200" dirty="0"/>
              <a:t>Our Technology Stack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[7] Pipeline and Runners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[8] Our Gitlab Runners </a:t>
            </a:r>
            <a:r>
              <a:rPr lang="pl-PL" dirty="0" err="1"/>
              <a:t>images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[9] Managing materials with Git – Primer (I)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[10] Managing materials with Git – Primer (I)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[11] AI in Gitlab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[12] Don’t assume everything is in </a:t>
            </a:r>
            <a:r>
              <a:rPr lang="pl-PL" dirty="0" err="1"/>
              <a:t>toolbelt</a:t>
            </a:r>
            <a:r>
              <a:rPr lang="pl-PL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[13] Oracle automation – summary</a:t>
            </a:r>
          </a:p>
          <a:p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Code Management - Summary</a:t>
            </a:r>
          </a:p>
          <a:p>
            <a:r>
              <a:rPr lang="pl-PL" dirty="0"/>
              <a:t>Example Pipelines (pipeline structure)</a:t>
            </a:r>
          </a:p>
          <a:p>
            <a:r>
              <a:rPr lang="pl-PL" dirty="0"/>
              <a:t>Oracle IaaS Deployment Pipeline</a:t>
            </a:r>
          </a:p>
          <a:p>
            <a:r>
              <a:rPr lang="pl-PL" dirty="0"/>
              <a:t>Oracle </a:t>
            </a:r>
            <a:r>
              <a:rPr lang="pl-PL" dirty="0" err="1"/>
              <a:t>Decomission</a:t>
            </a:r>
            <a:r>
              <a:rPr lang="pl-PL" dirty="0"/>
              <a:t> Pipeline </a:t>
            </a:r>
          </a:p>
          <a:p>
            <a:r>
              <a:rPr lang="pl-PL" dirty="0"/>
              <a:t>Oracle Patching</a:t>
            </a:r>
          </a:p>
          <a:p>
            <a:r>
              <a:rPr lang="pl-PL" dirty="0"/>
              <a:t>Oracle </a:t>
            </a:r>
            <a:r>
              <a:rPr lang="pl-PL" dirty="0" err="1"/>
              <a:t>Managed</a:t>
            </a:r>
            <a:r>
              <a:rPr lang="pl-PL" dirty="0"/>
              <a:t> Features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Gitlab Runtime images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Unit/Integration Tests</a:t>
            </a:r>
          </a:p>
          <a:p>
            <a:r>
              <a:rPr lang="pl-PL" dirty="0"/>
              <a:t>A lot of </a:t>
            </a:r>
            <a:r>
              <a:rPr lang="pl-PL" dirty="0" err="1"/>
              <a:t>feature</a:t>
            </a:r>
            <a:r>
              <a:rPr lang="pl-PL" dirty="0"/>
              <a:t> </a:t>
            </a:r>
            <a:r>
              <a:rPr lang="pl-PL" dirty="0" err="1"/>
              <a:t>added</a:t>
            </a:r>
            <a:r>
              <a:rPr lang="pl-PL" dirty="0"/>
              <a:t> in Gitlab – </a:t>
            </a:r>
            <a:r>
              <a:rPr lang="pl-PL" dirty="0" err="1"/>
              <a:t>sometimes</a:t>
            </a:r>
            <a:r>
              <a:rPr lang="pl-PL" dirty="0"/>
              <a:t> </a:t>
            </a:r>
            <a:r>
              <a:rPr lang="pl-PL" dirty="0" err="1"/>
              <a:t>obvious</a:t>
            </a:r>
            <a:r>
              <a:rPr lang="pl-PL" dirty="0"/>
              <a:t> one </a:t>
            </a:r>
            <a:r>
              <a:rPr lang="pl-PL" dirty="0" err="1"/>
              <a:t>are</a:t>
            </a:r>
            <a:r>
              <a:rPr lang="pl-PL" dirty="0"/>
              <a:t> not </a:t>
            </a:r>
            <a:r>
              <a:rPr lang="pl-PL" dirty="0" err="1"/>
              <a:t>there</a:t>
            </a:r>
            <a:r>
              <a:rPr lang="pl-PL" dirty="0"/>
              <a:t> </a:t>
            </a:r>
            <a:r>
              <a:rPr lang="pl-PL" dirty="0">
                <a:sym typeface="Wingdings" panose="05000000000000000000" pitchFamily="2" charset="2"/>
              </a:rPr>
              <a:t></a:t>
            </a:r>
            <a:endParaRPr lang="pl-PL" dirty="0"/>
          </a:p>
          <a:p>
            <a:r>
              <a:rPr lang="pl-PL" dirty="0"/>
              <a:t>   https://docs.gitlab.com/user/search/exact_code_search/</a:t>
            </a:r>
          </a:p>
          <a:p>
            <a:r>
              <a:rPr lang="pl-PL" dirty="0"/>
              <a:t>Regression tests</a:t>
            </a:r>
          </a:p>
          <a:p>
            <a:r>
              <a:rPr lang="pl-PL" dirty="0" err="1"/>
              <a:t>Lesson</a:t>
            </a:r>
            <a:r>
              <a:rPr lang="pl-PL" dirty="0"/>
              <a:t> Learnt</a:t>
            </a:r>
          </a:p>
          <a:p>
            <a:r>
              <a:rPr lang="pl-PL" dirty="0" err="1"/>
              <a:t>What</a:t>
            </a:r>
            <a:r>
              <a:rPr lang="pl-PL" dirty="0"/>
              <a:t> </a:t>
            </a:r>
            <a:r>
              <a:rPr lang="pl-PL" dirty="0" err="1"/>
              <a:t>next</a:t>
            </a:r>
            <a:r>
              <a:rPr lang="pl-PL" dirty="0"/>
              <a:t>?</a:t>
            </a:r>
          </a:p>
          <a:p>
            <a:r>
              <a:rPr lang="pl-PL" dirty="0"/>
              <a:t>CI/CD </a:t>
            </a:r>
            <a:r>
              <a:rPr lang="pl-PL" dirty="0" err="1"/>
              <a:t>benefits</a:t>
            </a:r>
            <a:endParaRPr lang="pl-PL" dirty="0"/>
          </a:p>
          <a:p>
            <a:endParaRPr lang="pl-PL" dirty="0"/>
          </a:p>
          <a:p>
            <a:endParaRPr lang="pl-PL" b="1" dirty="0"/>
          </a:p>
          <a:p>
            <a:endParaRPr lang="pl-PL" b="1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51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now a few words about me. His name is Tomasz Ziss. 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have been working in the IT industry for about 15 years. I</a:t>
            </a:r>
            <a:r>
              <a:rPr lang="pl-PL" dirty="0"/>
              <a:t> </a:t>
            </a:r>
            <a:r>
              <a:rPr lang="pl-PL" dirty="0" err="1"/>
              <a:t>am</a:t>
            </a:r>
            <a:r>
              <a:rPr lang="pl-PL" dirty="0"/>
              <a:t> </a:t>
            </a:r>
            <a:r>
              <a:rPr lang="pl-PL" dirty="0" err="1"/>
              <a:t>employee</a:t>
            </a:r>
            <a:r>
              <a:rPr lang="pl-PL" dirty="0"/>
              <a:t> </a:t>
            </a:r>
            <a:r>
              <a:rPr lang="en-US" dirty="0"/>
              <a:t>at Accenture Enkitec Group. 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am an Oracle Ace</a:t>
            </a:r>
            <a:r>
              <a:rPr lang="pl-PL" dirty="0"/>
              <a:t> PRO</a:t>
            </a:r>
            <a:r>
              <a:rPr lang="en-US" dirty="0"/>
              <a:t> and an OCM. I deal with various things, but my main interest is data - databases and field topics data engineering. 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run my own blog where you can read various interesting things about Computer Science.</a:t>
            </a: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r>
              <a:rPr lang="pl-PL" dirty="0"/>
              <a:t>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r>
              <a:rPr lang="pl-PL" dirty="0"/>
              <a:t>A teraz kilka zdań o mnie. Nazywa się Tomasz Ziss.</a:t>
            </a:r>
          </a:p>
          <a:p>
            <a:r>
              <a:rPr lang="pl-PL" dirty="0"/>
              <a:t>Pracuję w branży IT od około 15 lat. Pracuję w Accenture </a:t>
            </a:r>
            <a:r>
              <a:rPr lang="pl-PL" dirty="0" err="1"/>
              <a:t>Enkitec</a:t>
            </a:r>
            <a:r>
              <a:rPr lang="pl-PL" dirty="0"/>
              <a:t> </a:t>
            </a:r>
            <a:r>
              <a:rPr lang="pl-PL" dirty="0" err="1"/>
              <a:t>Group</a:t>
            </a:r>
            <a:r>
              <a:rPr lang="pl-PL" dirty="0"/>
              <a:t>.</a:t>
            </a:r>
          </a:p>
          <a:p>
            <a:r>
              <a:rPr lang="pl-PL" dirty="0"/>
              <a:t>Jestem Oracle Asem oraz OCM.</a:t>
            </a:r>
          </a:p>
          <a:p>
            <a:r>
              <a:rPr lang="pl-PL" dirty="0"/>
              <a:t>Zajmuje się różnymi rzeczami, ale głównie moje zainteresowanie to dane – bazy danych i tematy z dziedziny</a:t>
            </a:r>
          </a:p>
          <a:p>
            <a:r>
              <a:rPr lang="pl-PL" dirty="0"/>
              <a:t>data engineering.</a:t>
            </a:r>
          </a:p>
          <a:p>
            <a:r>
              <a:rPr lang="pl-PL" dirty="0"/>
              <a:t>Prowadzę własnego bloga gdzie można poczytać różne ciekawe rzeczy dotyczące </a:t>
            </a:r>
            <a:r>
              <a:rPr lang="pl-PL" dirty="0" err="1"/>
              <a:t>Computer</a:t>
            </a:r>
            <a:r>
              <a:rPr lang="pl-PL" dirty="0"/>
              <a:t> Science.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01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Oracle ACE program is where you want to be.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is a community for professionals dealing with Oracle technologies.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You can share your knowledge with others in various ways - blogs, books, presentations, new tools.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If you are looking for more information, the links on this slide will be helpful.</a:t>
            </a:r>
          </a:p>
          <a:p>
            <a:r>
              <a:rPr lang="en-US" dirty="0"/>
              <a:t>Slack channels- start with one for all and 3 level channels (ACE Program, Associate, Pro, ACED)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Oracle ACE program jest miejscem gdzie chciałbyś być.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Jest to </a:t>
            </a:r>
            <a:r>
              <a:rPr lang="pl-PL" dirty="0" err="1"/>
              <a:t>community</a:t>
            </a:r>
            <a:r>
              <a:rPr lang="pl-PL" dirty="0"/>
              <a:t> dla profesjonalistów zajmujących się technologiami Oracle.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Można dzielić się swoją wiedzą z innymi na różne sposoby – blogi, książki, prezentacje, nowe narzędzia.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Jeżeli szukasz więcej informacji linki na tym slajdzie będą pomocne.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34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presentation consists of 4 parts. First, we'll look at Gitlab as a DevOps tool.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Next, we will look at the automation environment I am working 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will take a look at the automatic pipelines I create and the most important issues for them.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presentation will end with a summary of the most important conclusions drawn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from working in automation.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Prezentacja składa się z 4 części. Najpierw przyjrzymy się </a:t>
            </a:r>
            <a:r>
              <a:rPr lang="pl-PL" dirty="0" err="1"/>
              <a:t>Gitlabowi</a:t>
            </a:r>
            <a:r>
              <a:rPr lang="pl-PL" dirty="0"/>
              <a:t> jako narzędziu </a:t>
            </a:r>
            <a:r>
              <a:rPr lang="pl-PL" dirty="0" err="1"/>
              <a:t>DevOps</a:t>
            </a:r>
            <a:r>
              <a:rPr lang="pl-P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Następnie obejrzymy środowisko do automatyzacji, którym się zajmuję.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Przejrzymy się automatycznym </a:t>
            </a:r>
            <a:r>
              <a:rPr lang="pl-PL" dirty="0" err="1"/>
              <a:t>pipelinów</a:t>
            </a:r>
            <a:r>
              <a:rPr lang="pl-PL" dirty="0"/>
              <a:t> które tworzę i najważniejsze zagadnienia dla nich.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Zakończeniem prezentacji będzie podsumowanie najważniejszych wniosków wyciągniętych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z pracy przy automatyzacji.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800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1C487-7C51-DBB7-09CA-595F0B61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D8ADCC52-1A80-4AC5-B771-B65AD525D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9C6E6D64-FDBD-B507-644C-C66CACE2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presentation consists of 4 parts. First, we'll look at Gitlab as a DevOps tool.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Next, we will look at the automation environment I am working 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will take a look at the automatic pipelines I create and the most important issues for them.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presentation will end with a summary of the most important conclusions drawn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from working in automation.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Prezentacja składa się z 4 części. Najpierw przyjrzymy się </a:t>
            </a:r>
            <a:r>
              <a:rPr lang="pl-PL" dirty="0" err="1"/>
              <a:t>Gitlabowi</a:t>
            </a:r>
            <a:r>
              <a:rPr lang="pl-PL" dirty="0"/>
              <a:t> jako narzędziu </a:t>
            </a:r>
            <a:r>
              <a:rPr lang="pl-PL" dirty="0" err="1"/>
              <a:t>DevOps</a:t>
            </a:r>
            <a:r>
              <a:rPr lang="pl-P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Następnie obejrzymy środowisko do automatyzacji, którym się zajmuję.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Przejrzymy się automatycznym </a:t>
            </a:r>
            <a:r>
              <a:rPr lang="pl-PL" dirty="0" err="1"/>
              <a:t>pipelinów</a:t>
            </a:r>
            <a:r>
              <a:rPr lang="pl-PL" dirty="0"/>
              <a:t> które tworzę i najważniejsze zagadnienia dla nich.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Zakończeniem prezentacji będzie podsumowanie najważniejszych wniosków wyciągniętych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z pracy przy automatyzacji.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61860E9-8ED0-C2A1-F05C-9E0CE4B699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103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would like to present the most important information about the DevOps tool – Gitlab.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Integration and Development are done in it (as in most tools) using pipelines.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most important difference from most DevOps tools is the fixed basic structure.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Most tools have a very wide set of capabilities and configurations. In DevOps it is more managed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by the supplier. The basic structure is constant. This facilitates stabilization and shortens the training time for technical staff.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is essentially the same across many customers.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consists of two components – server and runners. The server is the place where we have the source code and all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tools for building pipelines. Runners is where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are made. Runners are machines that run component parts </a:t>
            </a:r>
          </a:p>
          <a:p>
            <a:pPr rt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– jobs. This is done using container environments. The job runs in a container on the runner.</a:t>
            </a:r>
          </a:p>
          <a:p>
            <a:pPr rt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are defined declaratively in YAML format.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can be used in a Saas model or deployed in your own environment.  We use the second option.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</a:br>
            <a:b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</a:br>
            <a:b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</a:b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Chciałbym przedstawić najważniejsze informacje o narzędziu </a:t>
            </a:r>
            <a:r>
              <a:rPr lang="pl-PL" dirty="0" err="1"/>
              <a:t>DevOps</a:t>
            </a:r>
            <a:r>
              <a:rPr lang="pl-PL" dirty="0"/>
              <a:t> – Gitlab.</a:t>
            </a:r>
          </a:p>
          <a:p>
            <a:r>
              <a:rPr lang="pl-PL" dirty="0"/>
              <a:t>Integracja i Development odbywa się w nim (jak w większości narzędzi) za pomocą </a:t>
            </a:r>
            <a:r>
              <a:rPr lang="pl-PL" dirty="0" err="1"/>
              <a:t>pipelinów</a:t>
            </a:r>
            <a:r>
              <a:rPr lang="pl-PL" dirty="0"/>
              <a:t>.</a:t>
            </a:r>
          </a:p>
          <a:p>
            <a:r>
              <a:rPr lang="pl-PL" dirty="0"/>
              <a:t>Najważniejszą różnicą w stosunku do większości narzędzi </a:t>
            </a:r>
            <a:r>
              <a:rPr lang="pl-PL" dirty="0" err="1"/>
              <a:t>DevOps</a:t>
            </a:r>
            <a:r>
              <a:rPr lang="pl-PL" dirty="0"/>
              <a:t> jest stała podstawowa struktura.</a:t>
            </a:r>
          </a:p>
          <a:p>
            <a:r>
              <a:rPr lang="pl-PL" dirty="0"/>
              <a:t>W większości narzędzi istnieje bardzo szeroki zestaw możliwości i konfiguracji. W </a:t>
            </a:r>
            <a:r>
              <a:rPr lang="pl-PL" dirty="0" err="1"/>
              <a:t>DevOps</a:t>
            </a:r>
            <a:r>
              <a:rPr lang="pl-PL" dirty="0"/>
              <a:t> jest to bardziej zarządzane</a:t>
            </a:r>
          </a:p>
          <a:p>
            <a:r>
              <a:rPr lang="pl-PL" dirty="0"/>
              <a:t>przez dostawcę. Podstawowa struktura jest stała. Ułatwia to stabilizację i skraca czas szkolenia personelu technicznego.</a:t>
            </a:r>
          </a:p>
          <a:p>
            <a:r>
              <a:rPr lang="pl-PL" dirty="0"/>
              <a:t>Gitlab zasadniczo jest taki sam u wielu klientów. </a:t>
            </a:r>
          </a:p>
          <a:p>
            <a:r>
              <a:rPr lang="pl-PL" dirty="0"/>
              <a:t>Gitlab składa się dwóch komponentów – server i runners. Server jest to miejsce gdzie mamy kod źródłowy oraz wszystkie</a:t>
            </a:r>
          </a:p>
          <a:p>
            <a:r>
              <a:rPr lang="pl-PL" dirty="0"/>
              <a:t>narzędzia do budowania </a:t>
            </a:r>
            <a:r>
              <a:rPr lang="pl-PL" dirty="0" err="1"/>
              <a:t>pipelinów</a:t>
            </a:r>
            <a:r>
              <a:rPr lang="pl-PL" dirty="0"/>
              <a:t>. Runners to miejsce gdzie </a:t>
            </a:r>
            <a:r>
              <a:rPr lang="pl-PL" dirty="0" err="1"/>
              <a:t>pipeliny</a:t>
            </a:r>
            <a:r>
              <a:rPr lang="pl-PL" dirty="0"/>
              <a:t> są wykonywane. </a:t>
            </a:r>
            <a:r>
              <a:rPr lang="pl-PL" dirty="0" err="1"/>
              <a:t>Runnery</a:t>
            </a:r>
            <a:r>
              <a:rPr lang="pl-PL" dirty="0"/>
              <a:t> to maszyny które uruchamiają części składowe </a:t>
            </a:r>
          </a:p>
          <a:p>
            <a:r>
              <a:rPr lang="pl-PL" dirty="0" err="1"/>
              <a:t>Pipelinów</a:t>
            </a:r>
            <a:r>
              <a:rPr lang="pl-PL" dirty="0"/>
              <a:t> – </a:t>
            </a:r>
            <a:r>
              <a:rPr lang="pl-PL" dirty="0" err="1"/>
              <a:t>joby</a:t>
            </a:r>
            <a:r>
              <a:rPr lang="pl-PL" dirty="0"/>
              <a:t>. Odbywa się to z wykorzystaniem środowisk kontenerowych. Job jest uruchamiany w kontenerze na </a:t>
            </a:r>
            <a:r>
              <a:rPr lang="pl-PL" dirty="0" err="1"/>
              <a:t>runnerze</a:t>
            </a:r>
            <a:r>
              <a:rPr lang="pl-PL" dirty="0"/>
              <a:t>.</a:t>
            </a:r>
          </a:p>
          <a:p>
            <a:r>
              <a:rPr lang="pl-PL" dirty="0" err="1"/>
              <a:t>Pipeliny</a:t>
            </a:r>
            <a:r>
              <a:rPr lang="pl-PL" dirty="0"/>
              <a:t> są definiowane w sposób deklaratywny w formacie YAML.</a:t>
            </a:r>
          </a:p>
          <a:p>
            <a:r>
              <a:rPr lang="pl-PL" dirty="0" err="1"/>
              <a:t>Gitlaba</a:t>
            </a:r>
            <a:r>
              <a:rPr lang="pl-PL" dirty="0"/>
              <a:t> można używać w modelu </a:t>
            </a:r>
            <a:r>
              <a:rPr lang="pl-PL" dirty="0" err="1"/>
              <a:t>Saas</a:t>
            </a:r>
            <a:r>
              <a:rPr lang="pl-PL" dirty="0"/>
              <a:t> albo wdrożyć we własnym środowisku. </a:t>
            </a:r>
            <a:br>
              <a:rPr lang="pl-PL" dirty="0"/>
            </a:br>
            <a:r>
              <a:rPr lang="pl-PL" dirty="0"/>
              <a:t>My używamy drugiej opcji.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957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have our automation environment. The basic element is, of course, Gitlab.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 final artifacts produced by running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are additionally sent to Splunk.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Splunk has a great tool for doing analytics.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 secrets (passwords, tokens) are kept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HashiCorp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Vault.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 materials needed for installation (Oracle software base, patches, scripts, templates for backup configuration) are provided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kept in the Nexus.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Most of our code uses great software – Ansible. We use playbooks and roles.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Our automation supports virtual machines. Previously it was entirely VMWare, but recent changes have caused this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that our virtualization colleagues have moved to Nutanix - the Acropolis hypervisor.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previous DevOps environment was Jenkins. Most of the code and pipelines have been migrated, but there are still some left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certain pipelines which for various reasons are not yet available in Gitlab.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nasze środowisko do </a:t>
            </a:r>
            <a:r>
              <a:rPr lang="pl-PL" dirty="0" err="1"/>
              <a:t>automatuzacji</a:t>
            </a:r>
            <a:r>
              <a:rPr lang="pl-PL" dirty="0"/>
              <a:t>. Podstawowy element to oczywiście Gitlab.</a:t>
            </a:r>
          </a:p>
          <a:p>
            <a:r>
              <a:rPr lang="pl-PL" dirty="0"/>
              <a:t>Wszystkie finalny artefakty wytworzone w ramach uruchamiania </a:t>
            </a:r>
            <a:r>
              <a:rPr lang="pl-PL" dirty="0" err="1"/>
              <a:t>pipelinów</a:t>
            </a:r>
            <a:r>
              <a:rPr lang="pl-PL" dirty="0"/>
              <a:t> są wysyłane dodatkowo do </a:t>
            </a:r>
            <a:r>
              <a:rPr lang="pl-PL" dirty="0" err="1"/>
              <a:t>Splunka</a:t>
            </a:r>
            <a:r>
              <a:rPr lang="pl-PL" dirty="0"/>
              <a:t>.</a:t>
            </a:r>
          </a:p>
          <a:p>
            <a:r>
              <a:rPr lang="pl-PL" dirty="0" err="1"/>
              <a:t>Splunka</a:t>
            </a:r>
            <a:r>
              <a:rPr lang="pl-PL" dirty="0"/>
              <a:t> ma świetne narzędzie do robienia analityki.</a:t>
            </a:r>
          </a:p>
          <a:p>
            <a:r>
              <a:rPr lang="pl-PL" dirty="0"/>
              <a:t>Wszystkie sekrety (hasła, </a:t>
            </a:r>
            <a:r>
              <a:rPr lang="pl-PL" dirty="0" err="1"/>
              <a:t>tokeny</a:t>
            </a:r>
            <a:r>
              <a:rPr lang="pl-PL" dirty="0"/>
              <a:t>) są trzymane w </a:t>
            </a:r>
            <a:r>
              <a:rPr lang="pl-PL" dirty="0" err="1"/>
              <a:t>HashiCorp</a:t>
            </a:r>
            <a:r>
              <a:rPr lang="pl-PL" dirty="0"/>
              <a:t> </a:t>
            </a:r>
            <a:r>
              <a:rPr lang="pl-PL" dirty="0" err="1"/>
              <a:t>Vault</a:t>
            </a:r>
            <a:r>
              <a:rPr lang="pl-PL" dirty="0"/>
              <a:t>.</a:t>
            </a:r>
          </a:p>
          <a:p>
            <a:r>
              <a:rPr lang="pl-PL" dirty="0"/>
              <a:t>Wszelkie materiały potrzebne do instalacji (</a:t>
            </a:r>
            <a:r>
              <a:rPr lang="pl-PL" dirty="0" err="1"/>
              <a:t>base</a:t>
            </a:r>
            <a:r>
              <a:rPr lang="pl-PL" dirty="0"/>
              <a:t> Oracle software, </a:t>
            </a:r>
            <a:r>
              <a:rPr lang="pl-PL" dirty="0" err="1"/>
              <a:t>patche</a:t>
            </a:r>
            <a:r>
              <a:rPr lang="pl-PL" dirty="0"/>
              <a:t>, skrypty, </a:t>
            </a:r>
            <a:r>
              <a:rPr lang="pl-PL" dirty="0" err="1"/>
              <a:t>templaty</a:t>
            </a:r>
            <a:r>
              <a:rPr lang="pl-PL" dirty="0"/>
              <a:t> do konfiguracji backupów) są </a:t>
            </a:r>
          </a:p>
          <a:p>
            <a:r>
              <a:rPr lang="pl-PL" dirty="0"/>
              <a:t>trzymane w </a:t>
            </a:r>
            <a:r>
              <a:rPr lang="pl-PL" dirty="0" err="1"/>
              <a:t>Nexusie</a:t>
            </a:r>
            <a:r>
              <a:rPr lang="pl-PL" dirty="0"/>
              <a:t>.</a:t>
            </a:r>
          </a:p>
          <a:p>
            <a:r>
              <a:rPr lang="pl-PL" dirty="0"/>
              <a:t>Większość naszego kodu wykorzystuje wspaniały software – </a:t>
            </a:r>
            <a:r>
              <a:rPr lang="pl-PL" dirty="0" err="1"/>
              <a:t>Ansible</a:t>
            </a:r>
            <a:r>
              <a:rPr lang="pl-PL" dirty="0"/>
              <a:t>. Używamy </a:t>
            </a:r>
            <a:r>
              <a:rPr lang="pl-PL" dirty="0" err="1"/>
              <a:t>playbooków</a:t>
            </a:r>
            <a:r>
              <a:rPr lang="pl-PL" dirty="0"/>
              <a:t> i ról.</a:t>
            </a:r>
          </a:p>
          <a:p>
            <a:r>
              <a:rPr lang="pl-PL" dirty="0"/>
              <a:t>Nasza automatyzacja wspiera maszyny wirtualne. Poprzednio było to całkowicie </a:t>
            </a:r>
            <a:r>
              <a:rPr lang="pl-PL" dirty="0" err="1"/>
              <a:t>VMWare</a:t>
            </a:r>
            <a:r>
              <a:rPr lang="pl-PL" dirty="0"/>
              <a:t>, ale ostatnie zmiany spowodowały</a:t>
            </a:r>
          </a:p>
          <a:p>
            <a:r>
              <a:rPr lang="pl-PL" dirty="0"/>
              <a:t>że nasi koledzy od wirtualizacji przenieśli się na </a:t>
            </a:r>
            <a:r>
              <a:rPr lang="pl-PL" dirty="0" err="1"/>
              <a:t>Nutanixa</a:t>
            </a:r>
            <a:r>
              <a:rPr lang="pl-PL" dirty="0"/>
              <a:t> – </a:t>
            </a:r>
            <a:r>
              <a:rPr lang="pl-PL" dirty="0" err="1"/>
              <a:t>hypervisor</a:t>
            </a:r>
            <a:r>
              <a:rPr lang="pl-PL" dirty="0"/>
              <a:t> </a:t>
            </a:r>
            <a:r>
              <a:rPr lang="pl-PL" dirty="0" err="1"/>
              <a:t>Acropolis</a:t>
            </a:r>
            <a:r>
              <a:rPr lang="pl-PL" dirty="0"/>
              <a:t>.</a:t>
            </a:r>
          </a:p>
          <a:p>
            <a:r>
              <a:rPr lang="pl-PL" dirty="0"/>
              <a:t>Poprzednim środowiskiem </a:t>
            </a:r>
            <a:r>
              <a:rPr lang="pl-PL" dirty="0" err="1"/>
              <a:t>DevOps</a:t>
            </a:r>
            <a:r>
              <a:rPr lang="pl-PL" dirty="0"/>
              <a:t> był Jenkins. Większość kodu i </a:t>
            </a:r>
            <a:r>
              <a:rPr lang="pl-PL" dirty="0" err="1"/>
              <a:t>pipelinów</a:t>
            </a:r>
            <a:r>
              <a:rPr lang="pl-PL" dirty="0"/>
              <a:t> została </a:t>
            </a:r>
            <a:r>
              <a:rPr lang="pl-PL" dirty="0" err="1"/>
              <a:t>przemigrowana</a:t>
            </a:r>
            <a:r>
              <a:rPr lang="pl-PL" dirty="0"/>
              <a:t>, natomiast pozostały jeszcze</a:t>
            </a:r>
          </a:p>
          <a:p>
            <a:r>
              <a:rPr lang="pl-PL" dirty="0"/>
              <a:t>pewne </a:t>
            </a:r>
            <a:r>
              <a:rPr lang="pl-PL" dirty="0" err="1"/>
              <a:t>pipeliny</a:t>
            </a:r>
            <a:r>
              <a:rPr lang="pl-PL" dirty="0"/>
              <a:t> które z różnych powodów nie są jeszcze dostępne w Gitlab.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603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r>
              <a:rPr lang="pl-PL" dirty="0"/>
              <a:t>Gitlab Pipelines &amp; Runners</a:t>
            </a:r>
          </a:p>
          <a:p>
            <a:endParaRPr lang="pl-PL" dirty="0"/>
          </a:p>
          <a:p>
            <a:r>
              <a:rPr lang="pl-PL" dirty="0"/>
              <a:t>Here we </a:t>
            </a:r>
            <a:r>
              <a:rPr lang="pl-PL" dirty="0" err="1"/>
              <a:t>see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architecture</a:t>
            </a:r>
            <a:r>
              <a:rPr lang="pl-PL" dirty="0"/>
              <a:t> of pipeline from execution point of </a:t>
            </a:r>
            <a:r>
              <a:rPr lang="pl-PL" dirty="0" err="1"/>
              <a:t>view</a:t>
            </a:r>
            <a:r>
              <a:rPr lang="pl-PL" dirty="0"/>
              <a:t>.</a:t>
            </a:r>
          </a:p>
          <a:p>
            <a:r>
              <a:rPr lang="pl-PL" dirty="0"/>
              <a:t>Pipelines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composed</a:t>
            </a:r>
            <a:r>
              <a:rPr lang="pl-PL" dirty="0"/>
              <a:t> of stages and jobs. Stages run in </a:t>
            </a:r>
            <a:r>
              <a:rPr lang="pl-PL" dirty="0" err="1"/>
              <a:t>sequence</a:t>
            </a:r>
            <a:r>
              <a:rPr lang="pl-PL" dirty="0"/>
              <a:t> and </a:t>
            </a:r>
            <a:r>
              <a:rPr lang="pl-PL" dirty="0" err="1"/>
              <a:t>job</a:t>
            </a:r>
            <a:r>
              <a:rPr lang="pl-PL" dirty="0"/>
              <a:t> </a:t>
            </a:r>
            <a:r>
              <a:rPr lang="pl-PL" dirty="0" err="1"/>
              <a:t>within</a:t>
            </a:r>
            <a:r>
              <a:rPr lang="pl-PL" dirty="0"/>
              <a:t> a stage </a:t>
            </a:r>
            <a:r>
              <a:rPr lang="pl-PL" dirty="0" err="1"/>
              <a:t>can</a:t>
            </a:r>
            <a:r>
              <a:rPr lang="pl-PL" dirty="0"/>
              <a:t> run in </a:t>
            </a:r>
            <a:r>
              <a:rPr lang="pl-PL" dirty="0" err="1"/>
              <a:t>parallellel</a:t>
            </a:r>
            <a:r>
              <a:rPr lang="pl-P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Jobs are executed by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runners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, which pick up matching jobs and report results back.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With the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Docker executor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, the runner runs jobs using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Docker Engine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and each job runs in an isolated container</a:t>
            </a:r>
          </a:p>
          <a:p>
            <a:r>
              <a:rPr lang="pl-PL" dirty="0"/>
              <a:t>Docker </a:t>
            </a:r>
            <a:r>
              <a:rPr lang="pl-PL" dirty="0" err="1"/>
              <a:t>executor</a:t>
            </a:r>
            <a:r>
              <a:rPr lang="pl-PL" dirty="0"/>
              <a:t> was </a:t>
            </a:r>
            <a:r>
              <a:rPr lang="pl-PL" dirty="0" err="1"/>
              <a:t>chosen</a:t>
            </a:r>
            <a:r>
              <a:rPr lang="pl-PL" dirty="0"/>
              <a:t> – </a:t>
            </a:r>
            <a:r>
              <a:rPr lang="pl-PL" dirty="0" err="1"/>
              <a:t>simpler</a:t>
            </a:r>
            <a:r>
              <a:rPr lang="pl-PL" dirty="0"/>
              <a:t> and </a:t>
            </a:r>
            <a:r>
              <a:rPr lang="pl-PL" dirty="0" err="1"/>
              <a:t>easy</a:t>
            </a:r>
            <a:r>
              <a:rPr lang="pl-PL" dirty="0"/>
              <a:t> to </a:t>
            </a:r>
            <a:r>
              <a:rPr lang="pl-PL" dirty="0" err="1"/>
              <a:t>troubshoot</a:t>
            </a:r>
            <a:r>
              <a:rPr lang="pl-PL" dirty="0"/>
              <a:t> as host numer </a:t>
            </a:r>
            <a:r>
              <a:rPr lang="pl-PL" dirty="0" err="1"/>
              <a:t>where</a:t>
            </a:r>
            <a:r>
              <a:rPr lang="pl-PL" dirty="0"/>
              <a:t> </a:t>
            </a:r>
            <a:r>
              <a:rPr lang="pl-PL" dirty="0" err="1"/>
              <a:t>job</a:t>
            </a:r>
            <a:r>
              <a:rPr lang="pl-PL" dirty="0"/>
              <a:t> was run is </a:t>
            </a:r>
            <a:r>
              <a:rPr lang="pl-PL" dirty="0" err="1"/>
              <a:t>limited</a:t>
            </a:r>
            <a:r>
              <a:rPr lang="pl-PL" dirty="0"/>
              <a:t>.</a:t>
            </a:r>
          </a:p>
          <a:p>
            <a:r>
              <a:rPr lang="pl-PL" dirty="0"/>
              <a:t>Our environment is not very </a:t>
            </a:r>
            <a:r>
              <a:rPr lang="pl-PL" dirty="0" err="1"/>
              <a:t>huge</a:t>
            </a:r>
            <a:r>
              <a:rPr lang="pl-PL" dirty="0"/>
              <a:t> for </a:t>
            </a:r>
            <a:r>
              <a:rPr lang="pl-PL" dirty="0" err="1"/>
              <a:t>Kubernetes</a:t>
            </a:r>
            <a:r>
              <a:rPr lang="pl-PL" dirty="0"/>
              <a:t>. </a:t>
            </a:r>
            <a:r>
              <a:rPr lang="pl-PL" dirty="0" err="1"/>
              <a:t>Quicker</a:t>
            </a:r>
            <a:r>
              <a:rPr lang="pl-PL" dirty="0"/>
              <a:t> to start container when using Docker </a:t>
            </a:r>
            <a:r>
              <a:rPr lang="pl-PL" dirty="0" err="1"/>
              <a:t>executor</a:t>
            </a:r>
            <a:r>
              <a:rPr lang="pl-PL" dirty="0"/>
              <a:t>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7713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see 3 sample images that we created for use in our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first one database-runner-image is used to execute the rundown code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with the help of Ansible. We also use it to collect various information needed in other places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</a:t>
            </a:r>
          </a:p>
          <a:p>
            <a:pPr rt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Itsm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integration runner – we use it to validate arguments, linting the code (checking whether it supports best practices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Writing code – which prevents various types of problems). Here we have integration with our central environment database (CMDB), which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is hosted at SNOW. We also use it to record automation work - creating Change Requests and incidents,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when any problems occurred.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last image is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testcore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image - we use it to perform unit and integration tests using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PyTest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tool.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widzimy 3 przykładowe image, które stworzyliśmy do użycia w naszych </a:t>
            </a:r>
            <a:r>
              <a:rPr lang="pl-PL" dirty="0" err="1"/>
              <a:t>pipelinach</a:t>
            </a:r>
            <a:r>
              <a:rPr lang="pl-PL" dirty="0"/>
              <a:t>. </a:t>
            </a:r>
          </a:p>
          <a:p>
            <a:r>
              <a:rPr lang="pl-PL" dirty="0"/>
              <a:t>Pierwszy z nich </a:t>
            </a:r>
            <a:r>
              <a:rPr lang="pl-PL" dirty="0" err="1"/>
              <a:t>database</a:t>
            </a:r>
            <a:r>
              <a:rPr lang="pl-PL" dirty="0"/>
              <a:t>-</a:t>
            </a:r>
            <a:r>
              <a:rPr lang="pl-PL" dirty="0" err="1"/>
              <a:t>runner</a:t>
            </a:r>
            <a:r>
              <a:rPr lang="pl-PL" dirty="0"/>
              <a:t>-image jest używany do wykonywania kodu rozwijanego za </a:t>
            </a:r>
          </a:p>
          <a:p>
            <a:r>
              <a:rPr lang="pl-PL" dirty="0"/>
              <a:t>pomocą </a:t>
            </a:r>
            <a:r>
              <a:rPr lang="pl-PL" dirty="0" err="1"/>
              <a:t>Ansibla</a:t>
            </a:r>
            <a:r>
              <a:rPr lang="pl-PL" dirty="0"/>
              <a:t>. Używamy go też do zbierania różnego informacji potrzebnych w innych miejscach </a:t>
            </a:r>
            <a:r>
              <a:rPr lang="pl-PL" dirty="0" err="1"/>
              <a:t>pipelina</a:t>
            </a:r>
            <a:r>
              <a:rPr lang="pl-PL" dirty="0"/>
              <a:t>. </a:t>
            </a:r>
          </a:p>
          <a:p>
            <a:r>
              <a:rPr lang="pl-PL" dirty="0" err="1"/>
              <a:t>Itsm</a:t>
            </a:r>
            <a:r>
              <a:rPr lang="pl-PL" dirty="0"/>
              <a:t> integration </a:t>
            </a:r>
            <a:r>
              <a:rPr lang="pl-PL" dirty="0" err="1"/>
              <a:t>runner</a:t>
            </a:r>
            <a:r>
              <a:rPr lang="pl-PL" dirty="0"/>
              <a:t> – używamy do walidacji argumentów, </a:t>
            </a:r>
            <a:r>
              <a:rPr lang="pl-PL" dirty="0" err="1"/>
              <a:t>lintowania</a:t>
            </a:r>
            <a:r>
              <a:rPr lang="pl-PL" dirty="0"/>
              <a:t> kodu (sprawdzania czy wspiera najlepsze praktyki</a:t>
            </a:r>
          </a:p>
          <a:p>
            <a:r>
              <a:rPr lang="pl-PL" dirty="0"/>
              <a:t>Pisania kodu – co zapobiega różnego rodzaju problemom). Tutaj mamy integrację z naszą centralną bazą środowiska (CMDB), która</a:t>
            </a:r>
          </a:p>
          <a:p>
            <a:r>
              <a:rPr lang="pl-PL" dirty="0"/>
              <a:t>jest utrzymywane w SNOW. Używamy go także do ewidencjowania pracy automatyzacji – tworzenia Change </a:t>
            </a:r>
            <a:r>
              <a:rPr lang="pl-PL" dirty="0" err="1"/>
              <a:t>Requests</a:t>
            </a:r>
            <a:r>
              <a:rPr lang="pl-PL" dirty="0"/>
              <a:t> oraz incydentów, </a:t>
            </a:r>
          </a:p>
          <a:p>
            <a:r>
              <a:rPr lang="pl-PL" dirty="0"/>
              <a:t>gdy pojawiły się jakieś problemy.</a:t>
            </a:r>
          </a:p>
          <a:p>
            <a:r>
              <a:rPr lang="pl-PL" dirty="0"/>
              <a:t>Ostatni obraz to obraz </a:t>
            </a:r>
            <a:r>
              <a:rPr lang="pl-PL" dirty="0" err="1"/>
              <a:t>testcore</a:t>
            </a:r>
            <a:r>
              <a:rPr lang="pl-PL" dirty="0"/>
              <a:t> – używamy go do wykonywania testów jednostkowych i integracyjnych za pomocą narzędzia </a:t>
            </a:r>
            <a:r>
              <a:rPr lang="pl-PL" dirty="0" err="1"/>
              <a:t>PyTest</a:t>
            </a:r>
            <a:r>
              <a:rPr lang="pl-PL" dirty="0"/>
              <a:t>. 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773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 think many of you use git as a version control system in your daily work.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 will be a reminder for such people, and a short introduction for those who don't use it.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 is a distributed version control system. We make changes locally on the cloned code repository.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Clone from a remote repository, which in our case is located in Gitlab. Changes come first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to an area called Stage Area (we don't want all local changes to appear in the repository). Then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changes are committed and pushed using the git push command to the remote repository.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If we want to download changes from a remote repository (our colleagues added something to the repository), 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basic command is git pull.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Myślę, że wielu z Was używa gita jako systemu </a:t>
            </a:r>
            <a:r>
              <a:rPr lang="pl-PL" dirty="0" err="1"/>
              <a:t>kontrolu</a:t>
            </a:r>
            <a:r>
              <a:rPr lang="pl-PL" dirty="0"/>
              <a:t> wersji w codziennej pracy.</a:t>
            </a:r>
          </a:p>
          <a:p>
            <a:r>
              <a:rPr lang="pl-PL" dirty="0"/>
              <a:t>Dla takich osób to będzie przypomnienie, a dla tych co nie używają krótkie wprowadzenie.</a:t>
            </a:r>
          </a:p>
          <a:p>
            <a:r>
              <a:rPr lang="pl-PL" dirty="0"/>
              <a:t>Git jest </a:t>
            </a:r>
            <a:r>
              <a:rPr lang="pl-PL" dirty="0" err="1"/>
              <a:t>rozproszym</a:t>
            </a:r>
            <a:r>
              <a:rPr lang="pl-PL" dirty="0"/>
              <a:t> system kontroli wersji. Zmiany przeprowadzamy lokalnie na sklonowanym repozytorium z kodem.</a:t>
            </a:r>
          </a:p>
          <a:p>
            <a:r>
              <a:rPr lang="pl-PL" dirty="0" err="1"/>
              <a:t>Klonojumy</a:t>
            </a:r>
            <a:r>
              <a:rPr lang="pl-PL" dirty="0"/>
              <a:t> ze zdalnego repozytorium, które w naszym przypadku znajduje się w </a:t>
            </a:r>
            <a:r>
              <a:rPr lang="pl-PL" dirty="0" err="1"/>
              <a:t>Gitlabie</a:t>
            </a:r>
            <a:r>
              <a:rPr lang="pl-PL" dirty="0"/>
              <a:t>. Zmiany przechodzą najpierw</a:t>
            </a:r>
          </a:p>
          <a:p>
            <a:r>
              <a:rPr lang="pl-PL" dirty="0"/>
              <a:t>do obszaru zwanego Stage Area (nie wszystkie zmiany lokalne chcemy aby pojawiły się w repozytorium). Następnie </a:t>
            </a:r>
          </a:p>
          <a:p>
            <a:r>
              <a:rPr lang="pl-PL" dirty="0"/>
              <a:t>zmiany są </a:t>
            </a:r>
            <a:r>
              <a:rPr lang="pl-PL" dirty="0" err="1"/>
              <a:t>commitowane</a:t>
            </a:r>
            <a:r>
              <a:rPr lang="pl-PL" dirty="0"/>
              <a:t> i wysyłane za pomocą polecenia git </a:t>
            </a:r>
            <a:r>
              <a:rPr lang="pl-PL" dirty="0" err="1"/>
              <a:t>push</a:t>
            </a:r>
            <a:r>
              <a:rPr lang="pl-PL" dirty="0"/>
              <a:t> do zdalnego repozytorium.</a:t>
            </a:r>
          </a:p>
          <a:p>
            <a:r>
              <a:rPr lang="pl-PL" dirty="0"/>
              <a:t>Jeżeli chcemy pobrać zmiany ze zdalnego repozytorium (nasi koledzy dopisali coś do repozytorium) to podstawowym poleceniem jest git </a:t>
            </a:r>
            <a:r>
              <a:rPr lang="pl-PL" dirty="0" err="1"/>
              <a:t>pull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107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When we develop our code, we do it in a specially created new branch. Once our code is ready, we create something that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it's called Merge Request. If someone uses GitHub, then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is the equivalent of a Pull Request. We want to integrate our changes into the main code in the repository (usually this branch is called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main or master and is usually a chronological branch - cannot be modified directly).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Conflicts may arise that need to be resolved before merging.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Often, a Merge Request requires you to do additional things. For example, in my organization it has to be approved by two developers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Mid-Developer and Senior Developer. If the code changes the code significantly, additional approval from a person from the IT Quality team is required.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After accepting this Merge Request, Senior DevOps performs the merge operation, and the code is already in the main code. Then we generate a new one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 tag that points to a place in the code and we update all places that use that code.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Gdy rozwijamy nasz kod robimy to w specjalnie stworzonym nowym </a:t>
            </a:r>
            <a:r>
              <a:rPr lang="pl-PL" dirty="0" err="1"/>
              <a:t>branchu</a:t>
            </a:r>
            <a:r>
              <a:rPr lang="pl-PL" dirty="0"/>
              <a:t>. Gdy nasz kod jest gotowy, tworzymy coś co </a:t>
            </a:r>
          </a:p>
          <a:p>
            <a:r>
              <a:rPr lang="pl-PL" dirty="0"/>
              <a:t>nazywa się </a:t>
            </a:r>
            <a:r>
              <a:rPr lang="pl-PL" dirty="0" err="1"/>
              <a:t>Merge</a:t>
            </a:r>
            <a:r>
              <a:rPr lang="pl-PL" dirty="0"/>
              <a:t> Request. Jeżeli ktoś używa GitHuba to </a:t>
            </a:r>
          </a:p>
          <a:p>
            <a:r>
              <a:rPr lang="pl-PL" dirty="0"/>
              <a:t>jest to odpowiednik </a:t>
            </a:r>
            <a:r>
              <a:rPr lang="pl-PL" dirty="0" err="1"/>
              <a:t>Pull</a:t>
            </a:r>
            <a:r>
              <a:rPr lang="pl-PL" dirty="0"/>
              <a:t> Request. Chcemy zintegrować nasze zmiany z głównym kodem w repozytorium (zazwyczaj ten </a:t>
            </a:r>
            <a:r>
              <a:rPr lang="pl-PL" dirty="0" err="1"/>
              <a:t>branch</a:t>
            </a:r>
            <a:r>
              <a:rPr lang="pl-PL" dirty="0"/>
              <a:t> nazywa się </a:t>
            </a:r>
          </a:p>
          <a:p>
            <a:r>
              <a:rPr lang="pl-PL" dirty="0" err="1"/>
              <a:t>main</a:t>
            </a:r>
            <a:r>
              <a:rPr lang="pl-PL" dirty="0"/>
              <a:t> albo master i zazwyczaj jest </a:t>
            </a:r>
            <a:r>
              <a:rPr lang="pl-PL" dirty="0" err="1"/>
              <a:t>chronionum</a:t>
            </a:r>
            <a:r>
              <a:rPr lang="pl-PL" dirty="0"/>
              <a:t> </a:t>
            </a:r>
            <a:r>
              <a:rPr lang="pl-PL" dirty="0" err="1"/>
              <a:t>branchem</a:t>
            </a:r>
            <a:r>
              <a:rPr lang="pl-PL" dirty="0"/>
              <a:t> – nie można modyfikować w sposób bezpośredni). </a:t>
            </a:r>
          </a:p>
          <a:p>
            <a:r>
              <a:rPr lang="pl-PL" dirty="0"/>
              <a:t>Mogą się pojawić się konflikty, które należy rozwiązać przed </a:t>
            </a:r>
            <a:r>
              <a:rPr lang="pl-PL" dirty="0" err="1"/>
              <a:t>zmergowaniem</a:t>
            </a:r>
            <a:r>
              <a:rPr lang="pl-PL" dirty="0"/>
              <a:t>. </a:t>
            </a:r>
          </a:p>
          <a:p>
            <a:r>
              <a:rPr lang="pl-PL" dirty="0"/>
              <a:t>Często </a:t>
            </a:r>
            <a:r>
              <a:rPr lang="pl-PL" dirty="0" err="1"/>
              <a:t>Merge</a:t>
            </a:r>
            <a:r>
              <a:rPr lang="pl-PL" dirty="0"/>
              <a:t> Request wymaga wykonania dodatkowych rzeczy. Przykładowo w mojej organizacji musi go zaakceptować dwóch developerów </a:t>
            </a:r>
          </a:p>
          <a:p>
            <a:pPr marL="171450" indent="-171450">
              <a:buFontTx/>
              <a:buChar char="-"/>
            </a:pPr>
            <a:r>
              <a:rPr lang="pl-PL" dirty="0" err="1"/>
              <a:t>Mid</a:t>
            </a:r>
            <a:r>
              <a:rPr lang="pl-PL" dirty="0"/>
              <a:t>-Developer i Senior Developer. Jeżeli kod zmienia znacząco kod to jest wymagany dodatkowa akceptacja człowieka z zespołu IT </a:t>
            </a:r>
            <a:r>
              <a:rPr lang="pl-PL" dirty="0" err="1"/>
              <a:t>Quality</a:t>
            </a:r>
            <a:r>
              <a:rPr lang="pl-PL" dirty="0"/>
              <a:t>.</a:t>
            </a:r>
          </a:p>
          <a:p>
            <a:pPr marL="0" indent="0">
              <a:buFontTx/>
              <a:buNone/>
            </a:pPr>
            <a:r>
              <a:rPr lang="pl-PL" dirty="0"/>
              <a:t>Po zaakceptowaniu tego </a:t>
            </a:r>
            <a:r>
              <a:rPr lang="pl-PL" dirty="0" err="1"/>
              <a:t>Merge</a:t>
            </a:r>
            <a:r>
              <a:rPr lang="pl-PL" dirty="0"/>
              <a:t> Request, Senior </a:t>
            </a:r>
            <a:r>
              <a:rPr lang="pl-PL" dirty="0" err="1"/>
              <a:t>DevOps</a:t>
            </a:r>
            <a:r>
              <a:rPr lang="pl-PL" dirty="0"/>
              <a:t> wykonuje operację </a:t>
            </a:r>
            <a:r>
              <a:rPr lang="pl-PL" dirty="0" err="1"/>
              <a:t>merge</a:t>
            </a:r>
            <a:r>
              <a:rPr lang="pl-PL" dirty="0"/>
              <a:t> i kod jest już w głównym kodzie. Następnie generujemy nowy</a:t>
            </a:r>
          </a:p>
          <a:p>
            <a:pPr marL="0" indent="0">
              <a:buFontTx/>
              <a:buNone/>
            </a:pPr>
            <a:r>
              <a:rPr lang="pl-PL" dirty="0" err="1"/>
              <a:t>tag</a:t>
            </a:r>
            <a:r>
              <a:rPr lang="pl-PL" dirty="0"/>
              <a:t>, który wskazuje miejsce w kodzie i uaktualniamy wszystkie miejsce, które używają ten kod.</a:t>
            </a:r>
          </a:p>
          <a:p>
            <a:pPr marL="171450" indent="-171450">
              <a:buFontTx/>
              <a:buChar char="-"/>
            </a:pP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695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What does our automation environment for Oracle look like in numbers?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 currently have 64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Asnible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roles for various purposes. From those that have a more supporting role (for example, ansible-role-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getserver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-ci - retrieving database information from CMDB) and those that have a more operational role (ansible-role-oracle-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-deco - performing database removal from the Oracle system, ansible-role-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oracle_soft_clone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(cloning or correct application of PSU (version 19c on RHEL9)).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core elements of pipelines are Ansible playbooks. They contain code for performing database operations - creating a database, cloning a database, deleting, creating a standby database, installing Oracle software.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also have a special pipeline for regression testing. Regression testing is checking whether new codes are added in addition to adding functionality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 didn't break anything in the existing functionality. This is done by defining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multipipelines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for different data centers and running cyclically.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Jak wygląda nasze środowisko automatyzacyjne dla Oracle w liczbach?</a:t>
            </a:r>
          </a:p>
          <a:p>
            <a:r>
              <a:rPr lang="pl-PL" dirty="0"/>
              <a:t>Mam obecnie 64 role </a:t>
            </a:r>
            <a:r>
              <a:rPr lang="pl-PL" dirty="0" err="1"/>
              <a:t>Asnible</a:t>
            </a:r>
            <a:r>
              <a:rPr lang="pl-PL" dirty="0"/>
              <a:t> role o różnym przeznaczeniu. Od takich, które bardziej mają rolę </a:t>
            </a:r>
            <a:r>
              <a:rPr lang="pl-PL" dirty="0" err="1"/>
              <a:t>wspomającą</a:t>
            </a:r>
            <a:r>
              <a:rPr lang="pl-PL" dirty="0"/>
              <a:t> (na przykład </a:t>
            </a:r>
            <a:r>
              <a:rPr lang="pl-PL" dirty="0" err="1"/>
              <a:t>ansible</a:t>
            </a:r>
            <a:r>
              <a:rPr lang="pl-PL" dirty="0"/>
              <a:t>-role-</a:t>
            </a:r>
            <a:r>
              <a:rPr lang="pl-PL" dirty="0" err="1"/>
              <a:t>db</a:t>
            </a:r>
            <a:r>
              <a:rPr lang="pl-PL" dirty="0"/>
              <a:t>-</a:t>
            </a:r>
            <a:r>
              <a:rPr lang="pl-PL" dirty="0" err="1"/>
              <a:t>getserver</a:t>
            </a:r>
            <a:r>
              <a:rPr lang="pl-PL" dirty="0"/>
              <a:t>-ci – pobieranie informacji o bazie danych z CMDB) oraz takich co mają bardziej operacyjną rolę (</a:t>
            </a:r>
            <a:r>
              <a:rPr lang="pl-PL" dirty="0" err="1"/>
              <a:t>ansible</a:t>
            </a:r>
            <a:r>
              <a:rPr lang="pl-PL" dirty="0"/>
              <a:t>-role-oracle-</a:t>
            </a:r>
            <a:r>
              <a:rPr lang="pl-PL" dirty="0" err="1"/>
              <a:t>db</a:t>
            </a:r>
            <a:r>
              <a:rPr lang="pl-PL" dirty="0"/>
              <a:t>-</a:t>
            </a:r>
            <a:r>
              <a:rPr lang="pl-PL" dirty="0" err="1"/>
              <a:t>deco</a:t>
            </a:r>
            <a:r>
              <a:rPr lang="pl-PL" dirty="0"/>
              <a:t> – przeprowadzenie usunięcia bazy z systemu Oracle , </a:t>
            </a:r>
            <a:r>
              <a:rPr lang="pl-PL" dirty="0" err="1"/>
              <a:t>ansible</a:t>
            </a:r>
            <a:r>
              <a:rPr lang="pl-PL" dirty="0"/>
              <a:t>-role-</a:t>
            </a:r>
            <a:r>
              <a:rPr lang="pl-PL" dirty="0" err="1"/>
              <a:t>oracle_soft_clone</a:t>
            </a:r>
            <a:r>
              <a:rPr lang="pl-PL" dirty="0"/>
              <a:t> (klonowanie lub prawidłowe aplikowanie PSU (wersja 19c na RHEL9)).</a:t>
            </a:r>
          </a:p>
          <a:p>
            <a:r>
              <a:rPr lang="pl-PL" dirty="0"/>
              <a:t>Podstawowe elementy </a:t>
            </a:r>
            <a:r>
              <a:rPr lang="pl-PL" dirty="0" err="1"/>
              <a:t>pipelinów</a:t>
            </a:r>
            <a:r>
              <a:rPr lang="pl-PL" dirty="0"/>
              <a:t> to </a:t>
            </a:r>
            <a:r>
              <a:rPr lang="pl-PL" dirty="0" err="1"/>
              <a:t>Ansible</a:t>
            </a:r>
            <a:r>
              <a:rPr lang="pl-PL" dirty="0"/>
              <a:t> </a:t>
            </a:r>
            <a:r>
              <a:rPr lang="pl-PL" dirty="0" err="1"/>
              <a:t>playbooki</a:t>
            </a:r>
            <a:r>
              <a:rPr lang="pl-PL" dirty="0"/>
              <a:t>. Zawierają one kod do wykonywania operacji na bazach danych – tworzenie bazy, </a:t>
            </a:r>
            <a:r>
              <a:rPr lang="pl-PL" dirty="0" err="1"/>
              <a:t>klnowanie</a:t>
            </a:r>
            <a:r>
              <a:rPr lang="pl-PL" dirty="0"/>
              <a:t> bazy, usunięcie , tworzenie bazy </a:t>
            </a:r>
            <a:r>
              <a:rPr lang="pl-PL" dirty="0" err="1"/>
              <a:t>standby</a:t>
            </a:r>
            <a:r>
              <a:rPr lang="pl-PL" dirty="0"/>
              <a:t>, instalacji Oracle software.</a:t>
            </a:r>
          </a:p>
          <a:p>
            <a:r>
              <a:rPr lang="pl-PL" dirty="0"/>
              <a:t>Posiadamy także specjalny pipeline to testów regresyjny. Testowanie regresyjne to sprawdzanie czy nowy kody oprócz </a:t>
            </a:r>
            <a:r>
              <a:rPr lang="pl-PL" dirty="0" err="1"/>
              <a:t>dodatania</a:t>
            </a:r>
            <a:r>
              <a:rPr lang="pl-PL" dirty="0"/>
              <a:t> funkcjonalności</a:t>
            </a:r>
          </a:p>
          <a:p>
            <a:r>
              <a:rPr lang="pl-PL" dirty="0"/>
              <a:t>nie popsuł czegoś w istniejącej funkcjonalności. Odbywa się to poprzez zdefiniowanie </a:t>
            </a:r>
            <a:r>
              <a:rPr lang="pl-PL" dirty="0" err="1"/>
              <a:t>multipipelinów</a:t>
            </a:r>
            <a:r>
              <a:rPr lang="pl-PL" dirty="0"/>
              <a:t> dla różnych data </a:t>
            </a:r>
            <a:r>
              <a:rPr lang="pl-PL" dirty="0" err="1"/>
              <a:t>center</a:t>
            </a:r>
            <a:r>
              <a:rPr lang="pl-PL" dirty="0"/>
              <a:t> i uruchamiania cyklicznie. 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1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the functionalities provided by our automation - using the example of installing the Oracle IaaS database.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new database is delivered in one of four types - Sandpit, Development, Test and Production.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user himself determines the characteristics of the database in the web tool. Finally, the database is also connected to various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Tools used by our colleagues in operations. One of them is Oracle Cloud Control.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use the Cohesity tool for backups,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LogicMontior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for CMDB and ITIL ServiceNow for monitoring.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 przykład funkcjonalności jakie </a:t>
            </a:r>
            <a:r>
              <a:rPr lang="pl-PL" dirty="0" err="1"/>
              <a:t>dostarczas</a:t>
            </a:r>
            <a:r>
              <a:rPr lang="pl-PL" dirty="0"/>
              <a:t> nasza automatyzacja – na przykładzie instalacji bazy Oracle IaaS. </a:t>
            </a:r>
          </a:p>
          <a:p>
            <a:r>
              <a:rPr lang="pl-PL" dirty="0"/>
              <a:t>Nowa baza danych dostarczana jest w jednym z czterech rodzajów – </a:t>
            </a:r>
            <a:r>
              <a:rPr lang="pl-PL" dirty="0" err="1"/>
              <a:t>Sandpit</a:t>
            </a:r>
            <a:r>
              <a:rPr lang="pl-PL" dirty="0"/>
              <a:t>, Development, Test i Produkcja.</a:t>
            </a:r>
          </a:p>
          <a:p>
            <a:r>
              <a:rPr lang="pl-PL" dirty="0"/>
              <a:t>Użytkownik sam wnioskuje charakterystykę bazy w narzędziu Webowym. Finalnie baza jest </a:t>
            </a:r>
            <a:r>
              <a:rPr lang="pl-PL" dirty="0" err="1"/>
              <a:t>takż</a:t>
            </a:r>
            <a:r>
              <a:rPr lang="pl-PL" dirty="0"/>
              <a:t> podpięta do różnych </a:t>
            </a:r>
          </a:p>
          <a:p>
            <a:pPr algn="l"/>
            <a:r>
              <a:rPr lang="pl-PL" dirty="0"/>
              <a:t>Narzędzi używanych przez naszych kolegów z operacji. Jednym z nich jest Oracle Cloud Control.</a:t>
            </a:r>
          </a:p>
          <a:p>
            <a:pPr algn="l"/>
            <a:r>
              <a:rPr lang="pl-PL" dirty="0"/>
              <a:t>Do backupów używamy narzędzia Cohesity, do monitorowania </a:t>
            </a:r>
            <a:r>
              <a:rPr lang="pl-PL" dirty="0" err="1"/>
              <a:t>LogicMontior</a:t>
            </a:r>
            <a:r>
              <a:rPr lang="pl-PL" dirty="0"/>
              <a:t> do CMDB i </a:t>
            </a:r>
            <a:r>
              <a:rPr lang="pl-PL" dirty="0" err="1"/>
              <a:t>ITILa</a:t>
            </a:r>
            <a:r>
              <a:rPr lang="pl-PL" dirty="0"/>
              <a:t> </a:t>
            </a:r>
            <a:r>
              <a:rPr lang="pl-PL" dirty="0" err="1"/>
              <a:t>ServiceNow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2955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Let's look at what processes this pipeline allows us to automate when building a new database.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It's quite a lot. RDBI – this is our internal database management tool. Not as extensive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like Cloud Control, but for certain operations much faster.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Pipeline can be invoked via the web environment or via cli commands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(The API is exposed using the Mercury API tool, which allows you to build such APIs).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Przyjrzyjmy się jakie procesy pozwala nam zautomatyzować ten pipeline przy budowanie nowej bazy danych.</a:t>
            </a:r>
          </a:p>
          <a:p>
            <a:r>
              <a:rPr lang="pl-PL" dirty="0"/>
              <a:t>Jest to całkiem sporo. RDBI – to nasz wewnętrzne narzędzie do zarządzani bazami. Nie tak rozbudowane</a:t>
            </a:r>
          </a:p>
          <a:p>
            <a:r>
              <a:rPr lang="pl-PL" dirty="0"/>
              <a:t>jak Cloud Control, ale do pewnych operacji zdecydowanie szybsze. </a:t>
            </a:r>
          </a:p>
          <a:p>
            <a:r>
              <a:rPr lang="pl-PL" dirty="0"/>
              <a:t>Pipeline można wywoływać za pomocą środowiska Webowego albo za pomocą komend cli</a:t>
            </a:r>
          </a:p>
          <a:p>
            <a:r>
              <a:rPr lang="pl-PL" dirty="0"/>
              <a:t>(API jest wystawione za pomocą narzędzia </a:t>
            </a:r>
            <a:r>
              <a:rPr lang="pl-PL" dirty="0" err="1"/>
              <a:t>Mercury</a:t>
            </a:r>
            <a:r>
              <a:rPr lang="pl-PL" dirty="0"/>
              <a:t> API, które pozwala takie API budować).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035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One of the pipeline parameters is the type of action we want to perform.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It can be: prepare,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installsw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, full,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createdb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 prepare, the server is prepared for database installation and the state it expects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automation. This can also be used to check whether the server is in the state expected by the automation.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next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installsw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is to install the Oracle database software on the server. </a:t>
            </a:r>
          </a:p>
          <a:p>
            <a:pPr rtl="0"/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Createdb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– here we create a database and prepare it to work in the environment.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Jednym z parametrów pipeline jest rodzaj akcji jaki chcemy przeprowadzić.</a:t>
            </a:r>
          </a:p>
          <a:p>
            <a:r>
              <a:rPr lang="pl-PL" dirty="0"/>
              <a:t>Może to być: prepare, installsw, full, createdb.</a:t>
            </a:r>
          </a:p>
          <a:p>
            <a:r>
              <a:rPr lang="pl-PL" dirty="0"/>
              <a:t>W prepare serwer jest przegotowywany do instalacji bazy danych oraz do stanu, którego oczekuje</a:t>
            </a:r>
          </a:p>
          <a:p>
            <a:r>
              <a:rPr lang="pl-PL" dirty="0"/>
              <a:t>automatyzacja. Można to też wykorzystać do sprawdzenie czy serwer jest w stanie spodziewanym przez automatyzację.</a:t>
            </a:r>
          </a:p>
          <a:p>
            <a:r>
              <a:rPr lang="pl-PL" dirty="0"/>
              <a:t>Następny installsw to instalacja oprogramowanie bazy Oracle na serwerze. </a:t>
            </a:r>
          </a:p>
          <a:p>
            <a:r>
              <a:rPr lang="pl-PL" dirty="0"/>
              <a:t>Createdb – tutaj tworzymy bazę i przygotowujemy ją do pracy w środowisku. </a:t>
            </a:r>
          </a:p>
          <a:p>
            <a:endParaRPr lang="pl-PL" dirty="0"/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30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 have a diagram of this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Each of them is a stage that has a specific job defined.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For descriptive purposes, I have assigned each of these stags to one of four categories (technical steps, tests/validation/communication/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ServiceNow operation related to ITIL).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 diagram tego </a:t>
            </a:r>
            <a:r>
              <a:rPr lang="pl-PL" dirty="0" err="1"/>
              <a:t>pipelina</a:t>
            </a:r>
            <a:r>
              <a:rPr lang="pl-PL" dirty="0"/>
              <a:t>. Każdy z nich to stage, który ma </a:t>
            </a:r>
            <a:r>
              <a:rPr lang="pl-PL" dirty="0" err="1"/>
              <a:t>zdefiowany</a:t>
            </a:r>
            <a:r>
              <a:rPr lang="pl-PL" dirty="0"/>
              <a:t> konkretny </a:t>
            </a:r>
            <a:r>
              <a:rPr lang="pl-PL" dirty="0" err="1"/>
              <a:t>job</a:t>
            </a:r>
            <a:r>
              <a:rPr lang="pl-PL" dirty="0"/>
              <a:t>. </a:t>
            </a:r>
          </a:p>
          <a:p>
            <a:r>
              <a:rPr lang="pl-PL" dirty="0"/>
              <a:t>Dla celów opisowych </a:t>
            </a:r>
            <a:r>
              <a:rPr lang="pl-PL" dirty="0" err="1"/>
              <a:t>przepisałym</a:t>
            </a:r>
            <a:r>
              <a:rPr lang="pl-PL" dirty="0"/>
              <a:t> każdy z tych </a:t>
            </a:r>
            <a:r>
              <a:rPr lang="pl-PL" dirty="0" err="1"/>
              <a:t>stagy</a:t>
            </a:r>
            <a:r>
              <a:rPr lang="pl-PL" dirty="0"/>
              <a:t> do jednej z czterech kategorii (</a:t>
            </a:r>
            <a:r>
              <a:rPr lang="pl-PL" dirty="0" err="1"/>
              <a:t>technical</a:t>
            </a:r>
            <a:r>
              <a:rPr lang="pl-PL" dirty="0"/>
              <a:t> steps, </a:t>
            </a:r>
            <a:r>
              <a:rPr lang="pl-PL" dirty="0" err="1"/>
              <a:t>tests</a:t>
            </a:r>
            <a:r>
              <a:rPr lang="pl-PL" dirty="0"/>
              <a:t>/</a:t>
            </a:r>
            <a:r>
              <a:rPr lang="pl-PL" dirty="0" err="1"/>
              <a:t>validation</a:t>
            </a:r>
            <a:r>
              <a:rPr lang="pl-PL" dirty="0"/>
              <a:t>/</a:t>
            </a:r>
            <a:r>
              <a:rPr lang="pl-PL" dirty="0" err="1"/>
              <a:t>communication</a:t>
            </a:r>
            <a:r>
              <a:rPr lang="pl-PL" dirty="0"/>
              <a:t>/</a:t>
            </a:r>
          </a:p>
          <a:p>
            <a:r>
              <a:rPr lang="pl-PL" dirty="0" err="1"/>
              <a:t>ServiceNow</a:t>
            </a:r>
            <a:r>
              <a:rPr lang="pl-PL" dirty="0"/>
              <a:t> operation </a:t>
            </a:r>
            <a:r>
              <a:rPr lang="pl-PL" dirty="0" err="1"/>
              <a:t>related</a:t>
            </a:r>
            <a:r>
              <a:rPr lang="pl-PL" dirty="0"/>
              <a:t> to ITIL). 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858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allows you to visualize pipeline processing. We can see the status of such a pipeline.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Who started the execution - this will help check whether it was a production call or as part of code development/testing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 non-production mode.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Individual stages can have different statuses - Passed, Warning (some job ended with an error, but this is not a critical error for the pipeline),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Failed, Skipped and Canceled.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You can also view the artifacts generated by such a pipeline.</a:t>
            </a:r>
          </a:p>
          <a:p>
            <a:endParaRPr lang="pl-PL" dirty="0"/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also offers analytics, where we can check productivity and load for a given repository.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Many of these analytics are available by default. But if we want more, we need to configure it within Gitlab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column-oriented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ClickHouse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database. For now, there was no such need in my organization.</a:t>
            </a:r>
            <a:endParaRPr lang="pl-PL" dirty="0"/>
          </a:p>
          <a:p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Gitlab umożliwia wizualizację przetwarzania </a:t>
            </a:r>
            <a:r>
              <a:rPr lang="pl-PL" dirty="0" err="1"/>
              <a:t>pipelinów</a:t>
            </a:r>
            <a:r>
              <a:rPr lang="pl-PL" dirty="0"/>
              <a:t>. Możemy zobaczyć status takiego </a:t>
            </a:r>
            <a:r>
              <a:rPr lang="pl-PL" dirty="0" err="1"/>
              <a:t>pipeline’a</a:t>
            </a:r>
            <a:r>
              <a:rPr lang="pl-PL" dirty="0"/>
              <a:t>. </a:t>
            </a:r>
          </a:p>
          <a:p>
            <a:r>
              <a:rPr lang="pl-PL" dirty="0"/>
              <a:t>Kto zaczął wykonanie – pomoże to sprawdzić czy była to wywołanie produkcyjne czy w ramach tworzenia/testowania kodu</a:t>
            </a:r>
          </a:p>
          <a:p>
            <a:r>
              <a:rPr lang="pl-PL" dirty="0"/>
              <a:t>w trybie nieprodukcyjnym. </a:t>
            </a:r>
          </a:p>
          <a:p>
            <a:r>
              <a:rPr lang="pl-PL" dirty="0"/>
              <a:t>Pojedyncze stage mogą mieć różne statusy – </a:t>
            </a:r>
            <a:r>
              <a:rPr lang="pl-PL" dirty="0" err="1"/>
              <a:t>Passed</a:t>
            </a:r>
            <a:r>
              <a:rPr lang="pl-PL" dirty="0"/>
              <a:t>, </a:t>
            </a:r>
            <a:r>
              <a:rPr lang="pl-PL" dirty="0" err="1"/>
              <a:t>Warning</a:t>
            </a:r>
            <a:r>
              <a:rPr lang="pl-PL" dirty="0"/>
              <a:t> (jakiś </a:t>
            </a:r>
            <a:r>
              <a:rPr lang="pl-PL" dirty="0" err="1"/>
              <a:t>job</a:t>
            </a:r>
            <a:r>
              <a:rPr lang="pl-PL" dirty="0"/>
              <a:t> zakończył się błędem ale nie jest to błąd krytyczny dla </a:t>
            </a:r>
            <a:r>
              <a:rPr lang="pl-PL" dirty="0" err="1"/>
              <a:t>pipelinea</a:t>
            </a:r>
            <a:r>
              <a:rPr lang="pl-PL" dirty="0"/>
              <a:t>),</a:t>
            </a:r>
          </a:p>
          <a:p>
            <a:r>
              <a:rPr lang="pl-PL" dirty="0" err="1"/>
              <a:t>Failed</a:t>
            </a:r>
            <a:r>
              <a:rPr lang="pl-PL" dirty="0"/>
              <a:t>, </a:t>
            </a:r>
            <a:r>
              <a:rPr lang="pl-PL" dirty="0" err="1"/>
              <a:t>Skipped</a:t>
            </a:r>
            <a:r>
              <a:rPr lang="pl-PL" dirty="0"/>
              <a:t> and </a:t>
            </a:r>
            <a:r>
              <a:rPr lang="pl-PL" dirty="0" err="1"/>
              <a:t>Canceled</a:t>
            </a:r>
            <a:r>
              <a:rPr lang="pl-PL" dirty="0"/>
              <a:t>.</a:t>
            </a:r>
          </a:p>
          <a:p>
            <a:r>
              <a:rPr lang="pl-PL" dirty="0"/>
              <a:t>Można także przejrzeć artefakty jakie taki pipeline wygenerował.</a:t>
            </a:r>
          </a:p>
          <a:p>
            <a:endParaRPr lang="pl-PL" dirty="0"/>
          </a:p>
          <a:p>
            <a:r>
              <a:rPr lang="pl-PL" dirty="0" err="1"/>
              <a:t>Gitlab</a:t>
            </a:r>
            <a:r>
              <a:rPr lang="pl-PL" dirty="0"/>
              <a:t> oferuje także analitykę, gdzie możemy sprawdzać produktywność, obłożenie dla danego repozytorium.</a:t>
            </a:r>
          </a:p>
          <a:p>
            <a:r>
              <a:rPr lang="pl-PL" dirty="0"/>
              <a:t>Wiele z takich analityk jest domyślnie dostępnych. Ale jeżeli chcemy więcej to musimy skonfigurować w ramach </a:t>
            </a:r>
            <a:r>
              <a:rPr lang="pl-PL" dirty="0" err="1"/>
              <a:t>Gitlaba</a:t>
            </a:r>
            <a:endParaRPr lang="pl-PL" dirty="0"/>
          </a:p>
          <a:p>
            <a:r>
              <a:rPr lang="pl-PL" dirty="0"/>
              <a:t>bazę typu </a:t>
            </a:r>
            <a:r>
              <a:rPr lang="pl-PL" dirty="0" err="1"/>
              <a:t>column-oriented</a:t>
            </a:r>
            <a:r>
              <a:rPr lang="pl-PL" dirty="0"/>
              <a:t> </a:t>
            </a:r>
            <a:r>
              <a:rPr lang="pl-PL" dirty="0" err="1"/>
              <a:t>ClickHouse</a:t>
            </a:r>
            <a:r>
              <a:rPr lang="pl-PL" dirty="0"/>
              <a:t>. Na razie nie było takiej potrzeby w mojej organizacji.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18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Now let's take a look at some of the more interesting aspects of our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You can specify multiple default values ​​in a pipeline. One of the most important is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default container image. The second are tags - they are needed for the specifications of the runners on which the jobs are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run. For example, we want to run only on runners that support x64 architecture.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If runners with the ARM architecture suddenly appear in the set of runners, our jobs may end in failure,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because the image cannot be run on ARM.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Teraz przejrzymy się kilku ciekawszym aspektom naszym </a:t>
            </a:r>
            <a:r>
              <a:rPr lang="pl-PL" dirty="0" err="1"/>
              <a:t>pipelinów</a:t>
            </a:r>
            <a:r>
              <a:rPr lang="pl-PL" dirty="0"/>
              <a:t>.</a:t>
            </a:r>
          </a:p>
          <a:p>
            <a:r>
              <a:rPr lang="pl-PL" dirty="0"/>
              <a:t>W </a:t>
            </a:r>
            <a:r>
              <a:rPr lang="pl-PL" dirty="0" err="1"/>
              <a:t>pipelinie</a:t>
            </a:r>
            <a:r>
              <a:rPr lang="pl-PL" dirty="0"/>
              <a:t> można specyfikować wiele domyślnych wartości. Jedną z najważniejszych jest </a:t>
            </a:r>
          </a:p>
          <a:p>
            <a:r>
              <a:rPr lang="pl-PL" dirty="0"/>
              <a:t>domyślny image </a:t>
            </a:r>
            <a:r>
              <a:rPr lang="pl-PL" dirty="0" err="1"/>
              <a:t>contenera</a:t>
            </a:r>
            <a:r>
              <a:rPr lang="pl-PL" dirty="0"/>
              <a:t>. Drugie to </a:t>
            </a:r>
            <a:r>
              <a:rPr lang="pl-PL" dirty="0" err="1"/>
              <a:t>tagi</a:t>
            </a:r>
            <a:r>
              <a:rPr lang="pl-PL" dirty="0"/>
              <a:t> – są one potrzebne do specyfikacji </a:t>
            </a:r>
            <a:r>
              <a:rPr lang="pl-PL" dirty="0" err="1"/>
              <a:t>runner</a:t>
            </a:r>
            <a:r>
              <a:rPr lang="pl-PL" dirty="0"/>
              <a:t> na których </a:t>
            </a:r>
            <a:r>
              <a:rPr lang="pl-PL" dirty="0" err="1"/>
              <a:t>joby</a:t>
            </a:r>
            <a:r>
              <a:rPr lang="pl-PL" dirty="0"/>
              <a:t> mają </a:t>
            </a:r>
          </a:p>
          <a:p>
            <a:r>
              <a:rPr lang="pl-PL" dirty="0"/>
              <a:t>uruchamiać. Przykładowo chcemy uruchamiać tylko na </a:t>
            </a:r>
            <a:r>
              <a:rPr lang="pl-PL" dirty="0" err="1"/>
              <a:t>runnerach</a:t>
            </a:r>
            <a:r>
              <a:rPr lang="pl-PL" dirty="0"/>
              <a:t> wspierających architekturę x64.</a:t>
            </a:r>
          </a:p>
          <a:p>
            <a:r>
              <a:rPr lang="pl-PL" dirty="0"/>
              <a:t>Jeżeli nagle pojawią się w zestawie </a:t>
            </a:r>
            <a:r>
              <a:rPr lang="pl-PL" dirty="0" err="1"/>
              <a:t>runnerów</a:t>
            </a:r>
            <a:r>
              <a:rPr lang="pl-PL" dirty="0"/>
              <a:t> takie z architekturą ARM nasze </a:t>
            </a:r>
            <a:r>
              <a:rPr lang="pl-PL" dirty="0" err="1"/>
              <a:t>joby</a:t>
            </a:r>
            <a:r>
              <a:rPr lang="pl-PL" dirty="0"/>
              <a:t> mogą zakończyć się nie powiedzeniem,</a:t>
            </a:r>
          </a:p>
          <a:p>
            <a:r>
              <a:rPr lang="pl-PL" dirty="0"/>
              <a:t>ponieważ danego obrazu nie da się uruchomić na </a:t>
            </a:r>
            <a:r>
              <a:rPr lang="pl-PL" dirty="0" err="1"/>
              <a:t>ARMie</a:t>
            </a:r>
            <a:r>
              <a:rPr lang="pl-PL" dirty="0"/>
              <a:t>.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0591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define all stages in our pipeline. Even if we generate a dynamic sub-pipeline, it must be statically defined. Gitlab does not support dynamically defined stags.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definiujemy wszystkie stage w naszym </a:t>
            </a:r>
            <a:r>
              <a:rPr lang="pl-PL" dirty="0" err="1"/>
              <a:t>pipelinie</a:t>
            </a:r>
            <a:r>
              <a:rPr lang="pl-PL" dirty="0"/>
              <a:t>. </a:t>
            </a:r>
          </a:p>
          <a:p>
            <a:r>
              <a:rPr lang="pl-PL" dirty="0"/>
              <a:t>Nawet jeżeli wygenerujemy dynamiczne podrzędny pipeline to musi być statycznie zdefiniowany.</a:t>
            </a:r>
          </a:p>
          <a:p>
            <a:r>
              <a:rPr lang="pl-PL" dirty="0"/>
              <a:t>Gitlab nie wspiera dynamicznie definiowanych </a:t>
            </a:r>
            <a:r>
              <a:rPr lang="pl-PL" dirty="0" err="1"/>
              <a:t>stagy</a:t>
            </a:r>
            <a:r>
              <a:rPr lang="pl-PL" dirty="0"/>
              <a:t>.</a:t>
            </a:r>
          </a:p>
          <a:p>
            <a:endParaRPr lang="pl-PL" dirty="0"/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35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have an example of running OS type unit tests using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pytest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and connecting to the server using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Ansible. You can use the facts collected by Ansible on the server for use in testing. Just the basics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server attributes are available in the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pytest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library.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returned artifacts are an XML file with a test report, which can then be parsed to HTML using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allure-report tools.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przykład uruchomienia testów jednostkowych typu OS za pomocą </a:t>
            </a:r>
            <a:r>
              <a:rPr lang="pl-PL" dirty="0" err="1"/>
              <a:t>pytest</a:t>
            </a:r>
            <a:r>
              <a:rPr lang="pl-PL" dirty="0"/>
              <a:t> i połączenia do serwera za pomocą </a:t>
            </a:r>
          </a:p>
          <a:p>
            <a:r>
              <a:rPr lang="pl-PL" dirty="0" err="1"/>
              <a:t>Ansibla</a:t>
            </a:r>
            <a:r>
              <a:rPr lang="pl-PL" dirty="0"/>
              <a:t>. Można wykorzystać zebrane fakty przez </a:t>
            </a:r>
            <a:r>
              <a:rPr lang="pl-PL" dirty="0" err="1"/>
              <a:t>Ansible</a:t>
            </a:r>
            <a:r>
              <a:rPr lang="pl-PL" dirty="0"/>
              <a:t> na serwerze do wykorzystania w testach. Tylko podstawowe</a:t>
            </a:r>
          </a:p>
          <a:p>
            <a:r>
              <a:rPr lang="pl-PL" dirty="0"/>
              <a:t>atrybuty serwera są dostępne w bibliotece </a:t>
            </a:r>
            <a:r>
              <a:rPr lang="pl-PL" dirty="0" err="1"/>
              <a:t>pytest</a:t>
            </a:r>
            <a:r>
              <a:rPr lang="pl-PL" dirty="0"/>
              <a:t>.</a:t>
            </a:r>
          </a:p>
          <a:p>
            <a:r>
              <a:rPr lang="pl-PL" dirty="0"/>
              <a:t>Artefaktami zwracanymi jest plik XML z raportem testów, który można potem </a:t>
            </a:r>
            <a:r>
              <a:rPr lang="pl-PL" dirty="0" err="1"/>
              <a:t>przeparsować</a:t>
            </a:r>
            <a:r>
              <a:rPr lang="pl-PL" dirty="0"/>
              <a:t> do </a:t>
            </a:r>
            <a:r>
              <a:rPr lang="pl-PL" dirty="0" err="1"/>
              <a:t>html</a:t>
            </a:r>
            <a:r>
              <a:rPr lang="pl-PL" dirty="0"/>
              <a:t> za pomocą </a:t>
            </a:r>
          </a:p>
          <a:p>
            <a:r>
              <a:rPr lang="pl-PL" dirty="0"/>
              <a:t>narzędzia </a:t>
            </a:r>
            <a:r>
              <a:rPr lang="pl-PL" dirty="0" err="1"/>
              <a:t>allure</a:t>
            </a:r>
            <a:r>
              <a:rPr lang="pl-PL" dirty="0"/>
              <a:t>-report.</a:t>
            </a:r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1868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 have an example of unit tests for setting kernel parameters in a Linux server.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define values ​​as a set that is then processed in the test. This simplifies the code significantly.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All in 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single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function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 przykład testów jednostkowych to ustawień parametrów </a:t>
            </a:r>
            <a:r>
              <a:rPr lang="pl-PL" dirty="0" err="1"/>
              <a:t>kernela</a:t>
            </a:r>
            <a:r>
              <a:rPr lang="pl-PL" dirty="0"/>
              <a:t> w serwerze Linux. </a:t>
            </a:r>
          </a:p>
          <a:p>
            <a:r>
              <a:rPr lang="pl-PL" dirty="0"/>
              <a:t>Definiujemy wartości jako zestaw, który jest następnie przetwarzany w teście. Upraszcza to znacząco kod.</a:t>
            </a:r>
          </a:p>
          <a:p>
            <a:r>
              <a:rPr lang="pl-PL" dirty="0"/>
              <a:t>Wszystko w jednej funkcji.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3855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Such tests can be integrated with the Gitlab interface to display them more clearly.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Test takie można </a:t>
            </a:r>
            <a:r>
              <a:rPr lang="pl-PL" dirty="0" err="1"/>
              <a:t>integtowac</a:t>
            </a:r>
            <a:r>
              <a:rPr lang="pl-PL" dirty="0"/>
              <a:t> z interfejsem w Gitlab, aby wyświetlać w bardziej przejrzysty sposób.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195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what it looks like in Gitlab.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przykład jak to wygląda w </a:t>
            </a:r>
            <a:r>
              <a:rPr lang="pl-PL" dirty="0" err="1"/>
              <a:t>Gitlabie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49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When creating pipelines, you can also execute code defined in Gitla</a:t>
            </a:r>
            <a:r>
              <a:rPr lang="pl-PL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outside the pipeline.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is a bit reminiscent of include and import in programming languages. In our environment we use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includes, among others, executing functionalities created in the library to support SNOW.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Here, for example, we use the SNOW library to create relationships between the database and the server on which it is installed.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Przy tworzeniu </a:t>
            </a:r>
            <a:r>
              <a:rPr lang="pl-PL" dirty="0" err="1"/>
              <a:t>pipelineach</a:t>
            </a:r>
            <a:r>
              <a:rPr lang="pl-PL" dirty="0"/>
              <a:t> można też kod wykonywać zdefiniowanym w </a:t>
            </a:r>
            <a:r>
              <a:rPr lang="pl-PL" dirty="0" err="1"/>
              <a:t>Gitlanie</a:t>
            </a:r>
            <a:r>
              <a:rPr lang="pl-PL" dirty="0"/>
              <a:t> poza </a:t>
            </a:r>
            <a:r>
              <a:rPr lang="pl-PL" dirty="0" err="1"/>
              <a:t>pipelinem</a:t>
            </a:r>
            <a:r>
              <a:rPr lang="pl-PL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 err="1"/>
              <a:t>Przypomnia</a:t>
            </a:r>
            <a:r>
              <a:rPr lang="pl-PL" dirty="0"/>
              <a:t> to troszkę to </a:t>
            </a:r>
            <a:r>
              <a:rPr lang="pl-PL" dirty="0" err="1"/>
              <a:t>include</a:t>
            </a:r>
            <a:r>
              <a:rPr lang="pl-PL" dirty="0"/>
              <a:t>, import w językach programowaniach. W naszym środowisko wykorzystujemy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to między innymi do wykonywanie funkcjonalności utworzonych w bibliotece do obsługi SNOW.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Tutaj przykładowo używamy biblioteki SNOW do tworzenie relacji między bazą danych a serwerem na którym jest zainstalowany.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376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have Ansible block which creates a database using our good friend – DBCA.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</a:t>
            </a:r>
            <a:r>
              <a:rPr lang="pl-PL" dirty="0" err="1"/>
              <a:t>Ansible</a:t>
            </a:r>
            <a:r>
              <a:rPr lang="pl-PL" dirty="0"/>
              <a:t> </a:t>
            </a:r>
            <a:r>
              <a:rPr lang="pl-PL" dirty="0" err="1"/>
              <a:t>block</a:t>
            </a:r>
            <a:r>
              <a:rPr lang="pl-PL" dirty="0"/>
              <a:t>, który tworzy bazę danych za pomocą naszego dobrego znajomego – DBCA.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127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When creating pipelines, we should consider whether certain operations should occur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errors should not be performed as cleaning or preparation for a reliable launch.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can set automatic action retries up to 3 times.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a rollback operation when installing Oracle database software - we restore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previously created Oracle Inventory backup and delete the folder for Oracle Home. Operations needed before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another try.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Przy tworzeniu </a:t>
            </a:r>
            <a:r>
              <a:rPr lang="pl-PL" dirty="0" err="1"/>
              <a:t>pipelinów</a:t>
            </a:r>
            <a:r>
              <a:rPr lang="pl-PL" dirty="0"/>
              <a:t> powinniśmy się zastanowić się czy pewne operacji przy pojawiających się </a:t>
            </a:r>
          </a:p>
          <a:p>
            <a:r>
              <a:rPr lang="pl-PL" dirty="0"/>
              <a:t>błędach nie powinniśmy wykonać jako czyszczenie lub przygotowanie do pewnego uruchomienia.</a:t>
            </a:r>
          </a:p>
          <a:p>
            <a:r>
              <a:rPr lang="pl-PL" dirty="0"/>
              <a:t>Możemy ustawić maksymalnie 3-krotne automatyczne ponowienia akcji. </a:t>
            </a:r>
          </a:p>
          <a:p>
            <a:r>
              <a:rPr lang="pl-PL" dirty="0"/>
              <a:t>Tutaj mamy przykład operacji </a:t>
            </a:r>
            <a:r>
              <a:rPr lang="pl-PL" dirty="0" err="1"/>
              <a:t>rollaback</a:t>
            </a:r>
            <a:r>
              <a:rPr lang="pl-PL" dirty="0"/>
              <a:t> przy instalacji oprogramowanie bazy danych Oracle – przywracamy </a:t>
            </a:r>
          </a:p>
          <a:p>
            <a:r>
              <a:rPr lang="pl-PL" dirty="0"/>
              <a:t>poprzednio stworzony backup Oracle Inventory oraz usuwamy folder dla Oracle Home. Operacje potrzebne przed </a:t>
            </a:r>
          </a:p>
          <a:p>
            <a:r>
              <a:rPr lang="pl-PL" dirty="0"/>
              <a:t>kolejną próbą.</a:t>
            </a:r>
          </a:p>
          <a:p>
            <a:r>
              <a:rPr lang="pl-PL" dirty="0"/>
              <a:t> 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219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 our environment, we need to describe tests. Here we have some test examples. To create a database: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Checking whether Oracle Software has been installed correctly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Whether the Qualified checkbox has been checked in ServiceNow for the database represented as Configuration Item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- Whether backup retention is set correctly for the database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W naszym środowisku musimy opisywać testy. Tutaj mamy przykłady testów. Do tworzenia bazy danych:</a:t>
            </a:r>
          </a:p>
          <a:p>
            <a:pPr marL="171450" indent="-171450">
              <a:buFontTx/>
              <a:buChar char="-"/>
            </a:pPr>
            <a:r>
              <a:rPr lang="pl-PL" dirty="0"/>
              <a:t>Sprawdzenie czy Oracle Software został prawidłowo zainstalowany</a:t>
            </a:r>
          </a:p>
          <a:p>
            <a:pPr marL="171450" indent="-171450">
              <a:buFontTx/>
              <a:buChar char="-"/>
            </a:pPr>
            <a:r>
              <a:rPr lang="pl-PL" dirty="0"/>
              <a:t>Czy </a:t>
            </a:r>
            <a:r>
              <a:rPr lang="pl-PL" dirty="0" err="1"/>
              <a:t>Qualified</a:t>
            </a:r>
            <a:r>
              <a:rPr lang="pl-PL" dirty="0"/>
              <a:t> </a:t>
            </a:r>
            <a:r>
              <a:rPr lang="pl-PL" dirty="0" err="1"/>
              <a:t>checkbox</a:t>
            </a:r>
            <a:r>
              <a:rPr lang="pl-PL" dirty="0"/>
              <a:t> został </a:t>
            </a:r>
            <a:r>
              <a:rPr lang="pl-PL" dirty="0" err="1"/>
              <a:t>zaznaczonyw</a:t>
            </a:r>
            <a:r>
              <a:rPr lang="pl-PL" dirty="0"/>
              <a:t> </a:t>
            </a:r>
            <a:r>
              <a:rPr lang="pl-PL" dirty="0" err="1"/>
              <a:t>ServiceNow</a:t>
            </a:r>
            <a:r>
              <a:rPr lang="pl-PL" dirty="0"/>
              <a:t> dla bazy danych reprezentowanej jako Configuration Item</a:t>
            </a:r>
          </a:p>
          <a:p>
            <a:pPr marL="0" indent="0">
              <a:buFontTx/>
              <a:buNone/>
            </a:pPr>
            <a:r>
              <a:rPr lang="pl-PL" dirty="0"/>
              <a:t>-   Czy retencja backupów jest prawidłowo ustawiona dla bazy danych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5622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defining what tests are run for particular stags.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 przykład zdefiniowania jakie testy są odpalane dla poszczególnych </a:t>
            </a:r>
            <a:r>
              <a:rPr lang="pl-PL" dirty="0" err="1"/>
              <a:t>stagy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062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Validation – it is both static and dynamic. We dynamically check whether, for example, 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application service and server exist in CMDB and have the correct status.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Walidacja – jest zarówno statyczna jak i dynamiczna. Dynamicznie sprawdzamy czy np. serwis aplikacyjny i serwer istnieją </a:t>
            </a:r>
          </a:p>
          <a:p>
            <a:r>
              <a:rPr lang="pl-PL" dirty="0"/>
              <a:t>w CMDB i mają prawidłowy status.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934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see an example of a web application where you can run automation to create a database.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widzimy przykład aplikacji Webowej gdzie można odpalać automatyzację do tworzenia bazy danych.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0834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Automation can also be launched using cli.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are provided by molds, which are created 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MercuryAPI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 nice solution if we have API calls wrapped in scripts, e.g.: for database patching operations.</a:t>
            </a:r>
            <a:endParaRPr lang="pl-PL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In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our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care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we expose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two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methods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–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validation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and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sumbit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–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perform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actual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 </a:t>
            </a:r>
            <a:r>
              <a:rPr lang="pl-PL" sz="1200" b="0" i="0" kern="1200" dirty="0" err="1">
                <a:solidFill>
                  <a:schemeClr val="tx1"/>
                </a:solidFill>
                <a:effectLst/>
                <a:ea typeface="+mn-ea"/>
              </a:rPr>
              <a:t>job</a:t>
            </a:r>
            <a:r>
              <a:rPr lang="pl-PL" sz="1200" b="0" i="0" kern="1200" dirty="0">
                <a:solidFill>
                  <a:schemeClr val="tx1"/>
                </a:solidFill>
                <a:effectLst/>
                <a:ea typeface="+mn-ea"/>
              </a:rPr>
              <a:t>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Automatyzację można także odpalać za pomocą cli. </a:t>
            </a:r>
            <a:r>
              <a:rPr lang="pl-PL" dirty="0" err="1"/>
              <a:t>Pipeliny</a:t>
            </a:r>
            <a:r>
              <a:rPr lang="pl-PL" dirty="0"/>
              <a:t> są udostępnione przez formy,</a:t>
            </a:r>
          </a:p>
          <a:p>
            <a:r>
              <a:rPr lang="pl-PL" dirty="0"/>
              <a:t>które są tworzone w </a:t>
            </a:r>
            <a:r>
              <a:rPr lang="pl-PL" dirty="0" err="1"/>
              <a:t>MercuryAPI</a:t>
            </a:r>
            <a:r>
              <a:rPr lang="pl-PL" dirty="0"/>
              <a:t>. Fajne rozwiązanie jeżeli mamy takie API </a:t>
            </a:r>
            <a:r>
              <a:rPr lang="pl-PL" dirty="0" err="1"/>
              <a:t>calle</a:t>
            </a:r>
            <a:r>
              <a:rPr lang="pl-PL" dirty="0"/>
              <a:t> opakowane w skrypty, np.: </a:t>
            </a:r>
          </a:p>
          <a:p>
            <a:r>
              <a:rPr lang="pl-PL" dirty="0"/>
              <a:t>dla operacji </a:t>
            </a:r>
            <a:r>
              <a:rPr lang="pl-PL" dirty="0" err="1"/>
              <a:t>patchowania</a:t>
            </a:r>
            <a:r>
              <a:rPr lang="pl-PL" dirty="0"/>
              <a:t> bazy.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367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 our environment we have a pipeline where we perform regression tests for our automation.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New functionality, bug fixes cannot break existing ones. This is what regression tests are for.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have a pipeline to be executed on different Data Centers, of different lengths.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An example pipeline is: create a database, add a replica, create a tablespace, create a user, delete the database.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To define such a pipeline that uses 5 others, we use the configuration in the CSV file and collect them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into separate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TestSets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. For each testcase, such a pipeline is dynamically generated using a Python application.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Such a pipeline runs every day at 01:00 at night.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W naszym środowisku mamy pipeline, gdzie wykonujemy testy regresyjne dla naszej automatyzacji.</a:t>
            </a:r>
          </a:p>
          <a:p>
            <a:r>
              <a:rPr lang="pl-PL" dirty="0"/>
              <a:t>Nowa funkcjonalność, </a:t>
            </a:r>
            <a:r>
              <a:rPr lang="pl-PL" dirty="0" err="1"/>
              <a:t>fixy</a:t>
            </a:r>
            <a:r>
              <a:rPr lang="pl-PL" dirty="0"/>
              <a:t> dla </a:t>
            </a:r>
            <a:r>
              <a:rPr lang="pl-PL" dirty="0" err="1"/>
              <a:t>bugów</a:t>
            </a:r>
            <a:r>
              <a:rPr lang="pl-PL" dirty="0"/>
              <a:t> nie mogą psuć istniejących. Do tego służą testy regresyjne.</a:t>
            </a:r>
          </a:p>
          <a:p>
            <a:r>
              <a:rPr lang="pl-PL" dirty="0"/>
              <a:t>Mamy pipeline do wykonania na różnych Data </a:t>
            </a:r>
            <a:r>
              <a:rPr lang="pl-PL" dirty="0" err="1"/>
              <a:t>Centers</a:t>
            </a:r>
            <a:r>
              <a:rPr lang="pl-PL" dirty="0"/>
              <a:t>, różnej długości. </a:t>
            </a:r>
          </a:p>
          <a:p>
            <a:r>
              <a:rPr lang="pl-PL" dirty="0"/>
              <a:t>Przykładowy to pipeline to: stworzenie bazy, dodanie repliki, stworzenie </a:t>
            </a:r>
            <a:r>
              <a:rPr lang="pl-PL" dirty="0" err="1"/>
              <a:t>tablespace</a:t>
            </a:r>
            <a:r>
              <a:rPr lang="pl-PL" dirty="0"/>
              <a:t>, stworzenie użytkownika, usunięcie bazy.</a:t>
            </a:r>
          </a:p>
          <a:p>
            <a:r>
              <a:rPr lang="pl-PL" dirty="0"/>
              <a:t>Do zdefiniowania takiego pipeline, który używa 5 innych używamy konfiguracji w pliku CSV i zbieramy je</a:t>
            </a:r>
          </a:p>
          <a:p>
            <a:r>
              <a:rPr lang="pl-PL" dirty="0"/>
              <a:t>w osobne </a:t>
            </a:r>
            <a:r>
              <a:rPr lang="pl-PL" dirty="0" err="1"/>
              <a:t>TestSety</a:t>
            </a:r>
            <a:r>
              <a:rPr lang="pl-PL" dirty="0"/>
              <a:t>. Dla każdego </a:t>
            </a:r>
            <a:r>
              <a:rPr lang="pl-PL" dirty="0" err="1"/>
              <a:t>testcase</a:t>
            </a:r>
            <a:r>
              <a:rPr lang="pl-PL" dirty="0"/>
              <a:t> taki pipeline jest dynamiczne generowany za pomocą aplikacji w </a:t>
            </a:r>
            <a:r>
              <a:rPr lang="pl-PL" dirty="0" err="1"/>
              <a:t>Pythonie</a:t>
            </a:r>
            <a:r>
              <a:rPr lang="pl-PL" dirty="0"/>
              <a:t>. </a:t>
            </a:r>
          </a:p>
          <a:p>
            <a:r>
              <a:rPr lang="pl-PL" dirty="0"/>
              <a:t>Takie pipeline jest uruchamiany codziennie o 01:00 w nocy. </a:t>
            </a:r>
          </a:p>
          <a:p>
            <a:endParaRPr lang="pl-PL" dirty="0"/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4307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we have an independent add-on. At the top you can see what a sample configuration file looks like.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After calculating the multipipeline counter, we have the project address (i.e. pipeline), then the branch requirements and the pipeline parameters in the form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parameter:value</a:t>
            </a:r>
            <a:endParaRPr lang="en-US" sz="1200" b="0" i="0" kern="1200" dirty="0">
              <a:solidFill>
                <a:schemeClr val="tx1"/>
              </a:solidFill>
              <a:effectLst/>
              <a:latin typeface="Oracle Sans Tab" panose="020B0503020204020204" pitchFamily="34" charset="0"/>
              <a:ea typeface="+mn-ea"/>
              <a:cs typeface="Oracle Sans Tab" panose="020B0503020204020204" pitchFamily="34" charset="0"/>
            </a:endParaRP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 second stage is a program written in Python, which is specific to the pipeline in the form of a YAML file.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This pipeline is then invoked.</a:t>
            </a:r>
            <a:endParaRPr lang="pl-PL" dirty="0"/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Tutaj mamy większość szczegółów. U góry </a:t>
            </a:r>
            <a:r>
              <a:rPr lang="pl-PL" dirty="0" err="1"/>
              <a:t>widziamy</a:t>
            </a:r>
            <a:r>
              <a:rPr lang="pl-PL" dirty="0"/>
              <a:t> jak wygląda przykładowy plik konfiguracyjny.</a:t>
            </a:r>
          </a:p>
          <a:p>
            <a:r>
              <a:rPr lang="pl-PL" dirty="0"/>
              <a:t>Po nazwie definicji </a:t>
            </a:r>
            <a:r>
              <a:rPr lang="pl-PL" dirty="0" err="1"/>
              <a:t>multipipelinea</a:t>
            </a:r>
            <a:r>
              <a:rPr lang="pl-PL" dirty="0"/>
              <a:t> mamy adres projektu (czyli pipeline), </a:t>
            </a:r>
            <a:r>
              <a:rPr lang="pl-PL" dirty="0" err="1"/>
              <a:t>nastęnie</a:t>
            </a:r>
            <a:r>
              <a:rPr lang="pl-PL" dirty="0"/>
              <a:t> nazwę </a:t>
            </a:r>
            <a:r>
              <a:rPr lang="pl-PL" dirty="0" err="1"/>
              <a:t>brancha</a:t>
            </a:r>
            <a:r>
              <a:rPr lang="pl-PL" dirty="0"/>
              <a:t> oraz parametry </a:t>
            </a:r>
            <a:r>
              <a:rPr lang="pl-PL" dirty="0" err="1"/>
              <a:t>pipelina</a:t>
            </a:r>
            <a:r>
              <a:rPr lang="pl-PL" dirty="0"/>
              <a:t> w postaci </a:t>
            </a:r>
            <a:r>
              <a:rPr lang="pl-PL" dirty="0" err="1"/>
              <a:t>parametr:wartość</a:t>
            </a:r>
            <a:endParaRPr lang="pl-PL" dirty="0"/>
          </a:p>
          <a:p>
            <a:r>
              <a:rPr lang="pl-PL" dirty="0"/>
              <a:t>Drugi etap to program napisany w </a:t>
            </a:r>
            <a:r>
              <a:rPr lang="pl-PL" dirty="0" err="1"/>
              <a:t>Pythonie</a:t>
            </a:r>
            <a:r>
              <a:rPr lang="pl-PL" dirty="0"/>
              <a:t> które generuje dynamicznie pipeline w postaci pliku YAML.</a:t>
            </a:r>
          </a:p>
          <a:p>
            <a:r>
              <a:rPr lang="pl-PL" dirty="0"/>
              <a:t>Taki pipeline jest następnie wywoływany.</a:t>
            </a:r>
          </a:p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4980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AE472-CEF3-D01F-5C09-DEFB09C2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2619495-8DAC-7306-F2E4-09E20DFF41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D05BF4E-816A-44B1-D51E-0AC6C478B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Here is an example of what such a regression testing pipeline looks like when executed in Gitlab.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can go into detail about each job.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Tu mamy przykład jak wykonanie takiego pipeline do testów regresyjnych wygląda po wykonaniu w Gitlab.</a:t>
            </a:r>
          </a:p>
          <a:p>
            <a:r>
              <a:rPr lang="pl-PL" dirty="0"/>
              <a:t>Możemy wchodzić w szczegóły każdego </a:t>
            </a:r>
            <a:r>
              <a:rPr lang="pl-PL" dirty="0" err="1"/>
              <a:t>joba</a:t>
            </a:r>
            <a:r>
              <a:rPr lang="pl-PL" dirty="0"/>
              <a:t>.</a:t>
            </a:r>
            <a:endParaRPr lang="en-US" dirty="0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CDA0001-8893-0F47-9A86-A14AF4FD6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9" y="11725038"/>
            <a:ext cx="3169919" cy="619362"/>
          </a:xfrm>
          <a:prstGeom prst="rect">
            <a:avLst/>
          </a:prstGeom>
        </p:spPr>
        <p:txBody>
          <a:bodyPr/>
          <a:lstStyle/>
          <a:p>
            <a:fld id="{9EDC5964-3162-43B5-B1EC-63C8D166D7D3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784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Let's move on to a summary of the things we have learned in our environment.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First, make sure that the pipeline with default parameters is successful. This means we need to have some permanent elements in our environment.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We must also remember that writing pipelines (even though many of the concepts are the same) is not classic programming. 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There are other solutions to the same problems.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doesn't like too many artifacts coming from previous jobs. Strange problems start at 10.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Pipelins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 should not be overly complicated.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Rollback strategy – remember that the pipeline will be executed hundreds of times. If possible, define rollback steps - it will save us time for preparation.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Gitlab is similar to Oracle - extensions are controlled by the vendor.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If your environment is not large, you probably shouldn't use Kubernetes Executor.</a:t>
            </a:r>
          </a:p>
          <a:p>
            <a:pPr rtl="0"/>
            <a:r>
              <a:rPr lang="en-US" sz="1200" b="0" i="0" kern="1200" dirty="0">
                <a:solidFill>
                  <a:schemeClr val="tx1"/>
                </a:solidFill>
                <a:effectLst/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rPr>
              <a:t>Use regression testing and the TDD (Test-Driven Automation) approach - it will significantly improve your solution.</a:t>
            </a:r>
          </a:p>
          <a:p>
            <a:endParaRPr lang="pl-P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#####################################################################################</a:t>
            </a:r>
          </a:p>
          <a:p>
            <a:endParaRPr lang="pl-PL" dirty="0"/>
          </a:p>
          <a:p>
            <a:r>
              <a:rPr lang="pl-PL" dirty="0"/>
              <a:t>Przejdźmy do podsumowania rzeczy, które się nauczyliśmy w naszym środowisku.</a:t>
            </a:r>
          </a:p>
          <a:p>
            <a:r>
              <a:rPr lang="pl-PL" dirty="0"/>
              <a:t>Po pierwsze upewnij się że pipeline z domyślnym parametrami kończy się </a:t>
            </a:r>
            <a:r>
              <a:rPr lang="pl-PL" dirty="0" err="1"/>
              <a:t>sukcsesem</a:t>
            </a:r>
            <a:r>
              <a:rPr lang="pl-PL" dirty="0"/>
              <a:t>. Oznacza musimy mieć jakieś stałe elementy w naszym środowisku.</a:t>
            </a:r>
          </a:p>
          <a:p>
            <a:r>
              <a:rPr lang="pl-PL" dirty="0"/>
              <a:t>Musimy też pamiętać, że pisanie </a:t>
            </a:r>
            <a:r>
              <a:rPr lang="pl-PL" dirty="0" err="1"/>
              <a:t>pipelineów</a:t>
            </a:r>
            <a:r>
              <a:rPr lang="pl-PL" dirty="0"/>
              <a:t> (mimo że wiele koncepcji jest takich samych) to nie </a:t>
            </a:r>
            <a:r>
              <a:rPr lang="pl-PL" dirty="0" err="1"/>
              <a:t>klaszyczne</a:t>
            </a:r>
            <a:r>
              <a:rPr lang="pl-PL" dirty="0"/>
              <a:t> programowanie. </a:t>
            </a:r>
          </a:p>
          <a:p>
            <a:r>
              <a:rPr lang="pl-PL" dirty="0"/>
              <a:t>Istnieją inne rozwiązania na te same problemy.</a:t>
            </a:r>
          </a:p>
          <a:p>
            <a:r>
              <a:rPr lang="pl-PL" dirty="0"/>
              <a:t>Gitlab nie lubi jak zbyt wiele </a:t>
            </a:r>
            <a:r>
              <a:rPr lang="pl-PL" dirty="0" err="1"/>
              <a:t>artifacts</a:t>
            </a:r>
            <a:r>
              <a:rPr lang="pl-PL" dirty="0"/>
              <a:t> pochodzi z poprzednich </a:t>
            </a:r>
            <a:r>
              <a:rPr lang="pl-PL" dirty="0" err="1"/>
              <a:t>jobów</a:t>
            </a:r>
            <a:r>
              <a:rPr lang="pl-PL" dirty="0"/>
              <a:t>. Od 10 zaczynają się dziwne problemy. </a:t>
            </a:r>
            <a:r>
              <a:rPr lang="pl-PL" dirty="0" err="1"/>
              <a:t>Pipeliny</a:t>
            </a:r>
            <a:r>
              <a:rPr lang="pl-PL" dirty="0"/>
              <a:t> nie powinny być przesadnie skomplikowane.</a:t>
            </a:r>
          </a:p>
          <a:p>
            <a:r>
              <a:rPr lang="pl-PL" dirty="0"/>
              <a:t>Rollback </a:t>
            </a:r>
            <a:r>
              <a:rPr lang="pl-PL" dirty="0" err="1"/>
              <a:t>strategy</a:t>
            </a:r>
            <a:r>
              <a:rPr lang="pl-PL" dirty="0"/>
              <a:t> – pamiętajmy że pipeline będą wykonywane setki razy. Jeżeli jest możliwość definiujmy kroki rollback – zaoszczędzi to nam czas na przygotowania.</a:t>
            </a:r>
          </a:p>
          <a:p>
            <a:r>
              <a:rPr lang="pl-PL" dirty="0"/>
              <a:t>Gitlab jest podobny do </a:t>
            </a:r>
            <a:r>
              <a:rPr lang="pl-PL" dirty="0" err="1"/>
              <a:t>Oracla</a:t>
            </a:r>
            <a:r>
              <a:rPr lang="pl-PL" dirty="0"/>
              <a:t> – </a:t>
            </a:r>
            <a:r>
              <a:rPr lang="pl-PL" dirty="0" err="1"/>
              <a:t>roszerzenia</a:t>
            </a:r>
            <a:r>
              <a:rPr lang="pl-PL" dirty="0"/>
              <a:t> są kontrolowane przez dostawcę.</a:t>
            </a:r>
          </a:p>
          <a:p>
            <a:r>
              <a:rPr lang="pl-PL" dirty="0"/>
              <a:t>Jeżeli twoje środowisko nie jest duże to raczej nie powinieneś używać </a:t>
            </a:r>
            <a:r>
              <a:rPr lang="pl-PL" dirty="0" err="1"/>
              <a:t>Kubernetes</a:t>
            </a:r>
            <a:r>
              <a:rPr lang="pl-PL" dirty="0"/>
              <a:t> </a:t>
            </a:r>
            <a:r>
              <a:rPr lang="pl-PL" dirty="0" err="1"/>
              <a:t>Executora</a:t>
            </a:r>
            <a:r>
              <a:rPr lang="pl-PL" dirty="0"/>
              <a:t>.</a:t>
            </a:r>
          </a:p>
          <a:p>
            <a:r>
              <a:rPr lang="pl-PL" dirty="0"/>
              <a:t>Używaj testów regresyjnych i podejścia TDD (Test-</a:t>
            </a:r>
            <a:r>
              <a:rPr lang="pl-PL" dirty="0" err="1"/>
              <a:t>Driven</a:t>
            </a:r>
            <a:r>
              <a:rPr lang="pl-PL" dirty="0"/>
              <a:t> Automation) – poprawi to jakoś twojego rozwiązania znacząco.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C8E260-42C9-48D5-8A07-E0ACD181170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98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">
            <a:extLst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66763" y="1600201"/>
            <a:ext cx="10671175" cy="4506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403"/>
            <a:ext cx="10671048" cy="82296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30A69-7CFB-D967-DE36-2C409B99E78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567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709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0201"/>
            <a:ext cx="10671175" cy="45069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42FE6-D817-4BF4-D073-1B681B47E49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948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8575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9577" y="160857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575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F6C5FF-A460-3A45-58E4-E3E2E97043A7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8297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6108521" y="1608298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215" y="1608297"/>
            <a:ext cx="508406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3A1E7-41AA-EE20-F56E-8AB19FDFDAD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5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4263415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56971" y="1609725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7951511" y="1609725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145067" y="1609725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3633E8-06A7-6ACF-ED78-D31B41AEBE2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067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4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4261915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56083" y="1609724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7951236" y="1609724"/>
            <a:ext cx="0" cy="4507992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145405" y="1609724"/>
            <a:ext cx="3300984" cy="450799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686C2E-453E-702D-3FA6-F53120BD63C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448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Colum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875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3" name="Column Divider" descr="Column Divider">
            <a:extLst>
              <a:ext uri="{FF2B5EF4-FFF2-40B4-BE49-F238E27FC236}">
                <a16:creationId xmlns:a16="http://schemas.microsoft.com/office/drawing/2014/main" id="{B228B4F2-5D6F-42F4-B132-F908BB527268}"/>
              </a:ext>
            </a:extLst>
          </p:cNvPr>
          <p:cNvCxnSpPr>
            <a:cxnSpLocks/>
          </p:cNvCxnSpPr>
          <p:nvPr userDrawn="1"/>
        </p:nvCxnSpPr>
        <p:spPr>
          <a:xfrm>
            <a:off x="3374450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2">
            <a:extLst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502001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Column Divider 2" descr="Column Divider">
            <a:extLst>
              <a:ext uri="{FF2B5EF4-FFF2-40B4-BE49-F238E27FC236}">
                <a16:creationId xmlns:a16="http://schemas.microsoft.com/office/drawing/2014/main" id="{43000B2C-7C76-4F07-AF50-5F3019C384BC}"/>
              </a:ext>
            </a:extLst>
          </p:cNvPr>
          <p:cNvCxnSpPr>
            <a:cxnSpLocks/>
          </p:cNvCxnSpPr>
          <p:nvPr userDrawn="1"/>
        </p:nvCxnSpPr>
        <p:spPr>
          <a:xfrm>
            <a:off x="6107576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3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Column Divider 3" descr="Column Divider">
            <a:extLst>
              <a:ext uri="{FF2B5EF4-FFF2-40B4-BE49-F238E27FC236}">
                <a16:creationId xmlns:a16="http://schemas.microsoft.com/office/drawing/2014/main" id="{0379F816-270D-4D0F-8838-510AA3E97C28}"/>
              </a:ext>
            </a:extLst>
          </p:cNvPr>
          <p:cNvCxnSpPr>
            <a:cxnSpLocks/>
          </p:cNvCxnSpPr>
          <p:nvPr userDrawn="1"/>
        </p:nvCxnSpPr>
        <p:spPr>
          <a:xfrm>
            <a:off x="8840702" y="1590159"/>
            <a:ext cx="0" cy="4525997"/>
          </a:xfrm>
          <a:prstGeom prst="line">
            <a:avLst/>
          </a:prstGeom>
          <a:ln w="19050" cap="flat">
            <a:solidFill>
              <a:srgbClr val="8B8580">
                <a:alpha val="24706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4">
            <a:extLst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609724"/>
            <a:ext cx="2478024" cy="4525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4AFE1-2029-67B8-B3E7-39BEA43C49C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159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">
            <a:extLst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6763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Column Divider" descr="Column Divider">
            <a:extLst>
              <a:ext uri="{FF2B5EF4-FFF2-40B4-BE49-F238E27FC236}">
                <a16:creationId xmlns:a16="http://schemas.microsoft.com/office/drawing/2014/main" id="{C3377C95-3E35-473F-8E81-1FDFBEBC758A}"/>
              </a:ext>
            </a:extLst>
          </p:cNvPr>
          <p:cNvCxnSpPr>
            <a:cxnSpLocks/>
          </p:cNvCxnSpPr>
          <p:nvPr userDrawn="1"/>
        </p:nvCxnSpPr>
        <p:spPr>
          <a:xfrm>
            <a:off x="3373924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2">
            <a:extLst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03061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Column Divider 2" descr="Column Divider">
            <a:extLst>
              <a:ext uri="{FF2B5EF4-FFF2-40B4-BE49-F238E27FC236}">
                <a16:creationId xmlns:a16="http://schemas.microsoft.com/office/drawing/2014/main" id="{A70D9BB7-9BB9-40BD-84D2-8EE238E044D3}"/>
              </a:ext>
            </a:extLst>
          </p:cNvPr>
          <p:cNvCxnSpPr>
            <a:cxnSpLocks/>
          </p:cNvCxnSpPr>
          <p:nvPr userDrawn="1"/>
        </p:nvCxnSpPr>
        <p:spPr>
          <a:xfrm>
            <a:off x="6110222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3">
            <a:extLst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9359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5" name="Column Divider 3" descr="Column Divider">
            <a:extLst>
              <a:ext uri="{FF2B5EF4-FFF2-40B4-BE49-F238E27FC236}">
                <a16:creationId xmlns:a16="http://schemas.microsoft.com/office/drawing/2014/main" id="{BE2D13B4-3BF3-4416-B638-87C59A2973BB}"/>
              </a:ext>
            </a:extLst>
          </p:cNvPr>
          <p:cNvCxnSpPr>
            <a:cxnSpLocks/>
          </p:cNvCxnSpPr>
          <p:nvPr userDrawn="1"/>
        </p:nvCxnSpPr>
        <p:spPr>
          <a:xfrm>
            <a:off x="8846520" y="1609667"/>
            <a:ext cx="0" cy="4508050"/>
          </a:xfrm>
          <a:prstGeom prst="line">
            <a:avLst/>
          </a:prstGeom>
          <a:ln w="19050" cap="flat">
            <a:solidFill>
              <a:srgbClr val="8B8580">
                <a:alpha val="25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4">
            <a:extLst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75659" y="1609725"/>
            <a:ext cx="2478024" cy="45069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E70A2C-951C-747D-3BFC-DFCE0F88CB3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6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8875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209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209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8875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0646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0646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2DC46A-B219-05CE-5740-A2F28C4193B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3270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10687050" cy="45053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1B7AAE-9D29-06CB-A1CB-82C00E4CE5EE}"/>
              </a:ext>
            </a:extLst>
          </p:cNvPr>
          <p:cNvSpPr>
            <a:spLocks noGrp="1"/>
          </p:cNvSpPr>
          <p:nvPr>
            <p:ph type="ftr" sz="quarter" idx="48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72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Outline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62000" y="1609724"/>
            <a:ext cx="5084064" cy="45053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64986" y="1609724"/>
            <a:ext cx="5084064" cy="45053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365125" indent="-365125">
              <a:buClr>
                <a:schemeClr val="accent5"/>
              </a:buClr>
              <a:buFont typeface="+mj-lt"/>
              <a:buAutoNum type="arabicPeriod"/>
              <a:defRPr lang="en-US" dirty="0"/>
            </a:lvl1pPr>
            <a:lvl2pPr marL="548640">
              <a:defRPr lang="en-US" dirty="0"/>
            </a:lvl2pPr>
            <a:lvl3pPr marL="731520">
              <a:defRPr lang="en-US" dirty="0"/>
            </a:lvl3pPr>
            <a:lvl4pPr marL="914400">
              <a:defRPr lang="en-US" dirty="0"/>
            </a:lvl4pPr>
            <a:lvl5pPr marL="109728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0B223D-997D-34B7-CDEC-C3A4E542312D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59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 Quad Info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ubtitle">
            <a:extLst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6763" y="1014984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3" name="Picture Placeholder 1">
            <a:extLst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76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Text Field 1">
            <a:extLst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35245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6350303" y="1609725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Text Field 2">
            <a:extLst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24823" y="1609725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76676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Field 3">
            <a:extLst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635245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6350303" y="4241162"/>
            <a:ext cx="1618488" cy="16184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2" name="Text Field 4">
            <a:extLst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4823" y="4241162"/>
            <a:ext cx="3203704" cy="187324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122DE-9E32-1A7B-181C-F77D3220DB5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4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CE380E-AC18-2814-75C0-DDC3802B594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56263EC-AF81-0D47-8139-4C7A321912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91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8F78A4-EE75-AE2B-D13B-C9273529592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172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>
            <a:extLst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024235"/>
            <a:ext cx="10671048" cy="3305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spcAft>
                <a:spcPts val="0"/>
              </a:spcAft>
              <a:buNone/>
              <a:defRPr sz="2000" b="0" i="0">
                <a:latin typeface="Oracle Sans Tab" panose="020B0503020204020204" pitchFamily="34" charset="0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BF86EB-C92C-2B74-D074-1B6C0C95D6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22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tr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E46438-F717-2B4C-BAC0-BFCDA780AA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76"/>
          <a:stretch/>
        </p:blipFill>
        <p:spPr>
          <a:xfrm>
            <a:off x="6044249" y="0"/>
            <a:ext cx="6147750" cy="6858000"/>
          </a:xfrm>
          <a:prstGeom prst="rect">
            <a:avLst/>
          </a:prstGeom>
        </p:spPr>
      </p:pic>
      <p:sp>
        <p:nvSpPr>
          <p:cNvPr id="4" name="Content">
            <a:extLst>
              <a:ext uri="{FF2B5EF4-FFF2-40B4-BE49-F238E27FC236}">
                <a16:creationId xmlns:a16="http://schemas.microsoft.com/office/drawing/2014/main" id="{6FFB33C6-31EA-4D15-AC3F-377D699FA84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5225" y="4649788"/>
            <a:ext cx="5072063" cy="145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3900" y="1600200"/>
            <a:ext cx="5072063" cy="2415700"/>
          </a:xfrm>
          <a:prstGeom prst="rect">
            <a:avLst/>
          </a:prstGeom>
        </p:spPr>
        <p:txBody>
          <a:bodyPr anchor="b" anchorCtr="0"/>
          <a:lstStyle>
            <a:lvl1pPr>
              <a:defRPr sz="8000" b="1">
                <a:solidFill>
                  <a:srgbClr val="AE562C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C705FDC-9D3F-A335-BD97-58F56F404CD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122CF7B-E55F-C5D8-D28A-76E3E6FDCB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9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exture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81203-42C6-B54E-A5F8-FE2DAE3C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61B2FD-76A1-FC16-93C8-83B41C0981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77A05F-6BB0-3815-B804-7A39FB4CC3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119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mote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AB1892A-1B3D-014D-B9C7-BCEDE316FD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000"/>
          <a:stretch/>
        </p:blipFill>
        <p:spPr>
          <a:xfrm>
            <a:off x="4876800" y="0"/>
            <a:ext cx="7315200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85816" y="2351724"/>
            <a:ext cx="6297167" cy="82296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2400" b="1" i="0" baseline="0">
                <a:latin typeface="Oracle Sans Tab" panose="020B0503020204020204" pitchFamily="34" charset="0"/>
                <a:ea typeface="+mn-ea"/>
                <a:cs typeface="Oracle Sans Tab" panose="020B0503020204020204" pitchFamily="34" charset="0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Add title here. Also remove/replace placeholder image as needed.</a:t>
            </a:r>
          </a:p>
        </p:txBody>
      </p:sp>
      <p:sp>
        <p:nvSpPr>
          <p:cNvPr id="21" name="Text Field">
            <a:extLst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5816" y="3662156"/>
            <a:ext cx="6297168" cy="11324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 dirty="0"/>
              <a:t>Title</a:t>
            </a:r>
          </a:p>
          <a:p>
            <a:pPr lvl="0"/>
            <a:r>
              <a:rPr lang="en-US" dirty="0"/>
              <a:t>Company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0"/>
            <a:ext cx="4876800" cy="6858000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94DB3-43DF-649D-95E9-0B3F63EB1523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9384B6F-0E92-8BC4-7EBB-52479F8705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0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Textur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1C13851-8F5A-3D4E-B2BF-9068624FC3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1828800"/>
            <a:ext cx="8049200" cy="2026447"/>
          </a:xfrm>
          <a:noFill/>
        </p:spPr>
        <p:txBody>
          <a:bodyPr vert="horz" wrap="square" lIns="0" tIns="0" rIns="0" bIns="0" rtlCol="0" anchor="b" anchorCtr="0">
            <a:noAutofit/>
          </a:bodyPr>
          <a:lstStyle>
            <a:lvl1pPr>
              <a:lnSpc>
                <a:spcPct val="100000"/>
              </a:lnSpc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61999" y="4540249"/>
            <a:ext cx="533399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2" name="Text Field 2">
            <a:extLst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1999" y="4877842"/>
            <a:ext cx="5333999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771067" y="1013988"/>
            <a:ext cx="2944208" cy="8148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319F0-6322-B944-C1EC-ECA83A62AB9C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 dirty="0" err="1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2B8274F-8304-DE02-DDAB-73EB987D6C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68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uote">
            <a:extLst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72844" y="2434528"/>
            <a:ext cx="6067096" cy="1846659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lnSpc>
                <a:spcPct val="100000"/>
              </a:lnSpc>
              <a:defRPr lang="en-US" sz="3000" b="0" dirty="0">
                <a:latin typeface="+mj-lt"/>
                <a:cs typeface="Oracle Sans Tab" panose="020B0503020204020204" pitchFamily="34" charset="0"/>
              </a:defRPr>
            </a:lvl1pPr>
          </a:lstStyle>
          <a:p>
            <a:pPr lvl="0"/>
            <a:r>
              <a:rPr lang="en-US" dirty="0"/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72844" y="4983135"/>
            <a:ext cx="6054629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 of person quoted</a:t>
            </a:r>
          </a:p>
        </p:txBody>
      </p:sp>
      <p:sp>
        <p:nvSpPr>
          <p:cNvPr id="11" name="Text Field 2">
            <a:extLst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72844" y="5320728"/>
            <a:ext cx="6054629" cy="78638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Additional information if needed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 txBox="1"/>
          <p:nvPr userDrawn="1"/>
        </p:nvSpPr>
        <p:spPr>
          <a:xfrm>
            <a:off x="1295730" y="3244334"/>
            <a:ext cx="2285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5434085" y="1206535"/>
            <a:ext cx="2944208" cy="841248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logo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0" y="0"/>
            <a:ext cx="4876800" cy="6858000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noGrp="1"/>
          </p:cNvSpPr>
          <p:nvPr>
            <p:ph type="sldNum" sz="quarter" idx="45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875697-F688-F48E-6FFA-9B7CFE3DBC85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1CCBA83-01D9-433E-B8F0-64AE2569B8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3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560075" y="0"/>
            <a:ext cx="5631925" cy="6858000"/>
          </a:xfrm>
          <a:prstGeom prst="rect">
            <a:avLst/>
          </a:prstGeom>
        </p:spPr>
        <p:txBody>
          <a:bodyPr anchor="ctr" anchorCtr="1"/>
          <a:lstStyle>
            <a:lvl1pPr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E2AD8C-995A-32EA-D806-894381B1CB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99" r="6226"/>
          <a:stretch/>
        </p:blipFill>
        <p:spPr>
          <a:xfrm>
            <a:off x="0" y="0"/>
            <a:ext cx="6556248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A2E2B2D-ED97-0FAC-A0EC-FDD64A1691F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9CFD5A-F049-B1D9-E698-DEF2890069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055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4F52034-4D0B-8F48-A20F-8F40B1A92E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448"/>
            <a:ext cx="12192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hank You">
            <a:extLst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5" y="3482230"/>
            <a:ext cx="5022325" cy="82296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3200" b="0">
                <a:latin typeface="+mj-lt"/>
                <a:cs typeface="Oracle Sans Tab" panose="020B0503020204020204" pitchFamily="34" charset="0"/>
              </a:defRPr>
            </a:lvl1pPr>
          </a:lstStyle>
          <a:p>
            <a:pPr marL="0" marR="0" lvl="0" indent="0" fontAlgn="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tabLst/>
            </a:pPr>
            <a:r>
              <a:rPr lang="en-US" dirty="0"/>
              <a:t>Thank you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62000" y="4773585"/>
            <a:ext cx="5029200" cy="26629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62000" y="5111178"/>
            <a:ext cx="5029200" cy="89518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B2207A46-8E04-40E5-67C3-5EED5EEA2CA8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52509CD-2538-C4C8-4D72-BD703B5278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8398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racle ACE Director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">
            <a:extLst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18030" y="2148840"/>
            <a:ext cx="10158984" cy="1280160"/>
          </a:xfrm>
          <a:noFill/>
        </p:spPr>
        <p:txBody>
          <a:bodyPr vert="horz" wrap="square" lIns="0" tIns="0" rIns="0" bIns="91440" rtlCol="0" anchor="b">
            <a:no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Title Page (up to two lines) </a:t>
            </a:r>
            <a:br>
              <a:rPr lang="en-US" dirty="0"/>
            </a:br>
            <a:r>
              <a:rPr lang="en-US" dirty="0"/>
              <a:t>Georgia Regular 40pt</a:t>
            </a:r>
          </a:p>
        </p:txBody>
      </p:sp>
      <p:sp>
        <p:nvSpPr>
          <p:cNvPr id="25" name="Subhead">
            <a:extLst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8030" y="3519553"/>
            <a:ext cx="10158984" cy="341247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 on one line</a:t>
            </a:r>
          </a:p>
        </p:txBody>
      </p:sp>
      <p:sp>
        <p:nvSpPr>
          <p:cNvPr id="11" name="Text Field">
            <a:extLst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8030" y="4544568"/>
            <a:ext cx="5077970" cy="26629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0" name="Text Field 2">
            <a:extLst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18030" y="4882896"/>
            <a:ext cx="5077970" cy="89518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Presenter’s Title</a:t>
            </a:r>
          </a:p>
          <a:p>
            <a:pPr lvl="0"/>
            <a:r>
              <a:rPr lang="en-US" dirty="0"/>
              <a:t>Organization, Division or Business Unit</a:t>
            </a:r>
          </a:p>
          <a:p>
            <a:pPr lvl="0"/>
            <a:r>
              <a:rPr lang="en-US" dirty="0"/>
              <a:t>Month 00, 2019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CA1911-5B7C-93CF-BD59-935842BD77B1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56ADA-66E0-BA5F-402E-44525FEC400C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260729E-55E7-D9B4-DE59-03CF2ABF71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949" y="1124712"/>
            <a:ext cx="1828800" cy="731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81D8B4-3479-9CAF-E2FB-237C9CEB2023}"/>
              </a:ext>
            </a:extLst>
          </p:cNvPr>
          <p:cNvPicPr preferRelativeResize="0"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92024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AF33B6E5-BB87-B535-C226-3D8B695852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33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5FF636-5AF7-9A48-9532-FFA3A18ADD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871" y="2337132"/>
            <a:ext cx="10158984" cy="1280160"/>
          </a:xfrm>
          <a:noFill/>
        </p:spPr>
        <p:txBody>
          <a:bodyPr vert="horz" wrap="square" lIns="0" tIns="0" rIns="0" bIns="0" rtlCol="0" anchor="b">
            <a:noAutofit/>
          </a:bodyPr>
          <a:lstStyle>
            <a:lvl1pPr>
              <a:lnSpc>
                <a:spcPct val="95000"/>
              </a:lnSpc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divider title (up to 2 lines)</a:t>
            </a:r>
          </a:p>
        </p:txBody>
      </p:sp>
      <p:sp>
        <p:nvSpPr>
          <p:cNvPr id="9" name="Subhead">
            <a:extLst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689" y="4135193"/>
            <a:ext cx="10158984" cy="68125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Subhead goes here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50BA085-B459-D34D-743D-1ADDAB9CA2A2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>
          <a:xfrm>
            <a:off x="1124712" y="6424295"/>
            <a:ext cx="1005840" cy="365125"/>
          </a:xfrm>
        </p:spPr>
        <p:txBody>
          <a:bodyPr/>
          <a:lstStyle/>
          <a:p>
            <a:r>
              <a:rPr lang="en-US"/>
              <a:t>ace.oracle.com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B733713-2347-F014-7A30-3557320E616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562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875" y="182403"/>
            <a:ext cx="10671048" cy="8229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en-US"/>
              <a:t>Title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0" y="6423660"/>
            <a:ext cx="365760" cy="36576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rgbClr val="8B8580"/>
                </a:solidFill>
              </a:defRPr>
            </a:lvl1pPr>
          </a:lstStyle>
          <a:p>
            <a:fld id="{345D60D9-5372-5F40-9443-0F9AE5BDC3C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94271A-B7E5-A69B-FB03-C61FCB5DAF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529D1E-DBFA-F4A9-F884-2319F86FE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80160" y="6424295"/>
            <a:ext cx="1005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en-US" err="1"/>
              <a:t>ace.oracle.com</a:t>
            </a:r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F28F13F-B6B4-672B-DAE7-797F2B7A4EB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287000" y="6309360"/>
            <a:ext cx="1143000" cy="457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6C0E13-4994-1595-2C9F-06D265C0417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430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endParaRPr/>
          </a:p>
        </p:txBody>
      </p:sp>
    </p:spTree>
    <p:extLst>
      <p:ext uri="{BB962C8B-B14F-4D97-AF65-F5344CB8AC3E}">
        <p14:creationId xmlns:p14="http://schemas.microsoft.com/office/powerpoint/2010/main" val="3632300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774" r:id="rId2"/>
    <p:sldLayoutId id="2147483922" r:id="rId3"/>
    <p:sldLayoutId id="2147483920" r:id="rId4"/>
    <p:sldLayoutId id="2147483931" r:id="rId5"/>
    <p:sldLayoutId id="2147483936" r:id="rId6"/>
    <p:sldLayoutId id="2147483933" r:id="rId7"/>
    <p:sldLayoutId id="2147483938" r:id="rId8"/>
    <p:sldLayoutId id="2147483761" r:id="rId9"/>
    <p:sldLayoutId id="2147483969" r:id="rId10"/>
    <p:sldLayoutId id="2147483974" r:id="rId11"/>
    <p:sldLayoutId id="2147483781" r:id="rId12"/>
    <p:sldLayoutId id="2147483756" r:id="rId13"/>
    <p:sldLayoutId id="2147483754" r:id="rId14"/>
    <p:sldLayoutId id="2147483778" r:id="rId15"/>
    <p:sldLayoutId id="2147483762" r:id="rId16"/>
    <p:sldLayoutId id="2147483766" r:id="rId17"/>
    <p:sldLayoutId id="2147483749" r:id="rId18"/>
    <p:sldLayoutId id="2147483751" r:id="rId19"/>
    <p:sldLayoutId id="2147483752" r:id="rId20"/>
    <p:sldLayoutId id="2147483987" r:id="rId21"/>
    <p:sldLayoutId id="2147483763" r:id="rId22"/>
    <p:sldLayoutId id="2147483962" r:id="rId23"/>
    <p:sldLayoutId id="2147483972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lang="en-US" sz="2400" b="1" i="0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1pPr>
      <a:lvl2pPr marL="365760" marR="0" indent="-182880" algn="l" defTabSz="914400" rtl="0" eaLnBrk="1" fontAlgn="auto" latinLnBrk="0" hangingPunct="1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kern="1200">
          <a:solidFill>
            <a:schemeClr val="tx1"/>
          </a:solidFill>
          <a:latin typeface="+mn-lt"/>
          <a:ea typeface="+mn-ea"/>
          <a:cs typeface="Oracle Sans Tab" panose="020B0503020204020204" pitchFamily="34" charset="0"/>
        </a:defRPr>
      </a:lvl2pPr>
      <a:lvl3pPr marL="547688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3pPr>
      <a:lvl4pPr marL="730250" marR="0" indent="-182563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4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4pPr>
      <a:lvl5pPr marL="914400" marR="0" indent="-182880" algn="l" defTabSz="914400" rtl="0" eaLnBrk="1" fontAlgn="auto" latinLnBrk="0" hangingPunct="1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tabLst/>
        <a:defRPr sz="1200" kern="1200">
          <a:solidFill>
            <a:schemeClr val="tx1"/>
          </a:solidFill>
          <a:latin typeface="Oracle Sans Tab Light" panose="020B0403020204020204" pitchFamily="34" charset="0"/>
          <a:ea typeface="+mn-ea"/>
          <a:cs typeface="Oracle Sans Tab Light" panose="020B0403020204020204" pitchFamily="34" charset="0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400"/>
        </a:spcBef>
        <a:spcAft>
          <a:spcPts val="0"/>
        </a:spcAft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Oracle Sans Light" panose="020B0403020204020204" pitchFamily="34" charset="0"/>
          <a:ea typeface="+mn-ea"/>
          <a:cs typeface="Oracle Sans Light" panose="020B0403020204020204" pitchFamily="34" charset="0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tziss.wordpress.com/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5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2.png"/><Relationship Id="rId9" Type="http://schemas.microsoft.com/office/2007/relationships/diagramDrawing" Target="../diagrams/drawing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C333F-A6A1-9C20-E0CD-C0FFEB271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Gitlab – How we built handsom pipelines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81275-321E-6F69-C4A6-215D43FA11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44880" y="4022802"/>
            <a:ext cx="5077970" cy="266291"/>
          </a:xfrm>
        </p:spPr>
        <p:txBody>
          <a:bodyPr/>
          <a:lstStyle/>
          <a:p>
            <a:r>
              <a:rPr lang="pl-PL" sz="3600" dirty="0"/>
              <a:t>Tomasz Ziss</a:t>
            </a:r>
            <a:endParaRPr lang="en-US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A86D23-065F-1928-629E-DE2B275BD20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18030" y="4668386"/>
            <a:ext cx="5077970" cy="895181"/>
          </a:xfrm>
        </p:spPr>
        <p:txBody>
          <a:bodyPr/>
          <a:lstStyle/>
          <a:p>
            <a:r>
              <a:rPr lang="en-US" dirty="0"/>
              <a:t>Cloud Advisory Innovation Principal Manager at Accenture Enkitec Group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1D0E5-BF12-012C-83AA-164F712C8B61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22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8C0C055D-99BF-E9BE-54C9-A7F7BC4F98BA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444" r="14444"/>
          <a:stretch>
            <a:fillRect/>
          </a:stretch>
        </p:blipFill>
        <p:spPr>
          <a:xfrm>
            <a:off x="0" y="-68580"/>
            <a:ext cx="4876800" cy="6858000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F10E7B4-BCE5-6CE2-CE6E-EF1AB6851A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9945" y="1903106"/>
            <a:ext cx="2167025" cy="3051788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CE406-61AC-1D1A-9C90-2E8B54EDBFD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523436-90C6-9D1F-A0A2-418F3EC120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4140565"/>
            <a:ext cx="2743200" cy="658368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B59D21F-49A2-7B5C-84F8-2F2B9FD484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600200"/>
            <a:ext cx="3657600" cy="3657600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DDD10775-362D-28BA-850F-6393D682799B}"/>
              </a:ext>
            </a:extLst>
          </p:cNvPr>
          <p:cNvSpPr txBox="1"/>
          <p:nvPr/>
        </p:nvSpPr>
        <p:spPr>
          <a:xfrm>
            <a:off x="4805234" y="238822"/>
            <a:ext cx="25815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b="1" dirty="0"/>
              <a:t>About Me</a:t>
            </a:r>
            <a:endParaRPr lang="en-US" sz="3600" dirty="0"/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AC7B52A8-8E3B-1783-5578-73F5427EB08E}"/>
              </a:ext>
            </a:extLst>
          </p:cNvPr>
          <p:cNvSpPr txBox="1"/>
          <p:nvPr/>
        </p:nvSpPr>
        <p:spPr>
          <a:xfrm>
            <a:off x="5169944" y="956089"/>
            <a:ext cx="641245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~15 years in IT </a:t>
            </a:r>
            <a:r>
              <a:rPr lang="en-US" sz="2000" dirty="0"/>
              <a:t>industry</a:t>
            </a: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From Poland, Warsaw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Cloud Advisory Innovation Principal - Accenture Enkitec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Oracle Ace Pro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2000" dirty="0"/>
              <a:t>Oracle Certified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Multi-cloud</a:t>
            </a:r>
            <a:r>
              <a:rPr lang="pl-PL" sz="2000" dirty="0"/>
              <a:t> certifications – OCI, AWS, Azure, GCP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Postgraduated</a:t>
            </a:r>
            <a:r>
              <a:rPr lang="pl-PL" sz="2000" dirty="0"/>
              <a:t> in Data Engineering and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Blogger</a:t>
            </a:r>
            <a:r>
              <a:rPr lang="pl-PL" sz="2000" dirty="0"/>
              <a:t> </a:t>
            </a:r>
            <a:r>
              <a:rPr lang="pl-PL" sz="2000" dirty="0">
                <a:hlinkClick r:id="rId6"/>
              </a:rPr>
              <a:t>https://tziss.wordpress.com</a:t>
            </a:r>
            <a:endParaRPr lang="en-US" sz="2000" dirty="0"/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64906ACF-607C-F9BC-DE8B-D73388AF9C80}"/>
              </a:ext>
            </a:extLst>
          </p:cNvPr>
          <p:cNvSpPr txBox="1"/>
          <p:nvPr/>
        </p:nvSpPr>
        <p:spPr>
          <a:xfrm>
            <a:off x="1333500" y="5063415"/>
            <a:ext cx="2565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600" dirty="0"/>
              <a:t>Tomasz Ziss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36073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9AFCB4-8F35-3CD7-A46B-6B75CD3B0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Learn more &amp; connect with the Oracle ACE Program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A2366-0610-170D-94EE-A68E026A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8875" y="6492240"/>
            <a:ext cx="365760" cy="365760"/>
          </a:xfrm>
        </p:spPr>
        <p:txBody>
          <a:bodyPr/>
          <a:lstStyle/>
          <a:p>
            <a:fld id="{345D60D9-5372-5F40-9443-0F9AE5BDC3C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955636-8187-F778-E89F-1D8D544BB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907" y="877149"/>
            <a:ext cx="2699665" cy="107986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324A0D7-725D-83C0-E3E2-CFDF8263621E}"/>
              </a:ext>
            </a:extLst>
          </p:cNvPr>
          <p:cNvSpPr txBox="1">
            <a:spLocks/>
          </p:cNvSpPr>
          <p:nvPr/>
        </p:nvSpPr>
        <p:spPr>
          <a:xfrm>
            <a:off x="4450844" y="1828800"/>
            <a:ext cx="2999350" cy="365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Details</a:t>
            </a:r>
          </a:p>
          <a:p>
            <a:endParaRPr lang="en-US" dirty="0"/>
          </a:p>
          <a:p>
            <a:r>
              <a:rPr lang="en-US" dirty="0"/>
              <a:t>Nomination</a:t>
            </a:r>
          </a:p>
          <a:p>
            <a:endParaRPr lang="en-US" dirty="0"/>
          </a:p>
          <a:p>
            <a:r>
              <a:rPr lang="en-US" dirty="0"/>
              <a:t>ACEs in Action Blog</a:t>
            </a:r>
          </a:p>
          <a:p>
            <a:endParaRPr lang="en-US" dirty="0"/>
          </a:p>
          <a:p>
            <a:r>
              <a:rPr lang="en-US" dirty="0"/>
              <a:t>X</a:t>
            </a:r>
          </a:p>
          <a:p>
            <a:endParaRPr lang="en-US" dirty="0"/>
          </a:p>
          <a:p>
            <a:r>
              <a:rPr lang="en-US" dirty="0"/>
              <a:t>Facebook</a:t>
            </a:r>
          </a:p>
          <a:p>
            <a:endParaRPr lang="en-US" dirty="0"/>
          </a:p>
          <a:p>
            <a:r>
              <a:rPr lang="en-US" dirty="0" err="1"/>
              <a:t>Linkedin</a:t>
            </a:r>
            <a:endParaRPr lang="en-US" dirty="0"/>
          </a:p>
          <a:p>
            <a:endParaRPr lang="en-US" dirty="0"/>
          </a:p>
          <a:p>
            <a:r>
              <a:rPr lang="en-US" dirty="0"/>
              <a:t>Email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F1CD0E-5C57-0E73-9D7F-FB35FF5F93DA}"/>
              </a:ext>
            </a:extLst>
          </p:cNvPr>
          <p:cNvSpPr txBox="1"/>
          <p:nvPr/>
        </p:nvSpPr>
        <p:spPr>
          <a:xfrm>
            <a:off x="8110807" y="1828800"/>
            <a:ext cx="3329116" cy="3657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err="1">
                <a:solidFill>
                  <a:srgbClr val="00688C"/>
                </a:solidFill>
              </a:rPr>
              <a:t>ace.oracle.com</a:t>
            </a:r>
            <a:endParaRPr lang="en-US" u="sng" dirty="0">
              <a:solidFill>
                <a:srgbClr val="00688C"/>
              </a:solidFill>
            </a:endParaRPr>
          </a:p>
          <a:p>
            <a:endParaRPr lang="en-US" dirty="0"/>
          </a:p>
          <a:p>
            <a:r>
              <a:rPr lang="en-US" u="sng" dirty="0" err="1">
                <a:solidFill>
                  <a:srgbClr val="00688C"/>
                </a:solidFill>
              </a:rPr>
              <a:t>ace.oracle.com</a:t>
            </a:r>
            <a:r>
              <a:rPr lang="en-US" u="sng" dirty="0">
                <a:solidFill>
                  <a:srgbClr val="00688C"/>
                </a:solidFill>
              </a:rPr>
              <a:t>/nominate</a:t>
            </a:r>
          </a:p>
          <a:p>
            <a:endParaRPr lang="en-US" dirty="0"/>
          </a:p>
          <a:p>
            <a:r>
              <a:rPr lang="en-US" u="sng" dirty="0" err="1">
                <a:solidFill>
                  <a:srgbClr val="00688C"/>
                </a:solidFill>
              </a:rPr>
              <a:t>blogs.oracle.com</a:t>
            </a:r>
            <a:r>
              <a:rPr lang="en-US" u="sng" dirty="0">
                <a:solidFill>
                  <a:srgbClr val="00688C"/>
                </a:solidFill>
              </a:rPr>
              <a:t>/ace</a:t>
            </a:r>
          </a:p>
          <a:p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oracleace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Oracle ACE Program</a:t>
            </a:r>
          </a:p>
          <a:p>
            <a:endParaRPr lang="en-US" dirty="0"/>
          </a:p>
          <a:p>
            <a:r>
              <a:rPr lang="en-US" dirty="0" err="1"/>
              <a:t>bit.ly</a:t>
            </a:r>
            <a:r>
              <a:rPr lang="en-US" dirty="0"/>
              <a:t>/</a:t>
            </a:r>
            <a:r>
              <a:rPr lang="en-US" dirty="0" err="1"/>
              <a:t>OracleACEs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ACEprogram_ww@oracle.com</a:t>
            </a:r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C920058-C90E-E416-2949-6493F9CB0B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75" y="1828800"/>
            <a:ext cx="3300984" cy="330098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61429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DA42-AEAD-414E-A412-8B8F0CAB3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l-PL" sz="3600" dirty="0"/>
              <a:t>Agenda</a:t>
            </a:r>
            <a:endParaRPr lang="en-US" sz="36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1DE3FA4-6BE1-8C3A-88E7-2B713317EBBB}"/>
              </a:ext>
            </a:extLst>
          </p:cNvPr>
          <p:cNvSpPr txBox="1">
            <a:spLocks/>
          </p:cNvSpPr>
          <p:nvPr/>
        </p:nvSpPr>
        <p:spPr>
          <a:xfrm>
            <a:off x="944880" y="300399"/>
            <a:ext cx="9028089" cy="443033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400" b="1" i="0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marL="571500" indent="-571500">
              <a:buFont typeface="Wingdings" panose="05000000000000000000" pitchFamily="2" charset="2"/>
              <a:buChar char="q"/>
            </a:pPr>
            <a:r>
              <a:rPr lang="pl-PL" sz="2800" b="0" dirty="0"/>
              <a:t>Gitlab Ci/CD overview</a:t>
            </a:r>
          </a:p>
          <a:p>
            <a:pPr marL="571500" indent="-571500" algn="ctr">
              <a:buFont typeface="Wingdings" panose="05000000000000000000" pitchFamily="2" charset="2"/>
              <a:buChar char="q"/>
            </a:pPr>
            <a:endParaRPr lang="pl-PL" sz="2800" b="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l-PL" sz="2800" b="0" dirty="0"/>
              <a:t>Our automation environment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pl-PL" sz="2800" b="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l-PL" sz="2800" b="0" dirty="0" err="1"/>
              <a:t>Code</a:t>
            </a:r>
            <a:r>
              <a:rPr lang="pl-PL" sz="2800" b="0" dirty="0"/>
              <a:t> guided tour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pl-PL" sz="2800" b="0" dirty="0"/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pl-PL" sz="2800" b="0" dirty="0"/>
              <a:t>Summary – Lessons learned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5D3084-2888-6FCF-5114-A14CCBB1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76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0E5FE296-C77D-622F-75DF-60A0201FE43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2D86787-34DF-B45E-7E70-A6B371A5C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281" y="1005321"/>
            <a:ext cx="4819710" cy="4847357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9982AFEC-9E09-A06D-9B91-A94DFF90A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" y="1005321"/>
            <a:ext cx="5188854" cy="4847357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35703A9B-64A8-5E3A-9FD1-107BAB51E42C}"/>
              </a:ext>
            </a:extLst>
          </p:cNvPr>
          <p:cNvSpPr txBox="1"/>
          <p:nvPr/>
        </p:nvSpPr>
        <p:spPr>
          <a:xfrm>
            <a:off x="2267638" y="141316"/>
            <a:ext cx="76567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Have I been </a:t>
            </a:r>
            <a:r>
              <a:rPr lang="pl-PL" sz="3200" b="1" dirty="0"/>
              <a:t>„</a:t>
            </a:r>
            <a:r>
              <a:rPr lang="en-US" sz="3200" b="1" dirty="0"/>
              <a:t>reinvented</a:t>
            </a:r>
            <a:r>
              <a:rPr lang="pl-PL" sz="3200" b="1" dirty="0"/>
              <a:t>”</a:t>
            </a:r>
            <a:r>
              <a:rPr lang="en-US" sz="3200" b="1" dirty="0"/>
              <a:t> enough?</a:t>
            </a:r>
          </a:p>
        </p:txBody>
      </p:sp>
    </p:spTree>
    <p:extLst>
      <p:ext uri="{BB962C8B-B14F-4D97-AF65-F5344CB8AC3E}">
        <p14:creationId xmlns:p14="http://schemas.microsoft.com/office/powerpoint/2010/main" val="3361627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020E-3C30-352A-88B6-62A8F08E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95423A3-F5F1-CB4C-1B1D-09A8D8A4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8EA64F43-CCB7-52E2-238A-F9B447AB22DB}"/>
              </a:ext>
            </a:extLst>
          </p:cNvPr>
          <p:cNvSpPr txBox="1"/>
          <p:nvPr/>
        </p:nvSpPr>
        <p:spPr>
          <a:xfrm>
            <a:off x="249381" y="1935127"/>
            <a:ext cx="116932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https://github.com/zizu1985/ITOUG2026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FFA44F0-AB96-B280-EA55-4D1724457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4373" y="3649505"/>
            <a:ext cx="2723253" cy="277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14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D91D0-F273-4A1A-AB85-C91E445BE5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4800" y="1224368"/>
            <a:ext cx="2670875" cy="4910882"/>
          </a:xfrm>
        </p:spPr>
        <p:txBody>
          <a:bodyPr>
            <a:normAutofit/>
          </a:bodyPr>
          <a:lstStyle/>
          <a:p>
            <a:pPr algn="ctr"/>
            <a:r>
              <a:rPr lang="pl-PL" sz="2800" b="1" dirty="0"/>
              <a:t>General</a:t>
            </a:r>
          </a:p>
          <a:p>
            <a:endParaRPr lang="en-US" dirty="0"/>
          </a:p>
          <a:p>
            <a:pPr marL="182880" lvl="1" indent="0">
              <a:buNone/>
            </a:pPr>
            <a:endParaRPr lang="pl-PL" dirty="0"/>
          </a:p>
          <a:p>
            <a:pPr lvl="1"/>
            <a:r>
              <a:rPr lang="pl-PL" dirty="0"/>
              <a:t>Complete DevOps platform</a:t>
            </a:r>
          </a:p>
          <a:p>
            <a:pPr lvl="1"/>
            <a:endParaRPr lang="pl-PL" dirty="0"/>
          </a:p>
          <a:p>
            <a:pPr lvl="1"/>
            <a:r>
              <a:rPr lang="pl-PL" dirty="0"/>
              <a:t>Basic structure is already knitted differently than classic DevOps Tools</a:t>
            </a:r>
          </a:p>
          <a:p>
            <a:pPr lvl="1"/>
            <a:endParaRPr lang="pl-PL" dirty="0"/>
          </a:p>
          <a:p>
            <a:pPr lvl="1"/>
            <a:r>
              <a:rPr lang="en-US" dirty="0"/>
              <a:t>DevOps principle of visibility of work and 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A1AC7-2848-45A1-A452-24909F6ADB6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425125" y="1224367"/>
            <a:ext cx="2670875" cy="4910882"/>
          </a:xfrm>
        </p:spPr>
        <p:txBody>
          <a:bodyPr>
            <a:normAutofit fontScale="92500"/>
          </a:bodyPr>
          <a:lstStyle/>
          <a:p>
            <a:pPr algn="ctr"/>
            <a:r>
              <a:rPr lang="pl-PL" sz="2800" b="1" dirty="0"/>
              <a:t>Architecture &amp; Maintenance</a:t>
            </a:r>
            <a:endParaRPr lang="en-US" sz="2800" b="1" dirty="0"/>
          </a:p>
          <a:p>
            <a:pPr lvl="1"/>
            <a:endParaRPr lang="pl-PL" dirty="0"/>
          </a:p>
          <a:p>
            <a:pPr lvl="1"/>
            <a:r>
              <a:rPr lang="pl-PL" dirty="0"/>
              <a:t>Gitlab server + Gitlab runners</a:t>
            </a:r>
            <a:endParaRPr lang="en-US" dirty="0"/>
          </a:p>
          <a:p>
            <a:pPr lvl="1"/>
            <a:endParaRPr lang="pl-PL" dirty="0"/>
          </a:p>
          <a:p>
            <a:pPr lvl="1"/>
            <a:r>
              <a:rPr lang="pl-PL" dirty="0"/>
              <a:t>Self-Managed Gitlab vs Gitlab as a Service</a:t>
            </a:r>
          </a:p>
          <a:p>
            <a:pPr lvl="1"/>
            <a:endParaRPr lang="pl-PL" dirty="0"/>
          </a:p>
          <a:p>
            <a:pPr lvl="1"/>
            <a:r>
              <a:rPr lang="pl-PL" dirty="0">
                <a:solidFill>
                  <a:srgbClr val="000000"/>
                </a:solidFill>
              </a:rPr>
              <a:t>O</a:t>
            </a:r>
            <a:r>
              <a:rPr lang="en-US" dirty="0">
                <a:solidFill>
                  <a:srgbClr val="000000"/>
                </a:solidFill>
              </a:rPr>
              <a:t>nly ready-made integrations</a:t>
            </a:r>
            <a:endParaRPr lang="pl-PL" dirty="0">
              <a:solidFill>
                <a:srgbClr val="000000"/>
              </a:solidFill>
            </a:endParaRPr>
          </a:p>
          <a:p>
            <a:pPr lvl="1"/>
            <a:endParaRPr lang="pl-PL" dirty="0">
              <a:solidFill>
                <a:srgbClr val="000000"/>
              </a:solidFill>
            </a:endParaRPr>
          </a:p>
          <a:p>
            <a:pPr lvl="1"/>
            <a:r>
              <a:rPr lang="pl-PL" dirty="0">
                <a:solidFill>
                  <a:srgbClr val="000000"/>
                </a:solidFill>
              </a:rPr>
              <a:t>Security Vulnerabilities via patching without downtime on pipelines </a:t>
            </a:r>
            <a:endParaRPr lang="en-US" dirty="0"/>
          </a:p>
          <a:p>
            <a:pPr lvl="1"/>
            <a:endParaRPr lang="pl-PL" dirty="0"/>
          </a:p>
          <a:p>
            <a:pPr lvl="1"/>
            <a:endParaRPr lang="pl-PL" dirty="0"/>
          </a:p>
          <a:p>
            <a:pPr lvl="1"/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96C37F-88F8-4712-A4E3-0C2DB958C87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35127" y="1224368"/>
            <a:ext cx="2478024" cy="4910882"/>
          </a:xfrm>
        </p:spPr>
        <p:txBody>
          <a:bodyPr/>
          <a:lstStyle/>
          <a:p>
            <a:pPr algn="ctr"/>
            <a:r>
              <a:rPr lang="pl-PL" sz="2600" b="1" dirty="0"/>
              <a:t>Expandability</a:t>
            </a:r>
          </a:p>
          <a:p>
            <a:endParaRPr lang="en-US" dirty="0"/>
          </a:p>
          <a:p>
            <a:pPr lvl="1"/>
            <a:endParaRPr lang="pl-PL" dirty="0"/>
          </a:p>
          <a:p>
            <a:pPr lvl="1"/>
            <a:r>
              <a:rPr lang="pl-PL" dirty="0"/>
              <a:t>JIRA integration</a:t>
            </a:r>
          </a:p>
          <a:p>
            <a:pPr lvl="1"/>
            <a:endParaRPr lang="pl-PL" dirty="0"/>
          </a:p>
          <a:p>
            <a:pPr lvl="1"/>
            <a:r>
              <a:rPr lang="pl-PL" dirty="0"/>
              <a:t>Security scanner</a:t>
            </a:r>
          </a:p>
          <a:p>
            <a:pPr marL="182880" lvl="1" indent="0">
              <a:buNone/>
            </a:pPr>
            <a:endParaRPr lang="pl-PL" dirty="0"/>
          </a:p>
          <a:p>
            <a:pPr lvl="1"/>
            <a:r>
              <a:rPr lang="pl-PL" dirty="0"/>
              <a:t>Not everything is configurable and extensible like in Jenkins. Good </a:t>
            </a:r>
            <a:r>
              <a:rPr lang="pl-PL" dirty="0" err="1"/>
              <a:t>portability</a:t>
            </a:r>
            <a:r>
              <a:rPr lang="pl-PL" dirty="0"/>
              <a:t> , as it is similar everywhere</a:t>
            </a:r>
          </a:p>
          <a:p>
            <a:pPr lvl="1"/>
            <a:endParaRPr lang="pl-P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7DD28-98A8-409A-9BB3-8F92D413B6C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968254" y="1224368"/>
            <a:ext cx="2478024" cy="3067216"/>
          </a:xfrm>
        </p:spPr>
        <p:txBody>
          <a:bodyPr>
            <a:normAutofit lnSpcReduction="10000"/>
          </a:bodyPr>
          <a:lstStyle/>
          <a:p>
            <a:pPr algn="ctr"/>
            <a:r>
              <a:rPr lang="pl-PL" sz="2600" b="1" dirty="0"/>
              <a:t>Pipelines</a:t>
            </a:r>
          </a:p>
          <a:p>
            <a:endParaRPr lang="pl-PL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.gitlab-ci.yml file for constructing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Use container to run the jobs in pipelines for scalability</a:t>
            </a:r>
          </a:p>
          <a:p>
            <a:pPr algn="ctr"/>
            <a:endParaRPr lang="en-US" sz="2600" b="1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DB42A-F04A-42B8-800E-1F7DB3A0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230" y="68580"/>
            <a:ext cx="10671048" cy="822960"/>
          </a:xfrm>
        </p:spPr>
        <p:txBody>
          <a:bodyPr/>
          <a:lstStyle/>
          <a:p>
            <a:pPr algn="ctr"/>
            <a:r>
              <a:rPr lang="pl-PL" sz="3600" dirty="0"/>
              <a:t>Gitlab Ci/CD</a:t>
            </a:r>
            <a:endParaRPr lang="en-US" sz="36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EFFF2F-31D0-2B2A-82F1-216C856FBDC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3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9F51BB9F-47F1-9D93-4893-D99BA071D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777ECB-CEEC-3B9E-2BB6-3179C5848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82563"/>
            <a:ext cx="10671175" cy="822325"/>
          </a:xfrm>
        </p:spPr>
        <p:txBody>
          <a:bodyPr/>
          <a:lstStyle/>
          <a:p>
            <a:pPr algn="ctr"/>
            <a:r>
              <a:rPr lang="pl-PL" sz="3600" dirty="0"/>
              <a:t>Our Technology Stack – Oracle automation</a:t>
            </a:r>
            <a:endParaRPr lang="en-US" sz="3600" dirty="0"/>
          </a:p>
        </p:txBody>
      </p:sp>
      <p:pic>
        <p:nvPicPr>
          <p:cNvPr id="6" name="Obraz 5" descr="Obraz zawierający Czcionka, logo, Grafika, tekst&#10;&#10;Zawartość wygenerowana przez AI może być niepoprawna.">
            <a:extLst>
              <a:ext uri="{FF2B5EF4-FFF2-40B4-BE49-F238E27FC236}">
                <a16:creationId xmlns:a16="http://schemas.microsoft.com/office/drawing/2014/main" id="{908B670D-F122-FBE1-3EC4-A561F3B9C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396" y="1492035"/>
            <a:ext cx="2684837" cy="964613"/>
          </a:xfrm>
          <a:prstGeom prst="rect">
            <a:avLst/>
          </a:prstGeom>
        </p:spPr>
      </p:pic>
      <p:pic>
        <p:nvPicPr>
          <p:cNvPr id="8" name="Obraz 7" descr="Obraz zawierający logo, Czcionka, Grafika, symbol&#10;&#10;Zawartość wygenerowana przez AI może być niepoprawna.">
            <a:extLst>
              <a:ext uri="{FF2B5EF4-FFF2-40B4-BE49-F238E27FC236}">
                <a16:creationId xmlns:a16="http://schemas.microsoft.com/office/drawing/2014/main" id="{62832D2F-3064-9720-0BE1-3E11BBE81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346" y="4123198"/>
            <a:ext cx="3829584" cy="1086002"/>
          </a:xfrm>
          <a:prstGeom prst="rect">
            <a:avLst/>
          </a:prstGeom>
        </p:spPr>
      </p:pic>
      <p:pic>
        <p:nvPicPr>
          <p:cNvPr id="12" name="Obraz 11" descr="Obraz zawierający Czcionka, tekst, logo, symbol&#10;&#10;Zawartość wygenerowana przez AI może być niepoprawna.">
            <a:extLst>
              <a:ext uri="{FF2B5EF4-FFF2-40B4-BE49-F238E27FC236}">
                <a16:creationId xmlns:a16="http://schemas.microsoft.com/office/drawing/2014/main" id="{813B8C1B-8D25-6CF9-0C4D-D3EBA3AD70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245" y="1516373"/>
            <a:ext cx="3846021" cy="815822"/>
          </a:xfrm>
          <a:prstGeom prst="rect">
            <a:avLst/>
          </a:prstGeom>
        </p:spPr>
      </p:pic>
      <p:pic>
        <p:nvPicPr>
          <p:cNvPr id="14" name="Obraz 13" descr="Obraz zawierający Czcionka, symbol, logo, Grafika&#10;&#10;Zawartość wygenerowana przez AI może być niepoprawna.">
            <a:extLst>
              <a:ext uri="{FF2B5EF4-FFF2-40B4-BE49-F238E27FC236}">
                <a16:creationId xmlns:a16="http://schemas.microsoft.com/office/drawing/2014/main" id="{1ECB3437-3C07-2862-AB7F-EF98F0FA06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17" y="4160329"/>
            <a:ext cx="1619476" cy="1486107"/>
          </a:xfrm>
          <a:prstGeom prst="rect">
            <a:avLst/>
          </a:prstGeom>
        </p:spPr>
      </p:pic>
      <p:pic>
        <p:nvPicPr>
          <p:cNvPr id="16" name="Obraz 15" descr="Obraz zawierający Czcionka, Grafika, logo, biały&#10;&#10;Zawartość wygenerowana przez AI może być niepoprawna.">
            <a:extLst>
              <a:ext uri="{FF2B5EF4-FFF2-40B4-BE49-F238E27FC236}">
                <a16:creationId xmlns:a16="http://schemas.microsoft.com/office/drawing/2014/main" id="{C2219686-0F3E-2ADB-0563-1F611AA1DD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3650" y="4161249"/>
            <a:ext cx="3141537" cy="1186431"/>
          </a:xfrm>
          <a:prstGeom prst="rect">
            <a:avLst/>
          </a:prstGeom>
        </p:spPr>
      </p:pic>
      <p:pic>
        <p:nvPicPr>
          <p:cNvPr id="18" name="Obraz 17" descr="Obraz zawierający Czcionka, tekst, zieleń, Grafika&#10;&#10;Zawartość wygenerowana przez AI może być niepoprawna.">
            <a:extLst>
              <a:ext uri="{FF2B5EF4-FFF2-40B4-BE49-F238E27FC236}">
                <a16:creationId xmlns:a16="http://schemas.microsoft.com/office/drawing/2014/main" id="{D68B83B1-C776-B096-820F-FCB6E791EA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550" y="1211564"/>
            <a:ext cx="1448002" cy="1362265"/>
          </a:xfrm>
          <a:prstGeom prst="rect">
            <a:avLst/>
          </a:prstGeom>
        </p:spPr>
      </p:pic>
      <p:pic>
        <p:nvPicPr>
          <p:cNvPr id="20" name="Obraz 19" descr="Obraz zawierający Czcionka, logo, symbol, Grafika&#10;&#10;Zawartość wygenerowana przez AI może być niepoprawna.">
            <a:extLst>
              <a:ext uri="{FF2B5EF4-FFF2-40B4-BE49-F238E27FC236}">
                <a16:creationId xmlns:a16="http://schemas.microsoft.com/office/drawing/2014/main" id="{D576E04B-2CDD-26E5-0AF8-CA79F6C6A8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07682" y="5120508"/>
            <a:ext cx="1355331" cy="754022"/>
          </a:xfrm>
          <a:prstGeom prst="rect">
            <a:avLst/>
          </a:prstGeom>
        </p:spPr>
      </p:pic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8958D70A-C547-64D5-5DB2-A6FB012E3629}"/>
              </a:ext>
            </a:extLst>
          </p:cNvPr>
          <p:cNvCxnSpPr>
            <a:cxnSpLocks/>
          </p:cNvCxnSpPr>
          <p:nvPr/>
        </p:nvCxnSpPr>
        <p:spPr>
          <a:xfrm flipH="1">
            <a:off x="6813486" y="2332195"/>
            <a:ext cx="1014862" cy="1679217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DD5E3B6A-70D6-C4EE-4C97-474D8E955797}"/>
              </a:ext>
            </a:extLst>
          </p:cNvPr>
          <p:cNvSpPr txBox="1"/>
          <p:nvPr/>
        </p:nvSpPr>
        <p:spPr>
          <a:xfrm>
            <a:off x="7397492" y="3049364"/>
            <a:ext cx="861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Secrets</a:t>
            </a:r>
            <a:endParaRPr lang="en-US" dirty="0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CB105DE6-4017-0E7E-08F4-3202A75568EB}"/>
              </a:ext>
            </a:extLst>
          </p:cNvPr>
          <p:cNvCxnSpPr>
            <a:cxnSpLocks/>
          </p:cNvCxnSpPr>
          <p:nvPr/>
        </p:nvCxnSpPr>
        <p:spPr>
          <a:xfrm flipH="1" flipV="1">
            <a:off x="7232825" y="4754464"/>
            <a:ext cx="1157775" cy="1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F355B60E-89B4-06D8-1E80-F5D96946D203}"/>
              </a:ext>
            </a:extLst>
          </p:cNvPr>
          <p:cNvSpPr txBox="1"/>
          <p:nvPr/>
        </p:nvSpPr>
        <p:spPr>
          <a:xfrm>
            <a:off x="6584513" y="5011629"/>
            <a:ext cx="24876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Collect event,</a:t>
            </a:r>
          </a:p>
          <a:p>
            <a:pPr algn="ctr"/>
            <a:r>
              <a:rPr lang="pl-PL" dirty="0"/>
              <a:t>artificats for analytics</a:t>
            </a:r>
          </a:p>
        </p:txBody>
      </p: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EF38E764-CD30-0051-9306-DA5691C8A625}"/>
              </a:ext>
            </a:extLst>
          </p:cNvPr>
          <p:cNvCxnSpPr>
            <a:cxnSpLocks/>
          </p:cNvCxnSpPr>
          <p:nvPr/>
        </p:nvCxnSpPr>
        <p:spPr>
          <a:xfrm>
            <a:off x="5697617" y="2225723"/>
            <a:ext cx="0" cy="1667529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pole tekstowe 35">
            <a:extLst>
              <a:ext uri="{FF2B5EF4-FFF2-40B4-BE49-F238E27FC236}">
                <a16:creationId xmlns:a16="http://schemas.microsoft.com/office/drawing/2014/main" id="{715E0E27-4DDF-6C8A-E911-E2E20B387971}"/>
              </a:ext>
            </a:extLst>
          </p:cNvPr>
          <p:cNvSpPr txBox="1"/>
          <p:nvPr/>
        </p:nvSpPr>
        <p:spPr>
          <a:xfrm>
            <a:off x="3737657" y="2928057"/>
            <a:ext cx="1959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Software for builds</a:t>
            </a:r>
            <a:endParaRPr lang="en-US" dirty="0"/>
          </a:p>
        </p:txBody>
      </p:sp>
      <p:cxnSp>
        <p:nvCxnSpPr>
          <p:cNvPr id="37" name="Łącznik prosty ze strzałką 36">
            <a:extLst>
              <a:ext uri="{FF2B5EF4-FFF2-40B4-BE49-F238E27FC236}">
                <a16:creationId xmlns:a16="http://schemas.microsoft.com/office/drawing/2014/main" id="{3EB0994A-5E61-DB7A-BA4B-81D66C61A425}"/>
              </a:ext>
            </a:extLst>
          </p:cNvPr>
          <p:cNvCxnSpPr>
            <a:cxnSpLocks/>
          </p:cNvCxnSpPr>
          <p:nvPr/>
        </p:nvCxnSpPr>
        <p:spPr>
          <a:xfrm flipH="1" flipV="1">
            <a:off x="2130552" y="2685615"/>
            <a:ext cx="1211794" cy="1598557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pole tekstowe 49">
            <a:extLst>
              <a:ext uri="{FF2B5EF4-FFF2-40B4-BE49-F238E27FC236}">
                <a16:creationId xmlns:a16="http://schemas.microsoft.com/office/drawing/2014/main" id="{7E3753DC-C2A4-0331-63F0-076EE2F7B04F}"/>
              </a:ext>
            </a:extLst>
          </p:cNvPr>
          <p:cNvSpPr txBox="1"/>
          <p:nvPr/>
        </p:nvSpPr>
        <p:spPr>
          <a:xfrm>
            <a:off x="638068" y="3234030"/>
            <a:ext cx="1869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Build and manage</a:t>
            </a:r>
            <a:br>
              <a:rPr lang="pl-PL" dirty="0"/>
            </a:br>
            <a:r>
              <a:rPr lang="pl-PL" dirty="0"/>
              <a:t>software</a:t>
            </a:r>
            <a:endParaRPr lang="en-US" dirty="0"/>
          </a:p>
        </p:txBody>
      </p:sp>
      <p:cxnSp>
        <p:nvCxnSpPr>
          <p:cNvPr id="51" name="Łącznik prosty ze strzałką 50">
            <a:extLst>
              <a:ext uri="{FF2B5EF4-FFF2-40B4-BE49-F238E27FC236}">
                <a16:creationId xmlns:a16="http://schemas.microsoft.com/office/drawing/2014/main" id="{B42549AB-56BC-E344-EE25-EC17A62B70F1}"/>
              </a:ext>
            </a:extLst>
          </p:cNvPr>
          <p:cNvCxnSpPr>
            <a:cxnSpLocks/>
          </p:cNvCxnSpPr>
          <p:nvPr/>
        </p:nvCxnSpPr>
        <p:spPr>
          <a:xfrm flipH="1">
            <a:off x="1841230" y="4903382"/>
            <a:ext cx="1331878" cy="0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pole tekstowe 53">
            <a:extLst>
              <a:ext uri="{FF2B5EF4-FFF2-40B4-BE49-F238E27FC236}">
                <a16:creationId xmlns:a16="http://schemas.microsoft.com/office/drawing/2014/main" id="{B7FDE06A-F744-E28C-9E46-8937F54A2722}"/>
              </a:ext>
            </a:extLst>
          </p:cNvPr>
          <p:cNvSpPr txBox="1"/>
          <p:nvPr/>
        </p:nvSpPr>
        <p:spPr>
          <a:xfrm>
            <a:off x="1669071" y="5286374"/>
            <a:ext cx="21459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Use Ansible artificats</a:t>
            </a:r>
            <a:br>
              <a:rPr lang="pl-PL" dirty="0"/>
            </a:br>
            <a:r>
              <a:rPr lang="pl-PL" dirty="0"/>
              <a:t>(playbooks, roles)</a:t>
            </a:r>
            <a:endParaRPr lang="en-US" dirty="0"/>
          </a:p>
        </p:txBody>
      </p:sp>
      <p:pic>
        <p:nvPicPr>
          <p:cNvPr id="9" name="Obraz 8" descr="Obraz zawierający rysowanie, szkic, ilustracja, kreskówka&#10;&#10;Zawartość wygenerowana przez AI może być niepoprawna.">
            <a:extLst>
              <a:ext uri="{FF2B5EF4-FFF2-40B4-BE49-F238E27FC236}">
                <a16:creationId xmlns:a16="http://schemas.microsoft.com/office/drawing/2014/main" id="{91926DA4-003B-DAA4-2EC2-5A4305948AF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4418" y="2508061"/>
            <a:ext cx="1150365" cy="1601774"/>
          </a:xfrm>
          <a:prstGeom prst="rect">
            <a:avLst/>
          </a:prstGeom>
        </p:spPr>
      </p:pic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FE5F63CC-4F78-76CD-A1F6-6A6805BADE2E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397117" y="3308948"/>
            <a:ext cx="2627301" cy="889502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5C7A9D27-2254-5EFF-A4A6-3307D784051B}"/>
              </a:ext>
            </a:extLst>
          </p:cNvPr>
          <p:cNvSpPr txBox="1"/>
          <p:nvPr/>
        </p:nvSpPr>
        <p:spPr>
          <a:xfrm>
            <a:off x="8619258" y="3790997"/>
            <a:ext cx="8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Legacy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69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F258A9ED-79C7-173C-1549-64A8AC90980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CA463A11-EBC0-11D2-C3FD-9B19DA8E4445}"/>
              </a:ext>
            </a:extLst>
          </p:cNvPr>
          <p:cNvSpPr/>
          <p:nvPr/>
        </p:nvSpPr>
        <p:spPr>
          <a:xfrm>
            <a:off x="5099364" y="308368"/>
            <a:ext cx="1993272" cy="912617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Pipeline</a:t>
            </a:r>
            <a:br>
              <a:rPr lang="pl-PL" dirty="0">
                <a:solidFill>
                  <a:schemeClr val="tx1"/>
                </a:solidFill>
              </a:rPr>
            </a:br>
            <a:r>
              <a:rPr lang="pl-PL" dirty="0">
                <a:solidFill>
                  <a:schemeClr val="tx1"/>
                </a:solidFill>
              </a:rPr>
              <a:t>(.gitlab-ci.yml)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74B73A2D-202F-45E9-0680-F3ACEA087433}"/>
              </a:ext>
            </a:extLst>
          </p:cNvPr>
          <p:cNvSpPr/>
          <p:nvPr/>
        </p:nvSpPr>
        <p:spPr>
          <a:xfrm>
            <a:off x="1672789" y="1756527"/>
            <a:ext cx="1751222" cy="582421"/>
          </a:xfrm>
          <a:prstGeom prst="roundRect">
            <a:avLst/>
          </a:prstGeom>
          <a:solidFill>
            <a:srgbClr val="F0CC71"/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Stage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8ADCE5C-1826-9E63-0FFA-3700148F8099}"/>
              </a:ext>
            </a:extLst>
          </p:cNvPr>
          <p:cNvSpPr/>
          <p:nvPr/>
        </p:nvSpPr>
        <p:spPr>
          <a:xfrm>
            <a:off x="5220389" y="1762878"/>
            <a:ext cx="1751222" cy="582421"/>
          </a:xfrm>
          <a:prstGeom prst="roundRect">
            <a:avLst/>
          </a:prstGeom>
          <a:solidFill>
            <a:srgbClr val="F0CC71"/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Stage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F24779C8-C22F-2B8C-637A-508203E8CAF1}"/>
              </a:ext>
            </a:extLst>
          </p:cNvPr>
          <p:cNvSpPr/>
          <p:nvPr/>
        </p:nvSpPr>
        <p:spPr>
          <a:xfrm>
            <a:off x="8767989" y="1756526"/>
            <a:ext cx="1751222" cy="582421"/>
          </a:xfrm>
          <a:prstGeom prst="roundRect">
            <a:avLst/>
          </a:prstGeom>
          <a:solidFill>
            <a:srgbClr val="F0CC71"/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Stage N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" name="Łącznik: zakrzywiony 8">
            <a:extLst>
              <a:ext uri="{FF2B5EF4-FFF2-40B4-BE49-F238E27FC236}">
                <a16:creationId xmlns:a16="http://schemas.microsoft.com/office/drawing/2014/main" id="{D2F793CF-0D75-E79B-051F-EE00C2BAC393}"/>
              </a:ext>
            </a:extLst>
          </p:cNvPr>
          <p:cNvCxnSpPr>
            <a:stCxn id="11" idx="1"/>
            <a:endCxn id="3" idx="0"/>
          </p:cNvCxnSpPr>
          <p:nvPr/>
        </p:nvCxnSpPr>
        <p:spPr>
          <a:xfrm rot="10800000" flipV="1">
            <a:off x="2548400" y="764677"/>
            <a:ext cx="2550964" cy="991850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Łącznik: zakrzywiony 9">
            <a:extLst>
              <a:ext uri="{FF2B5EF4-FFF2-40B4-BE49-F238E27FC236}">
                <a16:creationId xmlns:a16="http://schemas.microsoft.com/office/drawing/2014/main" id="{F6A48A94-4C56-BC66-CAD1-01E27B0C6D9E}"/>
              </a:ext>
            </a:extLst>
          </p:cNvPr>
          <p:cNvCxnSpPr>
            <a:cxnSpLocks/>
            <a:stCxn id="11" idx="2"/>
            <a:endCxn id="4" idx="0"/>
          </p:cNvCxnSpPr>
          <p:nvPr/>
        </p:nvCxnSpPr>
        <p:spPr>
          <a:xfrm rot="5400000">
            <a:off x="5825054" y="1491931"/>
            <a:ext cx="541893" cy="12700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: zakrzywiony 11">
            <a:extLst>
              <a:ext uri="{FF2B5EF4-FFF2-40B4-BE49-F238E27FC236}">
                <a16:creationId xmlns:a16="http://schemas.microsoft.com/office/drawing/2014/main" id="{4B20AC4E-5D79-E5B4-EB14-636F7248ECF7}"/>
              </a:ext>
            </a:extLst>
          </p:cNvPr>
          <p:cNvCxnSpPr>
            <a:cxnSpLocks/>
            <a:stCxn id="11" idx="3"/>
            <a:endCxn id="5" idx="0"/>
          </p:cNvCxnSpPr>
          <p:nvPr/>
        </p:nvCxnSpPr>
        <p:spPr>
          <a:xfrm>
            <a:off x="7092636" y="764677"/>
            <a:ext cx="2550964" cy="991849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3E917182-AD3C-1C09-67C6-4D517FEEDCBC}"/>
              </a:ext>
            </a:extLst>
          </p:cNvPr>
          <p:cNvSpPr/>
          <p:nvPr/>
        </p:nvSpPr>
        <p:spPr>
          <a:xfrm>
            <a:off x="177893" y="2748378"/>
            <a:ext cx="1751222" cy="5824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Job 1.1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3EA174A1-A7C1-F20D-9A02-C983CFADAAB8}"/>
              </a:ext>
            </a:extLst>
          </p:cNvPr>
          <p:cNvSpPr/>
          <p:nvPr/>
        </p:nvSpPr>
        <p:spPr>
          <a:xfrm>
            <a:off x="2948271" y="2748377"/>
            <a:ext cx="1751222" cy="5824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Job 1.2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Łącznik: zakrzywiony 19">
            <a:extLst>
              <a:ext uri="{FF2B5EF4-FFF2-40B4-BE49-F238E27FC236}">
                <a16:creationId xmlns:a16="http://schemas.microsoft.com/office/drawing/2014/main" id="{FFE30930-F554-C748-C773-8C09A8077925}"/>
              </a:ext>
            </a:extLst>
          </p:cNvPr>
          <p:cNvCxnSpPr>
            <a:cxnSpLocks/>
            <a:stCxn id="3" idx="1"/>
            <a:endCxn id="18" idx="0"/>
          </p:cNvCxnSpPr>
          <p:nvPr/>
        </p:nvCxnSpPr>
        <p:spPr>
          <a:xfrm rot="10800000" flipV="1">
            <a:off x="1053505" y="2047738"/>
            <a:ext cx="619285" cy="700640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: zakrzywiony 22">
            <a:extLst>
              <a:ext uri="{FF2B5EF4-FFF2-40B4-BE49-F238E27FC236}">
                <a16:creationId xmlns:a16="http://schemas.microsoft.com/office/drawing/2014/main" id="{73154AEF-3948-BED2-29FD-4DD9DB9F7C21}"/>
              </a:ext>
            </a:extLst>
          </p:cNvPr>
          <p:cNvCxnSpPr>
            <a:cxnSpLocks/>
            <a:stCxn id="3" idx="3"/>
            <a:endCxn id="19" idx="0"/>
          </p:cNvCxnSpPr>
          <p:nvPr/>
        </p:nvCxnSpPr>
        <p:spPr>
          <a:xfrm>
            <a:off x="3424011" y="2047738"/>
            <a:ext cx="399871" cy="700639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2402A9B2-A149-6DD1-B517-15D8876D60B4}"/>
              </a:ext>
            </a:extLst>
          </p:cNvPr>
          <p:cNvSpPr/>
          <p:nvPr/>
        </p:nvSpPr>
        <p:spPr>
          <a:xfrm>
            <a:off x="5175233" y="2748377"/>
            <a:ext cx="1751222" cy="5824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Job 2.1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Prostokąt: zaokrąglone rogi 29">
            <a:extLst>
              <a:ext uri="{FF2B5EF4-FFF2-40B4-BE49-F238E27FC236}">
                <a16:creationId xmlns:a16="http://schemas.microsoft.com/office/drawing/2014/main" id="{D6CD0BA2-4508-72B2-F851-18DA0811D4C6}"/>
              </a:ext>
            </a:extLst>
          </p:cNvPr>
          <p:cNvSpPr/>
          <p:nvPr/>
        </p:nvSpPr>
        <p:spPr>
          <a:xfrm>
            <a:off x="8767989" y="2800063"/>
            <a:ext cx="1751222" cy="582421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Job N.1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1" name="Łącznik: zakrzywiony 30">
            <a:extLst>
              <a:ext uri="{FF2B5EF4-FFF2-40B4-BE49-F238E27FC236}">
                <a16:creationId xmlns:a16="http://schemas.microsoft.com/office/drawing/2014/main" id="{D4B8BAFA-4223-BBAC-5E03-E15BE4431147}"/>
              </a:ext>
            </a:extLst>
          </p:cNvPr>
          <p:cNvCxnSpPr>
            <a:cxnSpLocks/>
            <a:stCxn id="4" idx="3"/>
            <a:endCxn id="29" idx="3"/>
          </p:cNvCxnSpPr>
          <p:nvPr/>
        </p:nvCxnSpPr>
        <p:spPr>
          <a:xfrm flipH="1">
            <a:off x="6926455" y="2054089"/>
            <a:ext cx="45156" cy="985499"/>
          </a:xfrm>
          <a:prstGeom prst="curvedConnector3">
            <a:avLst>
              <a:gd name="adj1" fmla="val -819975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Łącznik: zakrzywiony 34">
            <a:extLst>
              <a:ext uri="{FF2B5EF4-FFF2-40B4-BE49-F238E27FC236}">
                <a16:creationId xmlns:a16="http://schemas.microsoft.com/office/drawing/2014/main" id="{D6B5365C-824A-BFDA-715D-8074822FA3BB}"/>
              </a:ext>
            </a:extLst>
          </p:cNvPr>
          <p:cNvCxnSpPr>
            <a:cxnSpLocks/>
            <a:stCxn id="5" idx="2"/>
            <a:endCxn id="30" idx="3"/>
          </p:cNvCxnSpPr>
          <p:nvPr/>
        </p:nvCxnSpPr>
        <p:spPr>
          <a:xfrm rot="16200000" flipH="1">
            <a:off x="9705242" y="2277304"/>
            <a:ext cx="752327" cy="875611"/>
          </a:xfrm>
          <a:prstGeom prst="curvedConnector4">
            <a:avLst>
              <a:gd name="adj1" fmla="val 30646"/>
              <a:gd name="adj2" fmla="val 126107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wal 38">
            <a:extLst>
              <a:ext uri="{FF2B5EF4-FFF2-40B4-BE49-F238E27FC236}">
                <a16:creationId xmlns:a16="http://schemas.microsoft.com/office/drawing/2014/main" id="{456CF9D0-4694-D8C7-2A93-7CAB9DEE3DFE}"/>
              </a:ext>
            </a:extLst>
          </p:cNvPr>
          <p:cNvSpPr/>
          <p:nvPr/>
        </p:nvSpPr>
        <p:spPr>
          <a:xfrm>
            <a:off x="7601901" y="2018570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wal 39">
            <a:extLst>
              <a:ext uri="{FF2B5EF4-FFF2-40B4-BE49-F238E27FC236}">
                <a16:creationId xmlns:a16="http://schemas.microsoft.com/office/drawing/2014/main" id="{732D6E57-B1D3-981E-E9E6-8566F57EEEAA}"/>
              </a:ext>
            </a:extLst>
          </p:cNvPr>
          <p:cNvSpPr/>
          <p:nvPr/>
        </p:nvSpPr>
        <p:spPr>
          <a:xfrm>
            <a:off x="7918758" y="2018570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wal 40">
            <a:extLst>
              <a:ext uri="{FF2B5EF4-FFF2-40B4-BE49-F238E27FC236}">
                <a16:creationId xmlns:a16="http://schemas.microsoft.com/office/drawing/2014/main" id="{9F5284D3-E21B-6745-7612-2527DC33ACE5}"/>
              </a:ext>
            </a:extLst>
          </p:cNvPr>
          <p:cNvSpPr/>
          <p:nvPr/>
        </p:nvSpPr>
        <p:spPr>
          <a:xfrm>
            <a:off x="8235615" y="2018570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wal 41">
            <a:extLst>
              <a:ext uri="{FF2B5EF4-FFF2-40B4-BE49-F238E27FC236}">
                <a16:creationId xmlns:a16="http://schemas.microsoft.com/office/drawing/2014/main" id="{AA432CDC-D51D-D7CE-E091-A7F7FED6045B}"/>
              </a:ext>
            </a:extLst>
          </p:cNvPr>
          <p:cNvSpPr/>
          <p:nvPr/>
        </p:nvSpPr>
        <p:spPr>
          <a:xfrm>
            <a:off x="8523290" y="2018570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wal 42">
            <a:extLst>
              <a:ext uri="{FF2B5EF4-FFF2-40B4-BE49-F238E27FC236}">
                <a16:creationId xmlns:a16="http://schemas.microsoft.com/office/drawing/2014/main" id="{9ADC4919-EDE7-CEC5-1E1E-011241C05313}"/>
              </a:ext>
            </a:extLst>
          </p:cNvPr>
          <p:cNvSpPr/>
          <p:nvPr/>
        </p:nvSpPr>
        <p:spPr>
          <a:xfrm>
            <a:off x="7314226" y="2006773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wal 43">
            <a:extLst>
              <a:ext uri="{FF2B5EF4-FFF2-40B4-BE49-F238E27FC236}">
                <a16:creationId xmlns:a16="http://schemas.microsoft.com/office/drawing/2014/main" id="{8DF0120D-1639-79D9-40CF-B173DB2D0DA9}"/>
              </a:ext>
            </a:extLst>
          </p:cNvPr>
          <p:cNvSpPr/>
          <p:nvPr/>
        </p:nvSpPr>
        <p:spPr>
          <a:xfrm>
            <a:off x="8475689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wal 44">
            <a:extLst>
              <a:ext uri="{FF2B5EF4-FFF2-40B4-BE49-F238E27FC236}">
                <a16:creationId xmlns:a16="http://schemas.microsoft.com/office/drawing/2014/main" id="{57427EC0-ED96-BC25-E2A8-C677CE8F8A97}"/>
              </a:ext>
            </a:extLst>
          </p:cNvPr>
          <p:cNvSpPr/>
          <p:nvPr/>
        </p:nvSpPr>
        <p:spPr>
          <a:xfrm>
            <a:off x="8193744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wal 45">
            <a:extLst>
              <a:ext uri="{FF2B5EF4-FFF2-40B4-BE49-F238E27FC236}">
                <a16:creationId xmlns:a16="http://schemas.microsoft.com/office/drawing/2014/main" id="{DC9B38EB-7FE3-AA73-48CF-76FE18D0AA68}"/>
              </a:ext>
            </a:extLst>
          </p:cNvPr>
          <p:cNvSpPr/>
          <p:nvPr/>
        </p:nvSpPr>
        <p:spPr>
          <a:xfrm>
            <a:off x="7855801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wal 46">
            <a:extLst>
              <a:ext uri="{FF2B5EF4-FFF2-40B4-BE49-F238E27FC236}">
                <a16:creationId xmlns:a16="http://schemas.microsoft.com/office/drawing/2014/main" id="{8CF00861-908E-9804-D6CA-99AB70160E13}"/>
              </a:ext>
            </a:extLst>
          </p:cNvPr>
          <p:cNvSpPr/>
          <p:nvPr/>
        </p:nvSpPr>
        <p:spPr>
          <a:xfrm>
            <a:off x="7534558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wal 47">
            <a:extLst>
              <a:ext uri="{FF2B5EF4-FFF2-40B4-BE49-F238E27FC236}">
                <a16:creationId xmlns:a16="http://schemas.microsoft.com/office/drawing/2014/main" id="{2D5154AB-0F5C-1493-9770-0BFD557D2BC5}"/>
              </a:ext>
            </a:extLst>
          </p:cNvPr>
          <p:cNvSpPr/>
          <p:nvPr/>
        </p:nvSpPr>
        <p:spPr>
          <a:xfrm>
            <a:off x="7196615" y="2936556"/>
            <a:ext cx="218941" cy="20606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rostokąt: zaokrąglone rogi 48">
            <a:extLst>
              <a:ext uri="{FF2B5EF4-FFF2-40B4-BE49-F238E27FC236}">
                <a16:creationId xmlns:a16="http://schemas.microsoft.com/office/drawing/2014/main" id="{9FCDB996-FA8A-21EC-A1E9-1EE8C751A15F}"/>
              </a:ext>
            </a:extLst>
          </p:cNvPr>
          <p:cNvSpPr/>
          <p:nvPr/>
        </p:nvSpPr>
        <p:spPr>
          <a:xfrm>
            <a:off x="4587178" y="3872691"/>
            <a:ext cx="1878016" cy="737946"/>
          </a:xfrm>
          <a:prstGeom prst="roundRect">
            <a:avLst/>
          </a:prstGeom>
          <a:solidFill>
            <a:srgbClr val="81B2C3"/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Runner (Gitlab Runner agent)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50" name="Łącznik: zakrzywiony 49">
            <a:extLst>
              <a:ext uri="{FF2B5EF4-FFF2-40B4-BE49-F238E27FC236}">
                <a16:creationId xmlns:a16="http://schemas.microsoft.com/office/drawing/2014/main" id="{71942A63-2A8A-F34C-87E8-2BEAC556ADE5}"/>
              </a:ext>
            </a:extLst>
          </p:cNvPr>
          <p:cNvCxnSpPr>
            <a:cxnSpLocks/>
            <a:stCxn id="63" idx="0"/>
          </p:cNvCxnSpPr>
          <p:nvPr/>
        </p:nvCxnSpPr>
        <p:spPr>
          <a:xfrm rot="16200000" flipH="1">
            <a:off x="5587123" y="4256508"/>
            <a:ext cx="737944" cy="2152306"/>
          </a:xfrm>
          <a:prstGeom prst="curvedConnector4">
            <a:avLst>
              <a:gd name="adj1" fmla="val -30978"/>
              <a:gd name="adj2" fmla="val 71814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Łącznik: zakrzywiony 52">
            <a:extLst>
              <a:ext uri="{FF2B5EF4-FFF2-40B4-BE49-F238E27FC236}">
                <a16:creationId xmlns:a16="http://schemas.microsoft.com/office/drawing/2014/main" id="{CD039A5B-9DDF-249E-F784-0DD0788BFCF1}"/>
              </a:ext>
            </a:extLst>
          </p:cNvPr>
          <p:cNvCxnSpPr>
            <a:cxnSpLocks/>
          </p:cNvCxnSpPr>
          <p:nvPr/>
        </p:nvCxnSpPr>
        <p:spPr>
          <a:xfrm>
            <a:off x="3940934" y="3330797"/>
            <a:ext cx="930657" cy="541896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Łącznik: zakrzywiony 55">
            <a:extLst>
              <a:ext uri="{FF2B5EF4-FFF2-40B4-BE49-F238E27FC236}">
                <a16:creationId xmlns:a16="http://schemas.microsoft.com/office/drawing/2014/main" id="{15F2F6C0-082F-0EF2-4AD8-2A303144F0FB}"/>
              </a:ext>
            </a:extLst>
          </p:cNvPr>
          <p:cNvCxnSpPr>
            <a:cxnSpLocks/>
            <a:stCxn id="30" idx="2"/>
            <a:endCxn id="49" idx="3"/>
          </p:cNvCxnSpPr>
          <p:nvPr/>
        </p:nvCxnSpPr>
        <p:spPr>
          <a:xfrm rot="5400000">
            <a:off x="7624807" y="2222871"/>
            <a:ext cx="859180" cy="3178406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Łącznik: zakrzywiony 58">
            <a:extLst>
              <a:ext uri="{FF2B5EF4-FFF2-40B4-BE49-F238E27FC236}">
                <a16:creationId xmlns:a16="http://schemas.microsoft.com/office/drawing/2014/main" id="{3B2BDE2C-59A9-525F-6048-89312E1115D4}"/>
              </a:ext>
            </a:extLst>
          </p:cNvPr>
          <p:cNvCxnSpPr>
            <a:cxnSpLocks/>
            <a:stCxn id="29" idx="2"/>
          </p:cNvCxnSpPr>
          <p:nvPr/>
        </p:nvCxnSpPr>
        <p:spPr>
          <a:xfrm rot="5400000">
            <a:off x="5697517" y="3519363"/>
            <a:ext cx="541893" cy="164763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rostokąt: zaokrąglone rogi 61">
            <a:extLst>
              <a:ext uri="{FF2B5EF4-FFF2-40B4-BE49-F238E27FC236}">
                <a16:creationId xmlns:a16="http://schemas.microsoft.com/office/drawing/2014/main" id="{26FAA0F0-DDC0-8E92-0DC9-DD12FA8DAA07}"/>
              </a:ext>
            </a:extLst>
          </p:cNvPr>
          <p:cNvSpPr/>
          <p:nvPr/>
        </p:nvSpPr>
        <p:spPr>
          <a:xfrm>
            <a:off x="1467087" y="4396070"/>
            <a:ext cx="1878016" cy="73794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Executor: Docker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3" name="Prostokąt: zaokrąglone rogi 62">
            <a:extLst>
              <a:ext uri="{FF2B5EF4-FFF2-40B4-BE49-F238E27FC236}">
                <a16:creationId xmlns:a16="http://schemas.microsoft.com/office/drawing/2014/main" id="{A4FDF8C3-19AA-DD6C-1E73-2B93BF526F1D}"/>
              </a:ext>
            </a:extLst>
          </p:cNvPr>
          <p:cNvSpPr/>
          <p:nvPr/>
        </p:nvSpPr>
        <p:spPr>
          <a:xfrm>
            <a:off x="3940934" y="4963689"/>
            <a:ext cx="1878016" cy="73794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Docker Engine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4" name="Prostokąt: zaokrąglone rogi 63">
            <a:extLst>
              <a:ext uri="{FF2B5EF4-FFF2-40B4-BE49-F238E27FC236}">
                <a16:creationId xmlns:a16="http://schemas.microsoft.com/office/drawing/2014/main" id="{A6D2A445-6932-E22A-6250-C9BF0A63C769}"/>
              </a:ext>
            </a:extLst>
          </p:cNvPr>
          <p:cNvSpPr/>
          <p:nvPr/>
        </p:nvSpPr>
        <p:spPr>
          <a:xfrm>
            <a:off x="6916793" y="5399516"/>
            <a:ext cx="1878016" cy="73794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Container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5" name="Prostokąt: zaokrąglone rogi 64">
            <a:extLst>
              <a:ext uri="{FF2B5EF4-FFF2-40B4-BE49-F238E27FC236}">
                <a16:creationId xmlns:a16="http://schemas.microsoft.com/office/drawing/2014/main" id="{B1D697F9-8EB7-E289-6792-825EDE6E4DB7}"/>
              </a:ext>
            </a:extLst>
          </p:cNvPr>
          <p:cNvSpPr/>
          <p:nvPr/>
        </p:nvSpPr>
        <p:spPr>
          <a:xfrm>
            <a:off x="9149392" y="5345956"/>
            <a:ext cx="2485442" cy="75232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Log / Artificats / Status (back to Gitlab)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6" name="Łącznik: zakrzywiony 65">
            <a:extLst>
              <a:ext uri="{FF2B5EF4-FFF2-40B4-BE49-F238E27FC236}">
                <a16:creationId xmlns:a16="http://schemas.microsoft.com/office/drawing/2014/main" id="{A187B4C3-B4D8-DD73-E3C2-98E4C7C7F6F2}"/>
              </a:ext>
            </a:extLst>
          </p:cNvPr>
          <p:cNvCxnSpPr>
            <a:cxnSpLocks/>
            <a:stCxn id="49" idx="2"/>
            <a:endCxn id="62" idx="3"/>
          </p:cNvCxnSpPr>
          <p:nvPr/>
        </p:nvCxnSpPr>
        <p:spPr>
          <a:xfrm rot="5400000">
            <a:off x="4358442" y="3597299"/>
            <a:ext cx="154406" cy="2181083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Łącznik: zakrzywiony 68">
            <a:extLst>
              <a:ext uri="{FF2B5EF4-FFF2-40B4-BE49-F238E27FC236}">
                <a16:creationId xmlns:a16="http://schemas.microsoft.com/office/drawing/2014/main" id="{75FA7A31-AFF1-6CA2-678B-A0F9A0C4246F}"/>
              </a:ext>
            </a:extLst>
          </p:cNvPr>
          <p:cNvCxnSpPr>
            <a:cxnSpLocks/>
            <a:stCxn id="62" idx="2"/>
            <a:endCxn id="63" idx="1"/>
          </p:cNvCxnSpPr>
          <p:nvPr/>
        </p:nvCxnSpPr>
        <p:spPr>
          <a:xfrm rot="16200000" flipH="1">
            <a:off x="3074191" y="4465919"/>
            <a:ext cx="198646" cy="1534839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Łącznik: zakrzywiony 74">
            <a:extLst>
              <a:ext uri="{FF2B5EF4-FFF2-40B4-BE49-F238E27FC236}">
                <a16:creationId xmlns:a16="http://schemas.microsoft.com/office/drawing/2014/main" id="{DFE0C622-6E96-148A-D415-6FE20D22DDE5}"/>
              </a:ext>
            </a:extLst>
          </p:cNvPr>
          <p:cNvCxnSpPr>
            <a:cxnSpLocks/>
            <a:stCxn id="18" idx="2"/>
            <a:endCxn id="49" idx="1"/>
          </p:cNvCxnSpPr>
          <p:nvPr/>
        </p:nvCxnSpPr>
        <p:spPr>
          <a:xfrm rot="16200000" flipH="1">
            <a:off x="2364909" y="2019394"/>
            <a:ext cx="910865" cy="3533674"/>
          </a:xfrm>
          <a:prstGeom prst="curvedConnector2">
            <a:avLst/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Łącznik: zakrzywiony 77">
            <a:extLst>
              <a:ext uri="{FF2B5EF4-FFF2-40B4-BE49-F238E27FC236}">
                <a16:creationId xmlns:a16="http://schemas.microsoft.com/office/drawing/2014/main" id="{328A1FE1-2D45-7728-0491-2A2E2897AE58}"/>
              </a:ext>
            </a:extLst>
          </p:cNvPr>
          <p:cNvCxnSpPr>
            <a:cxnSpLocks/>
            <a:stCxn id="64" idx="0"/>
            <a:endCxn id="65" idx="0"/>
          </p:cNvCxnSpPr>
          <p:nvPr/>
        </p:nvCxnSpPr>
        <p:spPr>
          <a:xfrm rot="5400000" flipH="1" flipV="1">
            <a:off x="9097177" y="4104580"/>
            <a:ext cx="53560" cy="2536312"/>
          </a:xfrm>
          <a:prstGeom prst="curvedConnector3">
            <a:avLst>
              <a:gd name="adj1" fmla="val 526811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ytuł 6">
            <a:extLst>
              <a:ext uri="{FF2B5EF4-FFF2-40B4-BE49-F238E27FC236}">
                <a16:creationId xmlns:a16="http://schemas.microsoft.com/office/drawing/2014/main" id="{036C85EC-78DF-9CCF-0858-5FE3263FE44D}"/>
              </a:ext>
            </a:extLst>
          </p:cNvPr>
          <p:cNvSpPr txBox="1">
            <a:spLocks/>
          </p:cNvSpPr>
          <p:nvPr/>
        </p:nvSpPr>
        <p:spPr>
          <a:xfrm>
            <a:off x="300525" y="-158981"/>
            <a:ext cx="4105738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dirty="0"/>
              <a:t>Pipeline and Runners</a:t>
            </a:r>
          </a:p>
        </p:txBody>
      </p:sp>
      <p:sp>
        <p:nvSpPr>
          <p:cNvPr id="86" name="pole tekstowe 85">
            <a:extLst>
              <a:ext uri="{FF2B5EF4-FFF2-40B4-BE49-F238E27FC236}">
                <a16:creationId xmlns:a16="http://schemas.microsoft.com/office/drawing/2014/main" id="{9C856B3D-810A-9571-0918-97BF88797BB3}"/>
              </a:ext>
            </a:extLst>
          </p:cNvPr>
          <p:cNvSpPr txBox="1"/>
          <p:nvPr/>
        </p:nvSpPr>
        <p:spPr>
          <a:xfrm>
            <a:off x="10114081" y="1209908"/>
            <a:ext cx="17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/>
              <a:t>Sequential</a:t>
            </a:r>
            <a:endParaRPr lang="en-US" sz="2400" b="1" dirty="0"/>
          </a:p>
        </p:txBody>
      </p:sp>
      <p:sp>
        <p:nvSpPr>
          <p:cNvPr id="87" name="pole tekstowe 86">
            <a:extLst>
              <a:ext uri="{FF2B5EF4-FFF2-40B4-BE49-F238E27FC236}">
                <a16:creationId xmlns:a16="http://schemas.microsoft.com/office/drawing/2014/main" id="{3C9FD7F3-5E8E-FBC3-0FA0-E7D83F4786A8}"/>
              </a:ext>
            </a:extLst>
          </p:cNvPr>
          <p:cNvSpPr txBox="1"/>
          <p:nvPr/>
        </p:nvSpPr>
        <p:spPr>
          <a:xfrm>
            <a:off x="10110485" y="3552389"/>
            <a:ext cx="17512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b="1" dirty="0"/>
              <a:t>Parallel</a:t>
            </a:r>
            <a:endParaRPr lang="en-US" sz="2400" b="1" dirty="0"/>
          </a:p>
        </p:txBody>
      </p:sp>
      <p:sp>
        <p:nvSpPr>
          <p:cNvPr id="90" name="Prostokąt: zaokrąglone rogi 89">
            <a:extLst>
              <a:ext uri="{FF2B5EF4-FFF2-40B4-BE49-F238E27FC236}">
                <a16:creationId xmlns:a16="http://schemas.microsoft.com/office/drawing/2014/main" id="{352594AB-7292-641C-49E7-45898F3B6F71}"/>
              </a:ext>
            </a:extLst>
          </p:cNvPr>
          <p:cNvSpPr/>
          <p:nvPr/>
        </p:nvSpPr>
        <p:spPr>
          <a:xfrm>
            <a:off x="2032248" y="5531943"/>
            <a:ext cx="1878016" cy="73794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2C59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>
                <a:solidFill>
                  <a:schemeClr val="tx1"/>
                </a:solidFill>
              </a:rPr>
              <a:t>Runner Image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91" name="Łącznik: zakrzywiony 90">
            <a:extLst>
              <a:ext uri="{FF2B5EF4-FFF2-40B4-BE49-F238E27FC236}">
                <a16:creationId xmlns:a16="http://schemas.microsoft.com/office/drawing/2014/main" id="{A3C46FDD-DA3C-D09A-7BE5-758A1F88B5F2}"/>
              </a:ext>
            </a:extLst>
          </p:cNvPr>
          <p:cNvCxnSpPr>
            <a:cxnSpLocks/>
            <a:stCxn id="90" idx="3"/>
            <a:endCxn id="64" idx="1"/>
          </p:cNvCxnSpPr>
          <p:nvPr/>
        </p:nvCxnSpPr>
        <p:spPr>
          <a:xfrm flipV="1">
            <a:off x="3910264" y="5768489"/>
            <a:ext cx="3006529" cy="132427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229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7C2D-8252-FF83-AC52-EBF665BC0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A2BE5FF2-10A1-4591-FE84-B7593A8C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C56244-3273-6ED1-BE03-E6A9C3AE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82563"/>
            <a:ext cx="10671175" cy="822325"/>
          </a:xfrm>
        </p:spPr>
        <p:txBody>
          <a:bodyPr/>
          <a:lstStyle/>
          <a:p>
            <a:pPr algn="ctr"/>
            <a:r>
              <a:rPr lang="pl-PL" sz="3600" dirty="0"/>
              <a:t>Our Gitlab Runner images</a:t>
            </a:r>
            <a:endParaRPr lang="en-US" sz="3600" dirty="0"/>
          </a:p>
        </p:txBody>
      </p:sp>
      <p:pic>
        <p:nvPicPr>
          <p:cNvPr id="12" name="Obraz 11" descr="Obraz zawierający zrzut ekranu, czarne&#10;&#10;Zawartość wygenerowana przez AI może być niepoprawna.">
            <a:extLst>
              <a:ext uri="{FF2B5EF4-FFF2-40B4-BE49-F238E27FC236}">
                <a16:creationId xmlns:a16="http://schemas.microsoft.com/office/drawing/2014/main" id="{9E848EC8-8CF1-B242-68F5-99E0CC452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3501" y="2831885"/>
            <a:ext cx="2376761" cy="1584506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D16A222-E989-30AD-A55A-225224C78C9B}"/>
              </a:ext>
            </a:extLst>
          </p:cNvPr>
          <p:cNvSpPr txBox="1"/>
          <p:nvPr/>
        </p:nvSpPr>
        <p:spPr>
          <a:xfrm>
            <a:off x="1798481" y="2142551"/>
            <a:ext cx="5694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databases/databases-runner-images:2.14.8</a:t>
            </a: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0C224525-A2E7-97A9-61A6-6EA8BE937A22}"/>
              </a:ext>
            </a:extLst>
          </p:cNvPr>
          <p:cNvSpPr txBox="1"/>
          <p:nvPr/>
        </p:nvSpPr>
        <p:spPr>
          <a:xfrm>
            <a:off x="8049128" y="1908555"/>
            <a:ext cx="38380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General purpose, Ansible playbook execution, gather information from target servers (test/control flow)</a:t>
            </a:r>
            <a:endParaRPr lang="en-US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273AC78E-EE56-A366-C761-59008952B95D}"/>
              </a:ext>
            </a:extLst>
          </p:cNvPr>
          <p:cNvSpPr txBox="1"/>
          <p:nvPr/>
        </p:nvSpPr>
        <p:spPr>
          <a:xfrm>
            <a:off x="1798481" y="3546613"/>
            <a:ext cx="6370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caas-runner-images/itsm-integration-runner:1.0.2</a:t>
            </a:r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836D14BC-44E7-9694-6367-BA6F141BAE05}"/>
              </a:ext>
            </a:extLst>
          </p:cNvPr>
          <p:cNvSpPr txBox="1"/>
          <p:nvPr/>
        </p:nvSpPr>
        <p:spPr>
          <a:xfrm>
            <a:off x="8049127" y="3401563"/>
            <a:ext cx="3838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Validation (static + dynamic), Linting,</a:t>
            </a:r>
            <a:br>
              <a:rPr lang="pl-PL" dirty="0"/>
            </a:br>
            <a:r>
              <a:rPr lang="pl-PL" dirty="0"/>
              <a:t>CMDB maintenance, </a:t>
            </a:r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893E3123-B379-7360-C3D6-B1DD18E0A709}"/>
              </a:ext>
            </a:extLst>
          </p:cNvPr>
          <p:cNvSpPr txBox="1"/>
          <p:nvPr/>
        </p:nvSpPr>
        <p:spPr>
          <a:xfrm>
            <a:off x="1798481" y="4986069"/>
            <a:ext cx="63709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automated-testing/testcore-linux-image:BSE_1.1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893891CE-BC66-CA70-2767-D3844F76DB00}"/>
              </a:ext>
            </a:extLst>
          </p:cNvPr>
          <p:cNvSpPr txBox="1"/>
          <p:nvPr/>
        </p:nvSpPr>
        <p:spPr>
          <a:xfrm>
            <a:off x="8049126" y="4962083"/>
            <a:ext cx="383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Unit &amp; Integration tests</a:t>
            </a:r>
          </a:p>
        </p:txBody>
      </p:sp>
    </p:spTree>
    <p:extLst>
      <p:ext uri="{BB962C8B-B14F-4D97-AF65-F5344CB8AC3E}">
        <p14:creationId xmlns:p14="http://schemas.microsoft.com/office/powerpoint/2010/main" val="606262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B7EB7913-9B85-F073-4A7D-E005E32D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DF812E-C973-B8FB-3B52-664276491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82563"/>
            <a:ext cx="10671175" cy="822325"/>
          </a:xfrm>
        </p:spPr>
        <p:txBody>
          <a:bodyPr/>
          <a:lstStyle/>
          <a:p>
            <a:pPr algn="ctr"/>
            <a:r>
              <a:rPr lang="pl-PL" sz="3600" dirty="0"/>
              <a:t>Managing Material with Git – Primer (I)</a:t>
            </a:r>
            <a:endParaRPr lang="en-US" sz="3600" dirty="0"/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0F25361E-AA2C-5283-27B6-C665E770942E}"/>
              </a:ext>
            </a:extLst>
          </p:cNvPr>
          <p:cNvSpPr/>
          <p:nvPr/>
        </p:nvSpPr>
        <p:spPr>
          <a:xfrm>
            <a:off x="584880" y="1580605"/>
            <a:ext cx="11038114" cy="1554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4C3D768B-F0EE-D2D2-3809-A9EFF852D2F1}"/>
              </a:ext>
            </a:extLst>
          </p:cNvPr>
          <p:cNvSpPr/>
          <p:nvPr/>
        </p:nvSpPr>
        <p:spPr>
          <a:xfrm>
            <a:off x="9000308" y="1952896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Working</a:t>
            </a:r>
            <a:r>
              <a:rPr lang="pl-PL" b="1" dirty="0">
                <a:solidFill>
                  <a:schemeClr val="tx1"/>
                </a:solidFill>
              </a:rPr>
              <a:t> </a:t>
            </a:r>
            <a:r>
              <a:rPr lang="pl-PL" b="1" dirty="0" err="1">
                <a:solidFill>
                  <a:schemeClr val="tx1"/>
                </a:solidFill>
              </a:rPr>
              <a:t>tree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129BCD4-9DB7-54C9-E5BA-EB8E148D9065}"/>
              </a:ext>
            </a:extLst>
          </p:cNvPr>
          <p:cNvSpPr/>
          <p:nvPr/>
        </p:nvSpPr>
        <p:spPr>
          <a:xfrm>
            <a:off x="6377622" y="1952895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Staging</a:t>
            </a:r>
            <a:r>
              <a:rPr lang="pl-PL" b="1" dirty="0">
                <a:solidFill>
                  <a:schemeClr val="tx1"/>
                </a:solidFill>
              </a:rPr>
              <a:t> area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0AA6DB80-979C-206F-EEE3-18B1C5B66BE2}"/>
              </a:ext>
            </a:extLst>
          </p:cNvPr>
          <p:cNvSpPr/>
          <p:nvPr/>
        </p:nvSpPr>
        <p:spPr>
          <a:xfrm>
            <a:off x="3754936" y="1952894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Local</a:t>
            </a:r>
            <a:r>
              <a:rPr lang="pl-PL" b="1" dirty="0">
                <a:solidFill>
                  <a:schemeClr val="tx1"/>
                </a:solidFill>
              </a:rPr>
              <a:t> repository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32C45DE8-F471-6BB4-F837-9D3D48D2E064}"/>
              </a:ext>
            </a:extLst>
          </p:cNvPr>
          <p:cNvSpPr/>
          <p:nvPr/>
        </p:nvSpPr>
        <p:spPr>
          <a:xfrm>
            <a:off x="1124712" y="1952894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solidFill>
                  <a:schemeClr val="tx1"/>
                </a:solidFill>
              </a:rPr>
              <a:t>Remote repository</a:t>
            </a:r>
          </a:p>
          <a:p>
            <a:pPr algn="ctr"/>
            <a:r>
              <a:rPr lang="pl-PL" b="1" dirty="0">
                <a:solidFill>
                  <a:schemeClr val="tx1"/>
                </a:solidFill>
              </a:rPr>
              <a:t>(upstream)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41" name="Łącznik: zakrzywiony 40">
            <a:extLst>
              <a:ext uri="{FF2B5EF4-FFF2-40B4-BE49-F238E27FC236}">
                <a16:creationId xmlns:a16="http://schemas.microsoft.com/office/drawing/2014/main" id="{5000F6A9-4EB9-7E9D-5FDB-5B2B74D8A0D6}"/>
              </a:ext>
            </a:extLst>
          </p:cNvPr>
          <p:cNvCxnSpPr>
            <a:cxnSpLocks/>
          </p:cNvCxnSpPr>
          <p:nvPr/>
        </p:nvCxnSpPr>
        <p:spPr>
          <a:xfrm rot="16200000" flipV="1">
            <a:off x="8773181" y="641551"/>
            <a:ext cx="1" cy="2622686"/>
          </a:xfrm>
          <a:prstGeom prst="curvedConnector3">
            <a:avLst>
              <a:gd name="adj1" fmla="val 228601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pole tekstowe 49">
            <a:extLst>
              <a:ext uri="{FF2B5EF4-FFF2-40B4-BE49-F238E27FC236}">
                <a16:creationId xmlns:a16="http://schemas.microsoft.com/office/drawing/2014/main" id="{6F3DD98F-149E-66D6-EC9A-4C041F1A7F5D}"/>
              </a:ext>
            </a:extLst>
          </p:cNvPr>
          <p:cNvSpPr txBox="1"/>
          <p:nvPr/>
        </p:nvSpPr>
        <p:spPr>
          <a:xfrm>
            <a:off x="8351430" y="1208312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add</a:t>
            </a:r>
            <a:endParaRPr lang="en-US" b="1" dirty="0"/>
          </a:p>
        </p:txBody>
      </p:sp>
      <p:cxnSp>
        <p:nvCxnSpPr>
          <p:cNvPr id="51" name="Łącznik: zakrzywiony 50">
            <a:extLst>
              <a:ext uri="{FF2B5EF4-FFF2-40B4-BE49-F238E27FC236}">
                <a16:creationId xmlns:a16="http://schemas.microsoft.com/office/drawing/2014/main" id="{047ACB10-FE5F-67BD-B1AD-C76A28EA52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03558" y="640070"/>
            <a:ext cx="1" cy="2622686"/>
          </a:xfrm>
          <a:prstGeom prst="curvedConnector3">
            <a:avLst>
              <a:gd name="adj1" fmla="val 228601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pole tekstowe 51">
            <a:extLst>
              <a:ext uri="{FF2B5EF4-FFF2-40B4-BE49-F238E27FC236}">
                <a16:creationId xmlns:a16="http://schemas.microsoft.com/office/drawing/2014/main" id="{7E86FC4A-E22B-61B8-C802-5CD7DDA0760D}"/>
              </a:ext>
            </a:extLst>
          </p:cNvPr>
          <p:cNvSpPr txBox="1"/>
          <p:nvPr/>
        </p:nvSpPr>
        <p:spPr>
          <a:xfrm>
            <a:off x="5381807" y="1191029"/>
            <a:ext cx="1212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commit</a:t>
            </a:r>
            <a:endParaRPr lang="en-US" b="1" dirty="0"/>
          </a:p>
        </p:txBody>
      </p:sp>
      <p:cxnSp>
        <p:nvCxnSpPr>
          <p:cNvPr id="54" name="Łącznik: łamany 53">
            <a:extLst>
              <a:ext uri="{FF2B5EF4-FFF2-40B4-BE49-F238E27FC236}">
                <a16:creationId xmlns:a16="http://schemas.microsoft.com/office/drawing/2014/main" id="{58CE6BCA-A9DF-F487-9987-D6E20F196E12}"/>
              </a:ext>
            </a:extLst>
          </p:cNvPr>
          <p:cNvCxnSpPr>
            <a:cxnSpLocks/>
            <a:endCxn id="9" idx="2"/>
          </p:cNvCxnSpPr>
          <p:nvPr/>
        </p:nvCxnSpPr>
        <p:spPr>
          <a:xfrm rot="10800000">
            <a:off x="7461839" y="2762792"/>
            <a:ext cx="2622686" cy="66620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Łącznik prosty ze strzałką 58">
            <a:extLst>
              <a:ext uri="{FF2B5EF4-FFF2-40B4-BE49-F238E27FC236}">
                <a16:creationId xmlns:a16="http://schemas.microsoft.com/office/drawing/2014/main" id="{D54C22DA-2C75-57D8-BE99-ED3AF3DE3EBE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0084525" y="2762793"/>
            <a:ext cx="0" cy="6662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ole tekstowe 61">
            <a:extLst>
              <a:ext uri="{FF2B5EF4-FFF2-40B4-BE49-F238E27FC236}">
                <a16:creationId xmlns:a16="http://schemas.microsoft.com/office/drawing/2014/main" id="{7F42D6E6-D7E4-45EC-BCD9-FAE8DF5D5893}"/>
              </a:ext>
            </a:extLst>
          </p:cNvPr>
          <p:cNvSpPr txBox="1"/>
          <p:nvPr/>
        </p:nvSpPr>
        <p:spPr>
          <a:xfrm>
            <a:off x="6736896" y="3505892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commit -a</a:t>
            </a:r>
            <a:endParaRPr lang="en-US" b="1" dirty="0"/>
          </a:p>
        </p:txBody>
      </p:sp>
      <p:cxnSp>
        <p:nvCxnSpPr>
          <p:cNvPr id="63" name="Łącznik: łamany 62">
            <a:extLst>
              <a:ext uri="{FF2B5EF4-FFF2-40B4-BE49-F238E27FC236}">
                <a16:creationId xmlns:a16="http://schemas.microsoft.com/office/drawing/2014/main" id="{0251257C-AD29-D1E9-C9C4-410D13554F32}"/>
              </a:ext>
            </a:extLst>
          </p:cNvPr>
          <p:cNvCxnSpPr>
            <a:cxnSpLocks/>
          </p:cNvCxnSpPr>
          <p:nvPr/>
        </p:nvCxnSpPr>
        <p:spPr>
          <a:xfrm rot="10800000">
            <a:off x="4831615" y="2756997"/>
            <a:ext cx="2622686" cy="66620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Prostokąt 63">
            <a:extLst>
              <a:ext uri="{FF2B5EF4-FFF2-40B4-BE49-F238E27FC236}">
                <a16:creationId xmlns:a16="http://schemas.microsoft.com/office/drawing/2014/main" id="{BEDE8F28-C095-48A6-A383-A2BFEFFA62A2}"/>
              </a:ext>
            </a:extLst>
          </p:cNvPr>
          <p:cNvSpPr/>
          <p:nvPr/>
        </p:nvSpPr>
        <p:spPr>
          <a:xfrm>
            <a:off x="623901" y="3952115"/>
            <a:ext cx="11038114" cy="155448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rostokąt 64">
            <a:extLst>
              <a:ext uri="{FF2B5EF4-FFF2-40B4-BE49-F238E27FC236}">
                <a16:creationId xmlns:a16="http://schemas.microsoft.com/office/drawing/2014/main" id="{B0CB4AC5-D0CB-B095-502D-E033AE883D0A}"/>
              </a:ext>
            </a:extLst>
          </p:cNvPr>
          <p:cNvSpPr/>
          <p:nvPr/>
        </p:nvSpPr>
        <p:spPr>
          <a:xfrm>
            <a:off x="9000308" y="4330935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Working</a:t>
            </a:r>
            <a:r>
              <a:rPr lang="pl-PL" b="1" dirty="0">
                <a:solidFill>
                  <a:schemeClr val="tx1"/>
                </a:solidFill>
              </a:rPr>
              <a:t> </a:t>
            </a:r>
            <a:r>
              <a:rPr lang="pl-PL" b="1" dirty="0" err="1">
                <a:solidFill>
                  <a:schemeClr val="tx1"/>
                </a:solidFill>
              </a:rPr>
              <a:t>tree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6" name="Prostokąt 65">
            <a:extLst>
              <a:ext uri="{FF2B5EF4-FFF2-40B4-BE49-F238E27FC236}">
                <a16:creationId xmlns:a16="http://schemas.microsoft.com/office/drawing/2014/main" id="{03123D28-E1A0-724A-F9FE-1ED023676AF3}"/>
              </a:ext>
            </a:extLst>
          </p:cNvPr>
          <p:cNvSpPr/>
          <p:nvPr/>
        </p:nvSpPr>
        <p:spPr>
          <a:xfrm>
            <a:off x="6377622" y="4324406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Staging</a:t>
            </a:r>
            <a:r>
              <a:rPr lang="pl-PL" b="1" dirty="0">
                <a:solidFill>
                  <a:schemeClr val="tx1"/>
                </a:solidFill>
              </a:rPr>
              <a:t> area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7" name="Prostokąt 66">
            <a:extLst>
              <a:ext uri="{FF2B5EF4-FFF2-40B4-BE49-F238E27FC236}">
                <a16:creationId xmlns:a16="http://schemas.microsoft.com/office/drawing/2014/main" id="{0A3DB21E-E6C0-4BE9-805E-E9DA1DDC42CB}"/>
              </a:ext>
            </a:extLst>
          </p:cNvPr>
          <p:cNvSpPr/>
          <p:nvPr/>
        </p:nvSpPr>
        <p:spPr>
          <a:xfrm>
            <a:off x="3754936" y="4324406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Local</a:t>
            </a:r>
            <a:r>
              <a:rPr lang="pl-PL" b="1" dirty="0">
                <a:solidFill>
                  <a:schemeClr val="tx1"/>
                </a:solidFill>
              </a:rPr>
              <a:t> repository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8" name="Prostokąt 67">
            <a:extLst>
              <a:ext uri="{FF2B5EF4-FFF2-40B4-BE49-F238E27FC236}">
                <a16:creationId xmlns:a16="http://schemas.microsoft.com/office/drawing/2014/main" id="{037FEA59-CAA5-F876-B05D-D24A75879A94}"/>
              </a:ext>
            </a:extLst>
          </p:cNvPr>
          <p:cNvSpPr/>
          <p:nvPr/>
        </p:nvSpPr>
        <p:spPr>
          <a:xfrm>
            <a:off x="1124712" y="4330935"/>
            <a:ext cx="2168434" cy="809897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solidFill>
                  <a:schemeClr val="tx1"/>
                </a:solidFill>
              </a:rPr>
              <a:t>Remote repository</a:t>
            </a:r>
          </a:p>
          <a:p>
            <a:pPr algn="ctr"/>
            <a:r>
              <a:rPr lang="pl-PL" b="1" dirty="0">
                <a:solidFill>
                  <a:schemeClr val="tx1"/>
                </a:solidFill>
              </a:rPr>
              <a:t>(upstream)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69" name="Łącznik: zakrzywiony 68">
            <a:extLst>
              <a:ext uri="{FF2B5EF4-FFF2-40B4-BE49-F238E27FC236}">
                <a16:creationId xmlns:a16="http://schemas.microsoft.com/office/drawing/2014/main" id="{EF40CCEC-C98B-9C77-83E9-701F1D51ABA3}"/>
              </a:ext>
            </a:extLst>
          </p:cNvPr>
          <p:cNvCxnSpPr>
            <a:cxnSpLocks/>
          </p:cNvCxnSpPr>
          <p:nvPr/>
        </p:nvCxnSpPr>
        <p:spPr>
          <a:xfrm rot="16200000" flipV="1">
            <a:off x="3293145" y="2974616"/>
            <a:ext cx="1" cy="2622686"/>
          </a:xfrm>
          <a:prstGeom prst="curvedConnector3">
            <a:avLst>
              <a:gd name="adj1" fmla="val 2286010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pole tekstowe 70">
            <a:extLst>
              <a:ext uri="{FF2B5EF4-FFF2-40B4-BE49-F238E27FC236}">
                <a16:creationId xmlns:a16="http://schemas.microsoft.com/office/drawing/2014/main" id="{7F8A35B1-75C9-B854-9FBE-A947A0B4DE3B}"/>
              </a:ext>
            </a:extLst>
          </p:cNvPr>
          <p:cNvSpPr txBox="1"/>
          <p:nvPr/>
        </p:nvSpPr>
        <p:spPr>
          <a:xfrm>
            <a:off x="2830196" y="347353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</a:t>
            </a:r>
            <a:r>
              <a:rPr lang="pl-PL" b="1" dirty="0" err="1"/>
              <a:t>push</a:t>
            </a:r>
            <a:endParaRPr lang="en-US" b="1" dirty="0"/>
          </a:p>
        </p:txBody>
      </p:sp>
      <p:cxnSp>
        <p:nvCxnSpPr>
          <p:cNvPr id="72" name="Łącznik: łamany 71">
            <a:extLst>
              <a:ext uri="{FF2B5EF4-FFF2-40B4-BE49-F238E27FC236}">
                <a16:creationId xmlns:a16="http://schemas.microsoft.com/office/drawing/2014/main" id="{2BD9B374-0ABB-5721-2E27-A99A4220EE92}"/>
              </a:ext>
            </a:extLst>
          </p:cNvPr>
          <p:cNvCxnSpPr>
            <a:cxnSpLocks/>
          </p:cNvCxnSpPr>
          <p:nvPr/>
        </p:nvCxnSpPr>
        <p:spPr>
          <a:xfrm rot="10800000">
            <a:off x="4798645" y="5134304"/>
            <a:ext cx="5305391" cy="744583"/>
          </a:xfrm>
          <a:prstGeom prst="bentConnector3">
            <a:avLst>
              <a:gd name="adj1" fmla="val 10022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Łącznik prosty ze strzałką 75">
            <a:extLst>
              <a:ext uri="{FF2B5EF4-FFF2-40B4-BE49-F238E27FC236}">
                <a16:creationId xmlns:a16="http://schemas.microsoft.com/office/drawing/2014/main" id="{CBECE1C4-98B6-EB41-EA2C-FC07308A4112}"/>
              </a:ext>
            </a:extLst>
          </p:cNvPr>
          <p:cNvCxnSpPr>
            <a:cxnSpLocks/>
            <a:endCxn id="65" idx="2"/>
          </p:cNvCxnSpPr>
          <p:nvPr/>
        </p:nvCxnSpPr>
        <p:spPr>
          <a:xfrm flipH="1" flipV="1">
            <a:off x="10084525" y="5140832"/>
            <a:ext cx="19511" cy="738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Łącznik: łamany 77">
            <a:extLst>
              <a:ext uri="{FF2B5EF4-FFF2-40B4-BE49-F238E27FC236}">
                <a16:creationId xmlns:a16="http://schemas.microsoft.com/office/drawing/2014/main" id="{235BA32D-308D-917B-1A4A-17DECCAB01C4}"/>
              </a:ext>
            </a:extLst>
          </p:cNvPr>
          <p:cNvCxnSpPr>
            <a:cxnSpLocks/>
          </p:cNvCxnSpPr>
          <p:nvPr/>
        </p:nvCxnSpPr>
        <p:spPr>
          <a:xfrm rot="10800000">
            <a:off x="1951799" y="5140842"/>
            <a:ext cx="2846847" cy="738045"/>
          </a:xfrm>
          <a:prstGeom prst="bentConnector3">
            <a:avLst>
              <a:gd name="adj1" fmla="val 100015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pole tekstowe 80">
            <a:extLst>
              <a:ext uri="{FF2B5EF4-FFF2-40B4-BE49-F238E27FC236}">
                <a16:creationId xmlns:a16="http://schemas.microsoft.com/office/drawing/2014/main" id="{F4945143-481B-83BB-7DCA-B89451138FAB}"/>
              </a:ext>
            </a:extLst>
          </p:cNvPr>
          <p:cNvSpPr txBox="1"/>
          <p:nvPr/>
        </p:nvSpPr>
        <p:spPr>
          <a:xfrm>
            <a:off x="5665018" y="5997653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git </a:t>
            </a:r>
            <a:r>
              <a:rPr lang="pl-PL" b="1" dirty="0" err="1"/>
              <a:t>pull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121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BB549-51EE-945F-CB20-E552ED2B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numeru slajdu 2">
            <a:extLst>
              <a:ext uri="{FF2B5EF4-FFF2-40B4-BE49-F238E27FC236}">
                <a16:creationId xmlns:a16="http://schemas.microsoft.com/office/drawing/2014/main" id="{8686EF80-20CE-392D-FC8A-CDA2DD6B1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01F0AAD-752D-3E08-FA10-0D57E00B0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82563"/>
            <a:ext cx="10671175" cy="822325"/>
          </a:xfrm>
        </p:spPr>
        <p:txBody>
          <a:bodyPr/>
          <a:lstStyle/>
          <a:p>
            <a:pPr algn="ctr"/>
            <a:r>
              <a:rPr lang="pl-PL" sz="3600" dirty="0"/>
              <a:t>Managing Material with Git – Primer (II)</a:t>
            </a:r>
            <a:endParaRPr lang="en-US" sz="3600" dirty="0"/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9AAD40E1-DEEF-D6C4-05D7-DC94A0FE5132}"/>
              </a:ext>
            </a:extLst>
          </p:cNvPr>
          <p:cNvSpPr/>
          <p:nvPr/>
        </p:nvSpPr>
        <p:spPr>
          <a:xfrm>
            <a:off x="576943" y="1110343"/>
            <a:ext cx="11038114" cy="491163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E9AB4EE5-D1F2-E092-0B0F-5D2D357A76CD}"/>
              </a:ext>
            </a:extLst>
          </p:cNvPr>
          <p:cNvSpPr/>
          <p:nvPr/>
        </p:nvSpPr>
        <p:spPr>
          <a:xfrm>
            <a:off x="768350" y="1227909"/>
            <a:ext cx="2741024" cy="4676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rostokąt 13">
            <a:extLst>
              <a:ext uri="{FF2B5EF4-FFF2-40B4-BE49-F238E27FC236}">
                <a16:creationId xmlns:a16="http://schemas.microsoft.com/office/drawing/2014/main" id="{62ED1E0C-FCF2-2808-B0EB-7CB379734958}"/>
              </a:ext>
            </a:extLst>
          </p:cNvPr>
          <p:cNvSpPr/>
          <p:nvPr/>
        </p:nvSpPr>
        <p:spPr>
          <a:xfrm>
            <a:off x="3748859" y="1227909"/>
            <a:ext cx="2270941" cy="4676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B989C2FA-6F18-88CA-5E3F-2C552DD01961}"/>
              </a:ext>
            </a:extLst>
          </p:cNvPr>
          <p:cNvSpPr/>
          <p:nvPr/>
        </p:nvSpPr>
        <p:spPr>
          <a:xfrm>
            <a:off x="6211208" y="1227909"/>
            <a:ext cx="2153556" cy="4676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Prostokąt 15">
            <a:extLst>
              <a:ext uri="{FF2B5EF4-FFF2-40B4-BE49-F238E27FC236}">
                <a16:creationId xmlns:a16="http://schemas.microsoft.com/office/drawing/2014/main" id="{23FBBF95-DB16-DA7D-DB7C-2342BB42CA15}"/>
              </a:ext>
            </a:extLst>
          </p:cNvPr>
          <p:cNvSpPr/>
          <p:nvPr/>
        </p:nvSpPr>
        <p:spPr>
          <a:xfrm>
            <a:off x="8556171" y="1227909"/>
            <a:ext cx="2867479" cy="4676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FA86DB00-61C3-E958-91CA-F51A3892C71A}"/>
              </a:ext>
            </a:extLst>
          </p:cNvPr>
          <p:cNvSpPr txBox="1"/>
          <p:nvPr/>
        </p:nvSpPr>
        <p:spPr>
          <a:xfrm>
            <a:off x="1184057" y="1227909"/>
            <a:ext cx="1892989" cy="36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err="1"/>
              <a:t>feature</a:t>
            </a:r>
            <a:r>
              <a:rPr lang="pl-PL" b="1" dirty="0"/>
              <a:t>/a </a:t>
            </a:r>
            <a:r>
              <a:rPr lang="pl-PL" b="1" dirty="0" err="1"/>
              <a:t>branch</a:t>
            </a:r>
            <a:endParaRPr lang="en-US" b="1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810A09E-F9EB-5441-EEAE-4D7DB990DA73}"/>
              </a:ext>
            </a:extLst>
          </p:cNvPr>
          <p:cNvSpPr txBox="1">
            <a:spLocks/>
          </p:cNvSpPr>
          <p:nvPr/>
        </p:nvSpPr>
        <p:spPr>
          <a:xfrm>
            <a:off x="645205" y="5728380"/>
            <a:ext cx="10671175" cy="82232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2400" b="1" i="0" kern="120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pPr algn="ctr"/>
            <a:r>
              <a:rPr lang="pl-PL" sz="36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Merge</a:t>
            </a:r>
            <a:r>
              <a:rPr lang="pl-PL" sz="3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Request</a:t>
            </a:r>
            <a:endParaRPr lang="en-US" sz="36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6295B73D-F809-0F8B-E79F-1366653A5903}"/>
              </a:ext>
            </a:extLst>
          </p:cNvPr>
          <p:cNvSpPr txBox="1"/>
          <p:nvPr/>
        </p:nvSpPr>
        <p:spPr>
          <a:xfrm>
            <a:off x="3937833" y="1227909"/>
            <a:ext cx="1892989" cy="36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 err="1"/>
              <a:t>main</a:t>
            </a:r>
            <a:endParaRPr lang="en-US" b="1" dirty="0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9C9B9C3C-47B9-C5A3-325E-7C9EBC0BF5A1}"/>
              </a:ext>
            </a:extLst>
          </p:cNvPr>
          <p:cNvSpPr txBox="1"/>
          <p:nvPr/>
        </p:nvSpPr>
        <p:spPr>
          <a:xfrm>
            <a:off x="6259285" y="1227909"/>
            <a:ext cx="1892989" cy="36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/>
              <a:t>commit </a:t>
            </a:r>
            <a:r>
              <a:rPr lang="pl-PL" b="1" dirty="0" err="1"/>
              <a:t>hash</a:t>
            </a:r>
            <a:endParaRPr lang="en-US" b="1" dirty="0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0658F908-884F-5392-E814-E8CEC754F2E8}"/>
              </a:ext>
            </a:extLst>
          </p:cNvPr>
          <p:cNvSpPr txBox="1"/>
          <p:nvPr/>
        </p:nvSpPr>
        <p:spPr>
          <a:xfrm>
            <a:off x="9043415" y="1227909"/>
            <a:ext cx="1892989" cy="369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/>
              <a:t>commit </a:t>
            </a:r>
            <a:r>
              <a:rPr lang="pl-PL" b="1" dirty="0" err="1"/>
              <a:t>message</a:t>
            </a:r>
            <a:endParaRPr lang="en-US" b="1" dirty="0"/>
          </a:p>
        </p:txBody>
      </p:sp>
      <p:sp>
        <p:nvSpPr>
          <p:cNvPr id="25" name="Owal 24">
            <a:extLst>
              <a:ext uri="{FF2B5EF4-FFF2-40B4-BE49-F238E27FC236}">
                <a16:creationId xmlns:a16="http://schemas.microsoft.com/office/drawing/2014/main" id="{5D51EC2D-01F9-B474-E082-A7E7C2E334D2}"/>
              </a:ext>
            </a:extLst>
          </p:cNvPr>
          <p:cNvSpPr/>
          <p:nvPr/>
        </p:nvSpPr>
        <p:spPr>
          <a:xfrm>
            <a:off x="4701447" y="2395877"/>
            <a:ext cx="365760" cy="36902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50F56708-97B2-B6EA-9FEE-55804E06121F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4884327" y="1596934"/>
            <a:ext cx="0" cy="7989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wal 27">
            <a:extLst>
              <a:ext uri="{FF2B5EF4-FFF2-40B4-BE49-F238E27FC236}">
                <a16:creationId xmlns:a16="http://schemas.microsoft.com/office/drawing/2014/main" id="{FF16885D-0644-BAB8-6F98-2E7555D97CAF}"/>
              </a:ext>
            </a:extLst>
          </p:cNvPr>
          <p:cNvSpPr/>
          <p:nvPr/>
        </p:nvSpPr>
        <p:spPr>
          <a:xfrm>
            <a:off x="4701447" y="5015139"/>
            <a:ext cx="365760" cy="369026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AF6F078D-A527-653D-4C40-FA1F56C3A497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4884327" y="2764903"/>
            <a:ext cx="0" cy="22502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wal 30">
            <a:extLst>
              <a:ext uri="{FF2B5EF4-FFF2-40B4-BE49-F238E27FC236}">
                <a16:creationId xmlns:a16="http://schemas.microsoft.com/office/drawing/2014/main" id="{3B09DD3F-B6EC-BBD6-DED7-8C1542B62D9A}"/>
              </a:ext>
            </a:extLst>
          </p:cNvPr>
          <p:cNvSpPr/>
          <p:nvPr/>
        </p:nvSpPr>
        <p:spPr>
          <a:xfrm>
            <a:off x="2586080" y="2865823"/>
            <a:ext cx="365760" cy="3690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wal 31">
            <a:extLst>
              <a:ext uri="{FF2B5EF4-FFF2-40B4-BE49-F238E27FC236}">
                <a16:creationId xmlns:a16="http://schemas.microsoft.com/office/drawing/2014/main" id="{58D653DF-6D39-AC5B-BEDE-D770EDED3AC4}"/>
              </a:ext>
            </a:extLst>
          </p:cNvPr>
          <p:cNvSpPr/>
          <p:nvPr/>
        </p:nvSpPr>
        <p:spPr>
          <a:xfrm>
            <a:off x="2579868" y="4035787"/>
            <a:ext cx="365760" cy="369026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8BD0BEDA-E889-9D26-88A2-13DBC99C0485}"/>
              </a:ext>
            </a:extLst>
          </p:cNvPr>
          <p:cNvCxnSpPr>
            <a:cxnSpLocks/>
          </p:cNvCxnSpPr>
          <p:nvPr/>
        </p:nvCxnSpPr>
        <p:spPr>
          <a:xfrm flipH="1">
            <a:off x="3077046" y="2581023"/>
            <a:ext cx="1562818" cy="373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2EEAF23C-1D45-16EA-F170-50E01B05B15A}"/>
              </a:ext>
            </a:extLst>
          </p:cNvPr>
          <p:cNvCxnSpPr>
            <a:cxnSpLocks/>
          </p:cNvCxnSpPr>
          <p:nvPr/>
        </p:nvCxnSpPr>
        <p:spPr>
          <a:xfrm>
            <a:off x="2763790" y="3331029"/>
            <a:ext cx="0" cy="6008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Łącznik prosty ze strzałką 43">
            <a:extLst>
              <a:ext uri="{FF2B5EF4-FFF2-40B4-BE49-F238E27FC236}">
                <a16:creationId xmlns:a16="http://schemas.microsoft.com/office/drawing/2014/main" id="{0DB31FA5-9DEB-CE0C-E683-D59B21C9F5D2}"/>
              </a:ext>
            </a:extLst>
          </p:cNvPr>
          <p:cNvCxnSpPr>
            <a:cxnSpLocks/>
          </p:cNvCxnSpPr>
          <p:nvPr/>
        </p:nvCxnSpPr>
        <p:spPr>
          <a:xfrm>
            <a:off x="3077046" y="4424888"/>
            <a:ext cx="1492138" cy="7114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Prostokąt 47">
            <a:extLst>
              <a:ext uri="{FF2B5EF4-FFF2-40B4-BE49-F238E27FC236}">
                <a16:creationId xmlns:a16="http://schemas.microsoft.com/office/drawing/2014/main" id="{3D8E7E83-0B68-554D-B223-75B7108858BA}"/>
              </a:ext>
            </a:extLst>
          </p:cNvPr>
          <p:cNvSpPr/>
          <p:nvPr/>
        </p:nvSpPr>
        <p:spPr>
          <a:xfrm>
            <a:off x="1054011" y="4115064"/>
            <a:ext cx="1253669" cy="5120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solidFill>
                  <a:schemeClr val="tx1"/>
                </a:solidFill>
              </a:rPr>
              <a:t>HEAD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9" name="pole tekstowe 48">
            <a:extLst>
              <a:ext uri="{FF2B5EF4-FFF2-40B4-BE49-F238E27FC236}">
                <a16:creationId xmlns:a16="http://schemas.microsoft.com/office/drawing/2014/main" id="{36418591-9729-E230-AF00-90C33022E897}"/>
              </a:ext>
            </a:extLst>
          </p:cNvPr>
          <p:cNvSpPr txBox="1"/>
          <p:nvPr/>
        </p:nvSpPr>
        <p:spPr>
          <a:xfrm>
            <a:off x="6683519" y="2395571"/>
            <a:ext cx="120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82a59f93</a:t>
            </a:r>
            <a:endParaRPr lang="en-US" b="1" dirty="0"/>
          </a:p>
        </p:txBody>
      </p:sp>
      <p:sp>
        <p:nvSpPr>
          <p:cNvPr id="53" name="pole tekstowe 52">
            <a:extLst>
              <a:ext uri="{FF2B5EF4-FFF2-40B4-BE49-F238E27FC236}">
                <a16:creationId xmlns:a16="http://schemas.microsoft.com/office/drawing/2014/main" id="{76B06648-9AD5-BB6C-2228-F62BB35536E6}"/>
              </a:ext>
            </a:extLst>
          </p:cNvPr>
          <p:cNvSpPr txBox="1"/>
          <p:nvPr/>
        </p:nvSpPr>
        <p:spPr>
          <a:xfrm>
            <a:off x="6683518" y="3159484"/>
            <a:ext cx="120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e91c50ab</a:t>
            </a:r>
            <a:endParaRPr lang="en-US" b="1" dirty="0"/>
          </a:p>
        </p:txBody>
      </p:sp>
      <p:sp>
        <p:nvSpPr>
          <p:cNvPr id="55" name="pole tekstowe 54">
            <a:extLst>
              <a:ext uri="{FF2B5EF4-FFF2-40B4-BE49-F238E27FC236}">
                <a16:creationId xmlns:a16="http://schemas.microsoft.com/office/drawing/2014/main" id="{ED4870AE-D5E4-09ED-B13A-B5D800C37C34}"/>
              </a:ext>
            </a:extLst>
          </p:cNvPr>
          <p:cNvSpPr txBox="1"/>
          <p:nvPr/>
        </p:nvSpPr>
        <p:spPr>
          <a:xfrm>
            <a:off x="6683519" y="4001773"/>
            <a:ext cx="120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761ea91</a:t>
            </a:r>
            <a:endParaRPr lang="en-US" b="1" dirty="0"/>
          </a:p>
        </p:txBody>
      </p:sp>
      <p:sp>
        <p:nvSpPr>
          <p:cNvPr id="56" name="pole tekstowe 55">
            <a:extLst>
              <a:ext uri="{FF2B5EF4-FFF2-40B4-BE49-F238E27FC236}">
                <a16:creationId xmlns:a16="http://schemas.microsoft.com/office/drawing/2014/main" id="{5310B372-7A9B-D8E0-34D9-A3334990AB11}"/>
              </a:ext>
            </a:extLst>
          </p:cNvPr>
          <p:cNvSpPr txBox="1"/>
          <p:nvPr/>
        </p:nvSpPr>
        <p:spPr>
          <a:xfrm>
            <a:off x="6683519" y="5083548"/>
            <a:ext cx="120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e018c8d9</a:t>
            </a:r>
            <a:endParaRPr lang="en-US" b="1" dirty="0"/>
          </a:p>
        </p:txBody>
      </p:sp>
      <p:sp>
        <p:nvSpPr>
          <p:cNvPr id="57" name="pole tekstowe 56">
            <a:extLst>
              <a:ext uri="{FF2B5EF4-FFF2-40B4-BE49-F238E27FC236}">
                <a16:creationId xmlns:a16="http://schemas.microsoft.com/office/drawing/2014/main" id="{C83C43B7-E8AA-C8EA-0C4B-84F569F4EF5D}"/>
              </a:ext>
            </a:extLst>
          </p:cNvPr>
          <p:cNvSpPr txBox="1"/>
          <p:nvPr/>
        </p:nvSpPr>
        <p:spPr>
          <a:xfrm>
            <a:off x="9218417" y="3146363"/>
            <a:ext cx="1717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 err="1"/>
              <a:t>Adding</a:t>
            </a:r>
            <a:r>
              <a:rPr lang="pl-PL" b="1" dirty="0"/>
              <a:t> </a:t>
            </a:r>
            <a:r>
              <a:rPr lang="pl-PL" b="1" dirty="0" err="1"/>
              <a:t>feature</a:t>
            </a:r>
            <a:endParaRPr lang="en-US" b="1" dirty="0"/>
          </a:p>
        </p:txBody>
      </p:sp>
      <p:sp>
        <p:nvSpPr>
          <p:cNvPr id="58" name="pole tekstowe 57">
            <a:extLst>
              <a:ext uri="{FF2B5EF4-FFF2-40B4-BE49-F238E27FC236}">
                <a16:creationId xmlns:a16="http://schemas.microsoft.com/office/drawing/2014/main" id="{2BE9116C-88EE-EBAB-694A-21390DE11A28}"/>
              </a:ext>
            </a:extLst>
          </p:cNvPr>
          <p:cNvSpPr txBox="1"/>
          <p:nvPr/>
        </p:nvSpPr>
        <p:spPr>
          <a:xfrm>
            <a:off x="9130915" y="3835283"/>
            <a:ext cx="17179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 err="1"/>
              <a:t>Updating</a:t>
            </a:r>
            <a:r>
              <a:rPr lang="pl-PL" b="1" dirty="0"/>
              <a:t> </a:t>
            </a:r>
            <a:r>
              <a:rPr lang="pl-PL" b="1" dirty="0" err="1"/>
              <a:t>dependencies</a:t>
            </a:r>
            <a:endParaRPr lang="en-US" b="1" dirty="0"/>
          </a:p>
        </p:txBody>
      </p:sp>
      <p:sp>
        <p:nvSpPr>
          <p:cNvPr id="60" name="pole tekstowe 59">
            <a:extLst>
              <a:ext uri="{FF2B5EF4-FFF2-40B4-BE49-F238E27FC236}">
                <a16:creationId xmlns:a16="http://schemas.microsoft.com/office/drawing/2014/main" id="{F60A078E-7DFE-0A72-D2F9-45B3C9CAD127}"/>
              </a:ext>
            </a:extLst>
          </p:cNvPr>
          <p:cNvSpPr txBox="1"/>
          <p:nvPr/>
        </p:nvSpPr>
        <p:spPr>
          <a:xfrm>
            <a:off x="8957640" y="4909941"/>
            <a:ext cx="2064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b="1" dirty="0" err="1"/>
              <a:t>Merging</a:t>
            </a:r>
            <a:r>
              <a:rPr lang="pl-PL" b="1" dirty="0"/>
              <a:t> </a:t>
            </a:r>
            <a:r>
              <a:rPr lang="pl-PL" b="1" dirty="0" err="1"/>
              <a:t>feature</a:t>
            </a:r>
            <a:r>
              <a:rPr lang="pl-PL" b="1" dirty="0"/>
              <a:t>/a </a:t>
            </a:r>
            <a:r>
              <a:rPr lang="pl-PL" b="1" dirty="0" err="1"/>
              <a:t>into</a:t>
            </a:r>
            <a:r>
              <a:rPr lang="pl-PL" b="1" dirty="0"/>
              <a:t> </a:t>
            </a:r>
            <a:r>
              <a:rPr lang="pl-PL" b="1" dirty="0" err="1"/>
              <a:t>main</a:t>
            </a:r>
            <a:endParaRPr lang="en-US" b="1" dirty="0"/>
          </a:p>
        </p:txBody>
      </p:sp>
      <p:sp>
        <p:nvSpPr>
          <p:cNvPr id="61" name="Prostokąt 60">
            <a:extLst>
              <a:ext uri="{FF2B5EF4-FFF2-40B4-BE49-F238E27FC236}">
                <a16:creationId xmlns:a16="http://schemas.microsoft.com/office/drawing/2014/main" id="{1AC3808B-1D73-A83C-FF8D-10AF00476469}"/>
              </a:ext>
            </a:extLst>
          </p:cNvPr>
          <p:cNvSpPr/>
          <p:nvPr/>
        </p:nvSpPr>
        <p:spPr>
          <a:xfrm>
            <a:off x="2761903" y="5012172"/>
            <a:ext cx="1467232" cy="6179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 err="1">
                <a:solidFill>
                  <a:schemeClr val="tx1"/>
                </a:solidFill>
              </a:rPr>
              <a:t>Resolve</a:t>
            </a:r>
            <a:r>
              <a:rPr lang="pl-PL" b="1" dirty="0">
                <a:solidFill>
                  <a:schemeClr val="tx1"/>
                </a:solidFill>
              </a:rPr>
              <a:t> </a:t>
            </a:r>
            <a:r>
              <a:rPr lang="pl-PL" b="1" dirty="0" err="1">
                <a:solidFill>
                  <a:schemeClr val="tx1"/>
                </a:solidFill>
              </a:rPr>
              <a:t>conflicts</a:t>
            </a:r>
            <a:r>
              <a:rPr lang="pl-PL" b="1" dirty="0">
                <a:solidFill>
                  <a:schemeClr val="tx1"/>
                </a:solidFill>
              </a:rPr>
              <a:t> 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12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094E5A8D-D8A1-8E27-8AA8-A89E3642F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C7CE46B-1F12-8025-CA7B-515079FCB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412" y="144568"/>
            <a:ext cx="10671175" cy="558353"/>
          </a:xfrm>
        </p:spPr>
        <p:txBody>
          <a:bodyPr/>
          <a:lstStyle/>
          <a:p>
            <a:pPr algn="ctr"/>
            <a:r>
              <a:rPr lang="pl-PL" sz="3600" dirty="0"/>
              <a:t>Our Automation - summary</a:t>
            </a:r>
            <a:endParaRPr lang="en-US" sz="3600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49C39C6E-296A-CB84-7C10-7FE9D54F53B7}"/>
              </a:ext>
            </a:extLst>
          </p:cNvPr>
          <p:cNvSpPr txBox="1"/>
          <p:nvPr/>
        </p:nvSpPr>
        <p:spPr>
          <a:xfrm>
            <a:off x="238515" y="2265366"/>
            <a:ext cx="30897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/>
              <a:t>Ansible roles (63 roles)</a:t>
            </a:r>
            <a:endParaRPr lang="en-US" sz="2400" b="1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21E2FCC-E95E-E939-712A-2C21AE548D58}"/>
              </a:ext>
            </a:extLst>
          </p:cNvPr>
          <p:cNvSpPr txBox="1"/>
          <p:nvPr/>
        </p:nvSpPr>
        <p:spPr>
          <a:xfrm>
            <a:off x="4162695" y="1191974"/>
            <a:ext cx="206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supporting roles</a:t>
            </a:r>
            <a:endParaRPr lang="en-US" b="1" dirty="0"/>
          </a:p>
        </p:txBody>
      </p:sp>
      <p:sp>
        <p:nvSpPr>
          <p:cNvPr id="9" name="Nawias klamrowy otwierający 8">
            <a:extLst>
              <a:ext uri="{FF2B5EF4-FFF2-40B4-BE49-F238E27FC236}">
                <a16:creationId xmlns:a16="http://schemas.microsoft.com/office/drawing/2014/main" id="{E345F6AC-BE47-74C8-626E-74D302F19DEB}"/>
              </a:ext>
            </a:extLst>
          </p:cNvPr>
          <p:cNvSpPr/>
          <p:nvPr/>
        </p:nvSpPr>
        <p:spPr>
          <a:xfrm>
            <a:off x="3557023" y="1096029"/>
            <a:ext cx="822961" cy="2770577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29C99282-A65D-6CA3-09C5-63BDC889B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626" y="1081410"/>
            <a:ext cx="2067213" cy="323895"/>
          </a:xfrm>
          <a:prstGeom prst="rect">
            <a:avLst/>
          </a:prstGeom>
        </p:spPr>
      </p:pic>
      <p:pic>
        <p:nvPicPr>
          <p:cNvPr id="17" name="Obraz 16">
            <a:extLst>
              <a:ext uri="{FF2B5EF4-FFF2-40B4-BE49-F238E27FC236}">
                <a16:creationId xmlns:a16="http://schemas.microsoft.com/office/drawing/2014/main" id="{4CF0B80A-4B96-A24E-EAF4-1999CA7D8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1067" y="1490957"/>
            <a:ext cx="1733792" cy="409632"/>
          </a:xfrm>
          <a:prstGeom prst="rect">
            <a:avLst/>
          </a:prstGeom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A31ABB28-953B-BEF7-4F31-F600575F0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269" y="2002798"/>
            <a:ext cx="2829320" cy="371526"/>
          </a:xfrm>
          <a:prstGeom prst="rect">
            <a:avLst/>
          </a:prstGeom>
        </p:spPr>
      </p:pic>
      <p:sp>
        <p:nvSpPr>
          <p:cNvPr id="20" name="pole tekstowe 19">
            <a:extLst>
              <a:ext uri="{FF2B5EF4-FFF2-40B4-BE49-F238E27FC236}">
                <a16:creationId xmlns:a16="http://schemas.microsoft.com/office/drawing/2014/main" id="{27C30276-9DC3-5407-C79E-A6258428ECC6}"/>
              </a:ext>
            </a:extLst>
          </p:cNvPr>
          <p:cNvSpPr txBox="1"/>
          <p:nvPr/>
        </p:nvSpPr>
        <p:spPr>
          <a:xfrm>
            <a:off x="4162695" y="3301552"/>
            <a:ext cx="206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b="1" dirty="0"/>
              <a:t>leading roles</a:t>
            </a:r>
            <a:endParaRPr lang="en-US" b="1" dirty="0"/>
          </a:p>
        </p:txBody>
      </p:sp>
      <p:pic>
        <p:nvPicPr>
          <p:cNvPr id="22" name="Obraz 21">
            <a:extLst>
              <a:ext uri="{FF2B5EF4-FFF2-40B4-BE49-F238E27FC236}">
                <a16:creationId xmlns:a16="http://schemas.microsoft.com/office/drawing/2014/main" id="{64DBAB2B-5A46-1E05-1EDC-F579C1328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1067" y="2638349"/>
            <a:ext cx="2067213" cy="371527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AFE377EA-8474-5D23-A775-1D14714F88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67" y="3104102"/>
            <a:ext cx="2181529" cy="419158"/>
          </a:xfrm>
          <a:prstGeom prst="rect">
            <a:avLst/>
          </a:prstGeom>
        </p:spPr>
      </p:pic>
      <p:pic>
        <p:nvPicPr>
          <p:cNvPr id="26" name="Obraz 25">
            <a:extLst>
              <a:ext uri="{FF2B5EF4-FFF2-40B4-BE49-F238E27FC236}">
                <a16:creationId xmlns:a16="http://schemas.microsoft.com/office/drawing/2014/main" id="{999396FB-B958-0361-DE9C-35F87001C3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1067" y="3617486"/>
            <a:ext cx="2305372" cy="342948"/>
          </a:xfrm>
          <a:prstGeom prst="rect">
            <a:avLst/>
          </a:prstGeom>
        </p:spPr>
      </p:pic>
      <p:pic>
        <p:nvPicPr>
          <p:cNvPr id="28" name="Obraz 27">
            <a:extLst>
              <a:ext uri="{FF2B5EF4-FFF2-40B4-BE49-F238E27FC236}">
                <a16:creationId xmlns:a16="http://schemas.microsoft.com/office/drawing/2014/main" id="{6F51D171-1A26-560F-A585-7C6981C1A1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1067" y="4020984"/>
            <a:ext cx="2257740" cy="390580"/>
          </a:xfrm>
          <a:prstGeom prst="rect">
            <a:avLst/>
          </a:prstGeom>
        </p:spPr>
      </p:pic>
      <p:pic>
        <p:nvPicPr>
          <p:cNvPr id="30" name="Obraz 29">
            <a:extLst>
              <a:ext uri="{FF2B5EF4-FFF2-40B4-BE49-F238E27FC236}">
                <a16:creationId xmlns:a16="http://schemas.microsoft.com/office/drawing/2014/main" id="{B26CC2E3-525C-7886-6F48-8997266DD2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66439" y="2638349"/>
            <a:ext cx="2572109" cy="381053"/>
          </a:xfrm>
          <a:prstGeom prst="rect">
            <a:avLst/>
          </a:prstGeom>
        </p:spPr>
      </p:pic>
      <p:pic>
        <p:nvPicPr>
          <p:cNvPr id="32" name="Obraz 31">
            <a:extLst>
              <a:ext uri="{FF2B5EF4-FFF2-40B4-BE49-F238E27FC236}">
                <a16:creationId xmlns:a16="http://schemas.microsoft.com/office/drawing/2014/main" id="{2CA18659-9FD4-550E-922C-D814317DD52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6439" y="3104101"/>
            <a:ext cx="2429214" cy="428685"/>
          </a:xfrm>
          <a:prstGeom prst="rect">
            <a:avLst/>
          </a:prstGeom>
        </p:spPr>
      </p:pic>
      <p:pic>
        <p:nvPicPr>
          <p:cNvPr id="34" name="Obraz 33">
            <a:extLst>
              <a:ext uri="{FF2B5EF4-FFF2-40B4-BE49-F238E27FC236}">
                <a16:creationId xmlns:a16="http://schemas.microsoft.com/office/drawing/2014/main" id="{5B935DB5-06B2-65D6-97E7-4094A60713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5044" y="3617485"/>
            <a:ext cx="2172003" cy="371527"/>
          </a:xfrm>
          <a:prstGeom prst="rect">
            <a:avLst/>
          </a:prstGeom>
        </p:spPr>
      </p:pic>
      <p:sp>
        <p:nvSpPr>
          <p:cNvPr id="35" name="pole tekstowe 34">
            <a:extLst>
              <a:ext uri="{FF2B5EF4-FFF2-40B4-BE49-F238E27FC236}">
                <a16:creationId xmlns:a16="http://schemas.microsoft.com/office/drawing/2014/main" id="{851D8930-CCB7-2CA1-9558-37F47D9E42F7}"/>
              </a:ext>
            </a:extLst>
          </p:cNvPr>
          <p:cNvSpPr txBox="1"/>
          <p:nvPr/>
        </p:nvSpPr>
        <p:spPr>
          <a:xfrm>
            <a:off x="238515" y="5281945"/>
            <a:ext cx="6149601" cy="496684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l-PL" sz="2400" b="1" dirty="0"/>
              <a:t>Ansible orchestration (20 pipelines/playbooks)</a:t>
            </a:r>
            <a:endParaRPr lang="en-US" sz="2400" b="1" dirty="0"/>
          </a:p>
        </p:txBody>
      </p:sp>
      <p:pic>
        <p:nvPicPr>
          <p:cNvPr id="37" name="Obraz 36">
            <a:extLst>
              <a:ext uri="{FF2B5EF4-FFF2-40B4-BE49-F238E27FC236}">
                <a16:creationId xmlns:a16="http://schemas.microsoft.com/office/drawing/2014/main" id="{08735D5D-147B-AC93-475E-FE4B9FA2670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2471" y="4766846"/>
            <a:ext cx="2238687" cy="409632"/>
          </a:xfrm>
          <a:prstGeom prst="rect">
            <a:avLst/>
          </a:prstGeom>
        </p:spPr>
      </p:pic>
      <p:pic>
        <p:nvPicPr>
          <p:cNvPr id="39" name="Obraz 38">
            <a:extLst>
              <a:ext uri="{FF2B5EF4-FFF2-40B4-BE49-F238E27FC236}">
                <a16:creationId xmlns:a16="http://schemas.microsoft.com/office/drawing/2014/main" id="{60A39550-4D26-EA45-5DDF-BCF3F700CA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92471" y="5255044"/>
            <a:ext cx="2600688" cy="390580"/>
          </a:xfrm>
          <a:prstGeom prst="rect">
            <a:avLst/>
          </a:prstGeom>
        </p:spPr>
      </p:pic>
      <p:pic>
        <p:nvPicPr>
          <p:cNvPr id="41" name="Obraz 40">
            <a:extLst>
              <a:ext uri="{FF2B5EF4-FFF2-40B4-BE49-F238E27FC236}">
                <a16:creationId xmlns:a16="http://schemas.microsoft.com/office/drawing/2014/main" id="{B3D75C91-9A1C-70AF-F62A-6CB7230B964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75091" y="4741660"/>
            <a:ext cx="2410161" cy="390580"/>
          </a:xfrm>
          <a:prstGeom prst="rect">
            <a:avLst/>
          </a:prstGeom>
        </p:spPr>
      </p:pic>
      <p:pic>
        <p:nvPicPr>
          <p:cNvPr id="43" name="Obraz 42">
            <a:extLst>
              <a:ext uri="{FF2B5EF4-FFF2-40B4-BE49-F238E27FC236}">
                <a16:creationId xmlns:a16="http://schemas.microsoft.com/office/drawing/2014/main" id="{1D38BE0F-E29A-E80E-2A8A-A59DF8DEA65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52854" y="5247223"/>
            <a:ext cx="2724530" cy="381053"/>
          </a:xfrm>
          <a:prstGeom prst="rect">
            <a:avLst/>
          </a:prstGeom>
        </p:spPr>
      </p:pic>
      <p:pic>
        <p:nvPicPr>
          <p:cNvPr id="47" name="Obraz 46">
            <a:extLst>
              <a:ext uri="{FF2B5EF4-FFF2-40B4-BE49-F238E27FC236}">
                <a16:creationId xmlns:a16="http://schemas.microsoft.com/office/drawing/2014/main" id="{06578A0E-4807-9B04-DF83-E2B06899C7A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8116" y="5806061"/>
            <a:ext cx="2581635" cy="390580"/>
          </a:xfrm>
          <a:prstGeom prst="rect">
            <a:avLst/>
          </a:prstGeom>
        </p:spPr>
      </p:pic>
      <p:pic>
        <p:nvPicPr>
          <p:cNvPr id="49" name="Obraz 48">
            <a:extLst>
              <a:ext uri="{FF2B5EF4-FFF2-40B4-BE49-F238E27FC236}">
                <a16:creationId xmlns:a16="http://schemas.microsoft.com/office/drawing/2014/main" id="{7B70855E-9319-3273-5548-EE8C3B90718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51589" y="5758430"/>
            <a:ext cx="2534004" cy="438211"/>
          </a:xfrm>
          <a:prstGeom prst="rect">
            <a:avLst/>
          </a:prstGeom>
        </p:spPr>
      </p:pic>
      <p:sp>
        <p:nvSpPr>
          <p:cNvPr id="50" name="pole tekstowe 49">
            <a:extLst>
              <a:ext uri="{FF2B5EF4-FFF2-40B4-BE49-F238E27FC236}">
                <a16:creationId xmlns:a16="http://schemas.microsoft.com/office/drawing/2014/main" id="{6AB27977-1142-DEE5-F983-FA0DE5D4E902}"/>
              </a:ext>
            </a:extLst>
          </p:cNvPr>
          <p:cNvSpPr txBox="1"/>
          <p:nvPr/>
        </p:nvSpPr>
        <p:spPr>
          <a:xfrm>
            <a:off x="238515" y="5806061"/>
            <a:ext cx="5539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/>
              <a:t>Regression tests (1 </a:t>
            </a:r>
            <a:r>
              <a:rPr lang="pl-PL" sz="2400" b="1" dirty="0" err="1"/>
              <a:t>multipipeline</a:t>
            </a:r>
            <a:r>
              <a:rPr lang="pl-PL" sz="2400" b="1" dirty="0"/>
              <a:t> pipeline)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284943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3CF120-7A82-97F9-F4C2-729018D01343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3C537497-EE2B-6743-7A55-828462ED7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29" y="0"/>
            <a:ext cx="7328886" cy="822960"/>
          </a:xfrm>
        </p:spPr>
        <p:txBody>
          <a:bodyPr/>
          <a:lstStyle/>
          <a:p>
            <a:r>
              <a:rPr lang="pl-PL" dirty="0"/>
              <a:t>Example - Oracle IaaS Offering</a:t>
            </a:r>
            <a:endParaRPr lang="en-US" dirty="0"/>
          </a:p>
        </p:txBody>
      </p:sp>
      <p:sp>
        <p:nvSpPr>
          <p:cNvPr id="9" name="Tytuł 6">
            <a:extLst>
              <a:ext uri="{FF2B5EF4-FFF2-40B4-BE49-F238E27FC236}">
                <a16:creationId xmlns:a16="http://schemas.microsoft.com/office/drawing/2014/main" id="{FD4015C8-DF75-98BB-0C16-FFA8225BE6E3}"/>
              </a:ext>
            </a:extLst>
          </p:cNvPr>
          <p:cNvSpPr txBox="1">
            <a:spLocks/>
          </p:cNvSpPr>
          <p:nvPr/>
        </p:nvSpPr>
        <p:spPr>
          <a:xfrm>
            <a:off x="345129" y="586182"/>
            <a:ext cx="6568625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Overview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D58A3462-32BB-48D4-15B1-CD784E78C6F2}"/>
              </a:ext>
            </a:extLst>
          </p:cNvPr>
          <p:cNvSpPr/>
          <p:nvPr/>
        </p:nvSpPr>
        <p:spPr>
          <a:xfrm>
            <a:off x="345130" y="1561807"/>
            <a:ext cx="1639788" cy="4451008"/>
          </a:xfrm>
          <a:prstGeom prst="roundRect">
            <a:avLst/>
          </a:prstGeom>
          <a:solidFill>
            <a:srgbClr val="AEA8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rostokąt: zaokrąglone rogi u góry 10">
            <a:extLst>
              <a:ext uri="{FF2B5EF4-FFF2-40B4-BE49-F238E27FC236}">
                <a16:creationId xmlns:a16="http://schemas.microsoft.com/office/drawing/2014/main" id="{9773A888-8BD5-C67B-66BC-9684DE4EB6B9}"/>
              </a:ext>
            </a:extLst>
          </p:cNvPr>
          <p:cNvSpPr/>
          <p:nvPr/>
        </p:nvSpPr>
        <p:spPr>
          <a:xfrm>
            <a:off x="515649" y="1984917"/>
            <a:ext cx="1287596" cy="713678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Intended </a:t>
            </a:r>
          </a:p>
          <a:p>
            <a:pPr algn="ctr"/>
            <a:r>
              <a:rPr lang="pl-PL" sz="1400" dirty="0"/>
              <a:t>Use</a:t>
            </a:r>
            <a:endParaRPr lang="en-US" sz="1400" dirty="0"/>
          </a:p>
        </p:txBody>
      </p:sp>
      <p:sp>
        <p:nvSpPr>
          <p:cNvPr id="12" name="Prostokąt: zaokrąglone rogi u góry 11">
            <a:extLst>
              <a:ext uri="{FF2B5EF4-FFF2-40B4-BE49-F238E27FC236}">
                <a16:creationId xmlns:a16="http://schemas.microsoft.com/office/drawing/2014/main" id="{41F4E0EC-C8A6-9970-9978-C65CE337067E}"/>
              </a:ext>
            </a:extLst>
          </p:cNvPr>
          <p:cNvSpPr/>
          <p:nvPr/>
        </p:nvSpPr>
        <p:spPr>
          <a:xfrm>
            <a:off x="515649" y="2873297"/>
            <a:ext cx="1287596" cy="713678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What you Get</a:t>
            </a:r>
            <a:endParaRPr lang="en-US" sz="1400" dirty="0"/>
          </a:p>
        </p:txBody>
      </p:sp>
      <p:sp>
        <p:nvSpPr>
          <p:cNvPr id="13" name="Prostokąt: zaokrąglone rogi u góry 12">
            <a:extLst>
              <a:ext uri="{FF2B5EF4-FFF2-40B4-BE49-F238E27FC236}">
                <a16:creationId xmlns:a16="http://schemas.microsoft.com/office/drawing/2014/main" id="{0F8D8EF1-811F-95D7-5927-B54EBA296ECF}"/>
              </a:ext>
            </a:extLst>
          </p:cNvPr>
          <p:cNvSpPr/>
          <p:nvPr/>
        </p:nvSpPr>
        <p:spPr>
          <a:xfrm>
            <a:off x="515649" y="3914341"/>
            <a:ext cx="1287596" cy="1527453"/>
          </a:xfrm>
          <a:prstGeom prst="round2Same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dirty="0"/>
              <a:t>Highlights</a:t>
            </a:r>
            <a:endParaRPr lang="en-US" sz="1400" dirty="0"/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AAE76470-7A82-8898-A7C7-7F39AEB27F71}"/>
              </a:ext>
            </a:extLst>
          </p:cNvPr>
          <p:cNvSpPr/>
          <p:nvPr/>
        </p:nvSpPr>
        <p:spPr>
          <a:xfrm>
            <a:off x="6913754" y="1561807"/>
            <a:ext cx="4322957" cy="445100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rzałka: w prawo 14">
            <a:extLst>
              <a:ext uri="{FF2B5EF4-FFF2-40B4-BE49-F238E27FC236}">
                <a16:creationId xmlns:a16="http://schemas.microsoft.com/office/drawing/2014/main" id="{F4491A1A-C218-B813-1CA7-518F62CFD19A}"/>
              </a:ext>
            </a:extLst>
          </p:cNvPr>
          <p:cNvSpPr/>
          <p:nvPr/>
        </p:nvSpPr>
        <p:spPr>
          <a:xfrm>
            <a:off x="2564780" y="2881660"/>
            <a:ext cx="3904507" cy="141062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FE8257FB-B51C-21E1-A271-1AE716813C03}"/>
              </a:ext>
            </a:extLst>
          </p:cNvPr>
          <p:cNvSpPr txBox="1"/>
          <p:nvPr/>
        </p:nvSpPr>
        <p:spPr>
          <a:xfrm>
            <a:off x="7317988" y="1800251"/>
            <a:ext cx="3610207" cy="36933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INFRASTRUCTURE as a Service (IaaS)</a:t>
            </a:r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416825D-5F58-8522-C689-10A556326AA8}"/>
              </a:ext>
            </a:extLst>
          </p:cNvPr>
          <p:cNvSpPr txBox="1"/>
          <p:nvPr/>
        </p:nvSpPr>
        <p:spPr>
          <a:xfrm>
            <a:off x="7317986" y="2452175"/>
            <a:ext cx="3610207" cy="553998"/>
          </a:xfrm>
          <a:prstGeom prst="rect">
            <a:avLst/>
          </a:prstGeom>
          <a:solidFill>
            <a:srgbClr val="F0CC71"/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pl-PL" b="1" dirty="0"/>
              <a:t>Advanced Business Requirements</a:t>
            </a:r>
            <a:br>
              <a:rPr lang="pl-PL" dirty="0"/>
            </a:br>
            <a:r>
              <a:rPr lang="pl-PL" sz="1200" dirty="0"/>
              <a:t>Sandpit, Dev, Test, Production</a:t>
            </a:r>
            <a:endParaRPr lang="en-US" sz="1200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C84866B3-55C2-FF45-5113-8CF378E7BE44}"/>
              </a:ext>
            </a:extLst>
          </p:cNvPr>
          <p:cNvSpPr txBox="1"/>
          <p:nvPr/>
        </p:nvSpPr>
        <p:spPr>
          <a:xfrm>
            <a:off x="7317987" y="3293195"/>
            <a:ext cx="3610207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r>
              <a:rPr lang="pl-PL" sz="1600" dirty="0"/>
              <a:t>Oracle Instance</a:t>
            </a:r>
            <a:endParaRPr lang="en-US" sz="1600" dirty="0"/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98D5EA97-6CA4-D5E1-4171-AE57CB87399B}"/>
              </a:ext>
            </a:extLst>
          </p:cNvPr>
          <p:cNvSpPr txBox="1"/>
          <p:nvPr/>
        </p:nvSpPr>
        <p:spPr>
          <a:xfrm>
            <a:off x="7317988" y="3914341"/>
            <a:ext cx="3793708" cy="15696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600" dirty="0"/>
              <a:t>   Self-provision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Gitlab platform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Self-managed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Integrated with company core systems (SNOW, Cohesity, LogicMonitor)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600" dirty="0"/>
              <a:t>Oracle Cloud Control for management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4506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1CE25-6428-808A-A30A-29391325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86CE61-B102-494A-FB6E-2E7600A307A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86964DA1-D378-AC89-CAFF-3B44C2D4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29" y="0"/>
            <a:ext cx="5022325" cy="822960"/>
          </a:xfrm>
        </p:spPr>
        <p:txBody>
          <a:bodyPr/>
          <a:lstStyle/>
          <a:p>
            <a:r>
              <a:rPr lang="pl-PL" dirty="0"/>
              <a:t>Oracle IaaS Deployment</a:t>
            </a:r>
            <a:endParaRPr lang="en-US" dirty="0"/>
          </a:p>
        </p:txBody>
      </p:sp>
      <p:sp>
        <p:nvSpPr>
          <p:cNvPr id="9" name="Tytuł 6">
            <a:extLst>
              <a:ext uri="{FF2B5EF4-FFF2-40B4-BE49-F238E27FC236}">
                <a16:creationId xmlns:a16="http://schemas.microsoft.com/office/drawing/2014/main" id="{BB88F3C1-5DBC-8256-0DA2-7104786CBC0B}"/>
              </a:ext>
            </a:extLst>
          </p:cNvPr>
          <p:cNvSpPr txBox="1">
            <a:spLocks/>
          </p:cNvSpPr>
          <p:nvPr/>
        </p:nvSpPr>
        <p:spPr>
          <a:xfrm>
            <a:off x="345129" y="217437"/>
            <a:ext cx="4516803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Provisioning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E85CE0B-DCA7-E683-3F10-20BB7FDF3DDB}"/>
              </a:ext>
            </a:extLst>
          </p:cNvPr>
          <p:cNvSpPr txBox="1"/>
          <p:nvPr/>
        </p:nvSpPr>
        <p:spPr>
          <a:xfrm>
            <a:off x="345129" y="1040397"/>
            <a:ext cx="1147088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b="1" dirty="0"/>
              <a:t>What we provide?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ServiceNow CMDB updated with new C</a:t>
            </a:r>
            <a:r>
              <a:rPr lang="pl-PL" sz="2400" dirty="0"/>
              <a:t>onfiguration Item</a:t>
            </a:r>
            <a:r>
              <a:rPr lang="en-US" sz="2400" dirty="0"/>
              <a:t> and all upstream and downstream relations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Validation of input parameters (</a:t>
            </a:r>
            <a:r>
              <a:rPr lang="pl-PL" sz="2400" dirty="0"/>
              <a:t>static &amp; dynamic</a:t>
            </a:r>
            <a:r>
              <a:rPr lang="en-US" sz="2400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Backup automatically added for database (Cohesity/NAS) with proper retentions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ITIL procedures automatically handled (Change Requests + Incidents)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Email communication for deployment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Automatic test cases performed during deployment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Integration with RDBI management system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Triggered by </a:t>
            </a:r>
            <a:r>
              <a:rPr lang="pl-PL" sz="2400" dirty="0"/>
              <a:t>Automation</a:t>
            </a:r>
            <a:r>
              <a:rPr lang="en-US" sz="2400" dirty="0"/>
              <a:t> Form or curl command (CLI mode)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Integration with Mercury API for cli mode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Integration with monitoring system -  LogicMonitor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33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812FDE7E-35B6-D53A-36B2-C73F6A7B0C1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40504C62-A655-F217-9CEE-500BA7CCD659}"/>
              </a:ext>
            </a:extLst>
          </p:cNvPr>
          <p:cNvSpPr txBox="1">
            <a:spLocks/>
          </p:cNvSpPr>
          <p:nvPr/>
        </p:nvSpPr>
        <p:spPr>
          <a:xfrm>
            <a:off x="345129" y="287067"/>
            <a:ext cx="4516803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Actions</a:t>
            </a:r>
          </a:p>
        </p:txBody>
      </p:sp>
      <p:sp>
        <p:nvSpPr>
          <p:cNvPr id="8" name="Tytuł 6">
            <a:extLst>
              <a:ext uri="{FF2B5EF4-FFF2-40B4-BE49-F238E27FC236}">
                <a16:creationId xmlns:a16="http://schemas.microsoft.com/office/drawing/2014/main" id="{DBC226C6-1660-ABDF-5B2C-C482C906A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29" y="0"/>
            <a:ext cx="5022325" cy="822960"/>
          </a:xfrm>
        </p:spPr>
        <p:txBody>
          <a:bodyPr/>
          <a:lstStyle/>
          <a:p>
            <a:r>
              <a:rPr lang="pl-PL" dirty="0"/>
              <a:t>Pipeline</a:t>
            </a:r>
            <a:endParaRPr lang="en-US" dirty="0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203C2BCE-9314-2B89-E57F-B4B104EBC821}"/>
              </a:ext>
            </a:extLst>
          </p:cNvPr>
          <p:cNvSpPr/>
          <p:nvPr/>
        </p:nvSpPr>
        <p:spPr>
          <a:xfrm>
            <a:off x="111512" y="1550020"/>
            <a:ext cx="3010829" cy="3368821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4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4">
                  <a:lumMod val="60000"/>
                  <a:lumOff val="40000"/>
                  <a:tint val="23500"/>
                  <a:satMod val="1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Configure OS settings for Oracle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required file systems for Oracle database – datafiles and fra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oracle user with required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Prepare environment for using automation Ansible playbooks and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Best practice: do not create prerequisities manually. It could ends with situation when automatic tests fails and automatic cannot be used for some steps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DA5A8A06-A25A-D9AA-CF34-26331E6395B5}"/>
              </a:ext>
            </a:extLst>
          </p:cNvPr>
          <p:cNvSpPr txBox="1"/>
          <p:nvPr/>
        </p:nvSpPr>
        <p:spPr>
          <a:xfrm>
            <a:off x="1160356" y="1110027"/>
            <a:ext cx="934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prepare</a:t>
            </a:r>
            <a:endParaRPr lang="en-US" b="1" dirty="0"/>
          </a:p>
        </p:txBody>
      </p:sp>
      <p:sp>
        <p:nvSpPr>
          <p:cNvPr id="11" name="Prostokąt 10">
            <a:extLst>
              <a:ext uri="{FF2B5EF4-FFF2-40B4-BE49-F238E27FC236}">
                <a16:creationId xmlns:a16="http://schemas.microsoft.com/office/drawing/2014/main" id="{EBAB2B13-76FE-638A-8245-53A492CC209B}"/>
              </a:ext>
            </a:extLst>
          </p:cNvPr>
          <p:cNvSpPr/>
          <p:nvPr/>
        </p:nvSpPr>
        <p:spPr>
          <a:xfrm>
            <a:off x="3205976" y="1550020"/>
            <a:ext cx="3311912" cy="1706136"/>
          </a:xfrm>
          <a:prstGeom prst="rect">
            <a:avLst/>
          </a:prstGeom>
          <a:gradFill flip="none" rotWithShape="1">
            <a:gsLst>
              <a:gs pos="0">
                <a:srgbClr val="81B2C3">
                  <a:tint val="66000"/>
                  <a:satMod val="160000"/>
                </a:srgbClr>
              </a:gs>
              <a:gs pos="50000">
                <a:srgbClr val="81B2C3">
                  <a:tint val="44500"/>
                  <a:satMod val="160000"/>
                </a:srgbClr>
              </a:gs>
              <a:gs pos="100000">
                <a:srgbClr val="81B2C3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Install Oracle Software with desired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Best practice: avoid install Oracle Software with running database on servers. Timeout for operation is very likely. 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3356212-A2A2-B9CD-CDBE-90754183230C}"/>
              </a:ext>
            </a:extLst>
          </p:cNvPr>
          <p:cNvSpPr txBox="1"/>
          <p:nvPr/>
        </p:nvSpPr>
        <p:spPr>
          <a:xfrm>
            <a:off x="4352593" y="1106274"/>
            <a:ext cx="1018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installsw</a:t>
            </a:r>
            <a:endParaRPr lang="en-US" b="1" dirty="0"/>
          </a:p>
        </p:txBody>
      </p:sp>
      <p:sp>
        <p:nvSpPr>
          <p:cNvPr id="13" name="Prostokąt 12">
            <a:extLst>
              <a:ext uri="{FF2B5EF4-FFF2-40B4-BE49-F238E27FC236}">
                <a16:creationId xmlns:a16="http://schemas.microsoft.com/office/drawing/2014/main" id="{5D64AFB5-0443-407D-6F13-A99BC69EF63F}"/>
              </a:ext>
            </a:extLst>
          </p:cNvPr>
          <p:cNvSpPr/>
          <p:nvPr/>
        </p:nvSpPr>
        <p:spPr>
          <a:xfrm>
            <a:off x="6683297" y="1550020"/>
            <a:ext cx="2605669" cy="562559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= prepare + installsw + full</a:t>
            </a:r>
          </a:p>
          <a:p>
            <a:pPr algn="ctr"/>
            <a:endParaRPr lang="en-US" sz="1400" dirty="0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5CE99E45-B792-0D2D-8A69-7DDCFA3E94DC}"/>
              </a:ext>
            </a:extLst>
          </p:cNvPr>
          <p:cNvSpPr txBox="1"/>
          <p:nvPr/>
        </p:nvSpPr>
        <p:spPr>
          <a:xfrm>
            <a:off x="7649898" y="1106274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full</a:t>
            </a:r>
            <a:endParaRPr lang="en-US" b="1" dirty="0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9B1CA78C-8AE1-5B32-6672-C9B7687A3093}"/>
              </a:ext>
            </a:extLst>
          </p:cNvPr>
          <p:cNvSpPr/>
          <p:nvPr/>
        </p:nvSpPr>
        <p:spPr>
          <a:xfrm>
            <a:off x="9433931" y="1550019"/>
            <a:ext cx="2427249" cy="398893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5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5">
                  <a:lumMod val="40000"/>
                  <a:lumOff val="60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and configure new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new database listener on dedicated 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Create dedicated database profiles (password verification function and aging policies)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Configure Cohesity/NAS backups with retention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tx1"/>
                </a:solidFill>
              </a:rPr>
              <a:t>Best Practices: Capacity is controlled. When limit is reached for #databases new will not be created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3D906DF2-DA1B-4A4F-43C1-EFCAF7A3CE07}"/>
              </a:ext>
            </a:extLst>
          </p:cNvPr>
          <p:cNvSpPr txBox="1"/>
          <p:nvPr/>
        </p:nvSpPr>
        <p:spPr>
          <a:xfrm>
            <a:off x="10266717" y="1106274"/>
            <a:ext cx="1026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b="1" dirty="0"/>
              <a:t>createdb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7585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127E9-A31E-5923-AB13-60465394E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E97FF2E-0AA6-8315-7C76-56BA08F0C88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ytuł 6">
            <a:extLst>
              <a:ext uri="{FF2B5EF4-FFF2-40B4-BE49-F238E27FC236}">
                <a16:creationId xmlns:a16="http://schemas.microsoft.com/office/drawing/2014/main" id="{A2D220CA-56AA-4361-06D3-66A12AF008ED}"/>
              </a:ext>
            </a:extLst>
          </p:cNvPr>
          <p:cNvSpPr txBox="1">
            <a:spLocks/>
          </p:cNvSpPr>
          <p:nvPr/>
        </p:nvSpPr>
        <p:spPr>
          <a:xfrm>
            <a:off x="2456362" y="-249801"/>
            <a:ext cx="7279275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dirty="0"/>
              <a:t>Oracle Deployment Pipeline Diagram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7F8B722E-F817-9C27-67C2-174CD6CA92EC}"/>
              </a:ext>
            </a:extLst>
          </p:cNvPr>
          <p:cNvSpPr/>
          <p:nvPr/>
        </p:nvSpPr>
        <p:spPr>
          <a:xfrm>
            <a:off x="159133" y="981852"/>
            <a:ext cx="1422060" cy="568712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Validation</a:t>
            </a: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BF70222E-60BF-0317-A661-0B7638630DF7}"/>
              </a:ext>
            </a:extLst>
          </p:cNvPr>
          <p:cNvSpPr txBox="1"/>
          <p:nvPr/>
        </p:nvSpPr>
        <p:spPr>
          <a:xfrm>
            <a:off x="144064" y="3618090"/>
            <a:ext cx="9806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Legend</a:t>
            </a: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7DA632E7-4BF8-F91C-9B1B-6CB722C03382}"/>
              </a:ext>
            </a:extLst>
          </p:cNvPr>
          <p:cNvSpPr/>
          <p:nvPr/>
        </p:nvSpPr>
        <p:spPr>
          <a:xfrm>
            <a:off x="78969" y="2093390"/>
            <a:ext cx="1582387" cy="8229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Environment Preparation</a:t>
            </a:r>
          </a:p>
        </p:txBody>
      </p:sp>
      <p:cxnSp>
        <p:nvCxnSpPr>
          <p:cNvPr id="17" name="Łącznik prosty 16">
            <a:extLst>
              <a:ext uri="{FF2B5EF4-FFF2-40B4-BE49-F238E27FC236}">
                <a16:creationId xmlns:a16="http://schemas.microsoft.com/office/drawing/2014/main" id="{3839CE26-F573-8791-B5D6-28A9BB600E82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870163" y="1550564"/>
            <a:ext cx="0" cy="542826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5E7784BB-22F7-CA84-373E-7D1C2AD5EA5A}"/>
              </a:ext>
            </a:extLst>
          </p:cNvPr>
          <p:cNvSpPr/>
          <p:nvPr/>
        </p:nvSpPr>
        <p:spPr>
          <a:xfrm>
            <a:off x="144064" y="4043137"/>
            <a:ext cx="748777" cy="317135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solidFill>
                <a:schemeClr val="tx1"/>
              </a:solidFill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5E330513-3921-D1C3-4B5D-D665BDA4C799}"/>
              </a:ext>
            </a:extLst>
          </p:cNvPr>
          <p:cNvSpPr txBox="1"/>
          <p:nvPr/>
        </p:nvSpPr>
        <p:spPr>
          <a:xfrm>
            <a:off x="907012" y="4068265"/>
            <a:ext cx="12235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/>
              <a:t>Technical step</a:t>
            </a:r>
            <a:endParaRPr lang="en-US" sz="1400" b="1" dirty="0"/>
          </a:p>
        </p:txBody>
      </p: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D6FE78A1-794C-0D5A-F998-84D393DD698D}"/>
              </a:ext>
            </a:extLst>
          </p:cNvPr>
          <p:cNvSpPr/>
          <p:nvPr/>
        </p:nvSpPr>
        <p:spPr>
          <a:xfrm>
            <a:off x="2146522" y="2082239"/>
            <a:ext cx="1582387" cy="8229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Oracle Software Installation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3AA3A6C-C025-64B7-C4B3-2EE661493C8F}"/>
              </a:ext>
            </a:extLst>
          </p:cNvPr>
          <p:cNvCxnSpPr>
            <a:cxnSpLocks/>
            <a:stCxn id="22" idx="1"/>
            <a:endCxn id="15" idx="3"/>
          </p:cNvCxnSpPr>
          <p:nvPr/>
        </p:nvCxnSpPr>
        <p:spPr>
          <a:xfrm flipH="1">
            <a:off x="1661356" y="2493719"/>
            <a:ext cx="485166" cy="11151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EA885670-66B1-50D0-163F-B89F34412F9E}"/>
              </a:ext>
            </a:extLst>
          </p:cNvPr>
          <p:cNvSpPr/>
          <p:nvPr/>
        </p:nvSpPr>
        <p:spPr>
          <a:xfrm>
            <a:off x="4071967" y="2093391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Test Oracle Software Installation</a:t>
            </a:r>
          </a:p>
        </p:txBody>
      </p:sp>
      <p:cxnSp>
        <p:nvCxnSpPr>
          <p:cNvPr id="29" name="Łącznik prosty 28">
            <a:extLst>
              <a:ext uri="{FF2B5EF4-FFF2-40B4-BE49-F238E27FC236}">
                <a16:creationId xmlns:a16="http://schemas.microsoft.com/office/drawing/2014/main" id="{D1B38A2B-BC13-2651-8236-1E7908321C28}"/>
              </a:ext>
            </a:extLst>
          </p:cNvPr>
          <p:cNvCxnSpPr>
            <a:cxnSpLocks/>
          </p:cNvCxnSpPr>
          <p:nvPr/>
        </p:nvCxnSpPr>
        <p:spPr>
          <a:xfrm flipH="1">
            <a:off x="3728909" y="2504869"/>
            <a:ext cx="320755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rostokąt: zaokrąglone rogi 30">
            <a:extLst>
              <a:ext uri="{FF2B5EF4-FFF2-40B4-BE49-F238E27FC236}">
                <a16:creationId xmlns:a16="http://schemas.microsoft.com/office/drawing/2014/main" id="{A5F58B3A-E897-6908-B4C7-FDE3D1314FC3}"/>
              </a:ext>
            </a:extLst>
          </p:cNvPr>
          <p:cNvSpPr/>
          <p:nvPr/>
        </p:nvSpPr>
        <p:spPr>
          <a:xfrm>
            <a:off x="144064" y="4512992"/>
            <a:ext cx="748777" cy="317134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600" dirty="0">
              <a:solidFill>
                <a:schemeClr val="tx1"/>
              </a:solidFill>
            </a:endParaRPr>
          </a:p>
        </p:txBody>
      </p: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64818F2B-DC95-4F1F-26CB-AEC32B8153B8}"/>
              </a:ext>
            </a:extLst>
          </p:cNvPr>
          <p:cNvSpPr txBox="1"/>
          <p:nvPr/>
        </p:nvSpPr>
        <p:spPr>
          <a:xfrm>
            <a:off x="892841" y="4530248"/>
            <a:ext cx="13851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/>
              <a:t>Tests/Validation</a:t>
            </a:r>
            <a:endParaRPr lang="en-US" sz="1400" b="1" dirty="0"/>
          </a:p>
        </p:txBody>
      </p:sp>
      <p:sp>
        <p:nvSpPr>
          <p:cNvPr id="37" name="Prostokąt: zaokrąglone rogi 36">
            <a:extLst>
              <a:ext uri="{FF2B5EF4-FFF2-40B4-BE49-F238E27FC236}">
                <a16:creationId xmlns:a16="http://schemas.microsoft.com/office/drawing/2014/main" id="{93F6E8B4-AC18-F0B5-32AF-F817FD76F849}"/>
              </a:ext>
            </a:extLst>
          </p:cNvPr>
          <p:cNvSpPr/>
          <p:nvPr/>
        </p:nvSpPr>
        <p:spPr>
          <a:xfrm>
            <a:off x="5997412" y="2093390"/>
            <a:ext cx="1582387" cy="8229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Oracle Database Creation</a:t>
            </a:r>
          </a:p>
        </p:txBody>
      </p:sp>
      <p:cxnSp>
        <p:nvCxnSpPr>
          <p:cNvPr id="38" name="Łącznik prosty 37">
            <a:extLst>
              <a:ext uri="{FF2B5EF4-FFF2-40B4-BE49-F238E27FC236}">
                <a16:creationId xmlns:a16="http://schemas.microsoft.com/office/drawing/2014/main" id="{488FD73A-275D-7A50-95E3-2606C2F76D68}"/>
              </a:ext>
            </a:extLst>
          </p:cNvPr>
          <p:cNvCxnSpPr>
            <a:cxnSpLocks/>
          </p:cNvCxnSpPr>
          <p:nvPr/>
        </p:nvCxnSpPr>
        <p:spPr>
          <a:xfrm flipH="1">
            <a:off x="5654354" y="2508148"/>
            <a:ext cx="320755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Prostokąt: zaokrąglone rogi 38">
            <a:extLst>
              <a:ext uri="{FF2B5EF4-FFF2-40B4-BE49-F238E27FC236}">
                <a16:creationId xmlns:a16="http://schemas.microsoft.com/office/drawing/2014/main" id="{4215658F-FC2B-59C8-DA36-23D66F222BEA}"/>
              </a:ext>
            </a:extLst>
          </p:cNvPr>
          <p:cNvSpPr/>
          <p:nvPr/>
        </p:nvSpPr>
        <p:spPr>
          <a:xfrm>
            <a:off x="7922857" y="2093391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Test Oracle Database Creation</a:t>
            </a:r>
          </a:p>
        </p:txBody>
      </p:sp>
      <p:cxnSp>
        <p:nvCxnSpPr>
          <p:cNvPr id="40" name="Łącznik prosty 39">
            <a:extLst>
              <a:ext uri="{FF2B5EF4-FFF2-40B4-BE49-F238E27FC236}">
                <a16:creationId xmlns:a16="http://schemas.microsoft.com/office/drawing/2014/main" id="{33BC6C4A-57D3-FBF0-919C-41E82D2F3B28}"/>
              </a:ext>
            </a:extLst>
          </p:cNvPr>
          <p:cNvCxnSpPr>
            <a:cxnSpLocks/>
          </p:cNvCxnSpPr>
          <p:nvPr/>
        </p:nvCxnSpPr>
        <p:spPr>
          <a:xfrm flipH="1">
            <a:off x="7579799" y="2522578"/>
            <a:ext cx="320755" cy="0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Prostokąt: zaokrąglone rogi 40">
            <a:extLst>
              <a:ext uri="{FF2B5EF4-FFF2-40B4-BE49-F238E27FC236}">
                <a16:creationId xmlns:a16="http://schemas.microsoft.com/office/drawing/2014/main" id="{C9A69509-3C68-ABF6-D3E8-805B05266542}"/>
              </a:ext>
            </a:extLst>
          </p:cNvPr>
          <p:cNvSpPr/>
          <p:nvPr/>
        </p:nvSpPr>
        <p:spPr>
          <a:xfrm>
            <a:off x="10193988" y="854729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Create/Update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CI</a:t>
            </a:r>
          </a:p>
        </p:txBody>
      </p:sp>
      <p:cxnSp>
        <p:nvCxnSpPr>
          <p:cNvPr id="42" name="Łącznik prosty 41">
            <a:extLst>
              <a:ext uri="{FF2B5EF4-FFF2-40B4-BE49-F238E27FC236}">
                <a16:creationId xmlns:a16="http://schemas.microsoft.com/office/drawing/2014/main" id="{A32296D3-067E-E4BD-A0DB-F82138B02A84}"/>
              </a:ext>
            </a:extLst>
          </p:cNvPr>
          <p:cNvCxnSpPr>
            <a:cxnSpLocks/>
            <a:stCxn id="41" idx="1"/>
            <a:endCxn id="39" idx="0"/>
          </p:cNvCxnSpPr>
          <p:nvPr/>
        </p:nvCxnSpPr>
        <p:spPr>
          <a:xfrm rot="10800000" flipV="1">
            <a:off x="8714052" y="1266207"/>
            <a:ext cx="1479937" cy="827183"/>
          </a:xfrm>
          <a:prstGeom prst="bentConnector2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Prostokąt: zaokrąglone rogi 44">
            <a:extLst>
              <a:ext uri="{FF2B5EF4-FFF2-40B4-BE49-F238E27FC236}">
                <a16:creationId xmlns:a16="http://schemas.microsoft.com/office/drawing/2014/main" id="{E8F69CE8-C0D5-2C5E-5497-D164891F1A64}"/>
              </a:ext>
            </a:extLst>
          </p:cNvPr>
          <p:cNvSpPr/>
          <p:nvPr/>
        </p:nvSpPr>
        <p:spPr>
          <a:xfrm>
            <a:off x="10193988" y="2111099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00B0F0">
                  <a:tint val="66000"/>
                  <a:satMod val="160000"/>
                </a:srgbClr>
              </a:gs>
              <a:gs pos="50000">
                <a:srgbClr val="00B0F0">
                  <a:tint val="44500"/>
                  <a:satMod val="160000"/>
                </a:srgbClr>
              </a:gs>
              <a:gs pos="100000">
                <a:srgbClr val="00B0F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Test CI</a:t>
            </a:r>
          </a:p>
        </p:txBody>
      </p:sp>
      <p:sp>
        <p:nvSpPr>
          <p:cNvPr id="46" name="Prostokąt: zaokrąglone rogi 45">
            <a:extLst>
              <a:ext uri="{FF2B5EF4-FFF2-40B4-BE49-F238E27FC236}">
                <a16:creationId xmlns:a16="http://schemas.microsoft.com/office/drawing/2014/main" id="{C8B6813B-BC05-1748-EE61-D36572A5831A}"/>
              </a:ext>
            </a:extLst>
          </p:cNvPr>
          <p:cNvSpPr/>
          <p:nvPr/>
        </p:nvSpPr>
        <p:spPr>
          <a:xfrm>
            <a:off x="8406076" y="3631658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Create/Update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upstream relation</a:t>
            </a:r>
          </a:p>
        </p:txBody>
      </p:sp>
      <p:sp>
        <p:nvSpPr>
          <p:cNvPr id="47" name="Prostokąt: zaokrąglone rogi 46">
            <a:extLst>
              <a:ext uri="{FF2B5EF4-FFF2-40B4-BE49-F238E27FC236}">
                <a16:creationId xmlns:a16="http://schemas.microsoft.com/office/drawing/2014/main" id="{5F98D1DD-4D90-574E-8615-66E0D503F6A7}"/>
              </a:ext>
            </a:extLst>
          </p:cNvPr>
          <p:cNvSpPr/>
          <p:nvPr/>
        </p:nvSpPr>
        <p:spPr>
          <a:xfrm>
            <a:off x="10493794" y="3656786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Create/Update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downstream relation</a:t>
            </a:r>
          </a:p>
        </p:txBody>
      </p:sp>
      <p:cxnSp>
        <p:nvCxnSpPr>
          <p:cNvPr id="48" name="Łącznik prosty 41">
            <a:extLst>
              <a:ext uri="{FF2B5EF4-FFF2-40B4-BE49-F238E27FC236}">
                <a16:creationId xmlns:a16="http://schemas.microsoft.com/office/drawing/2014/main" id="{D9BA3054-F528-F2B0-68BA-510FFC9D007A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rot="5400000">
            <a:off x="9742426" y="2388901"/>
            <a:ext cx="697601" cy="1787912"/>
          </a:xfrm>
          <a:prstGeom prst="bentConnector3">
            <a:avLst>
              <a:gd name="adj1" fmla="val 50000"/>
            </a:avLst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Łącznik prosty 41">
            <a:extLst>
              <a:ext uri="{FF2B5EF4-FFF2-40B4-BE49-F238E27FC236}">
                <a16:creationId xmlns:a16="http://schemas.microsoft.com/office/drawing/2014/main" id="{12C931B5-983A-CBD5-4E90-9A4E79F06BC0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 rot="16200000" flipH="1">
            <a:off x="10773721" y="3145518"/>
            <a:ext cx="722729" cy="299806"/>
          </a:xfrm>
          <a:prstGeom prst="bentConnector3">
            <a:avLst>
              <a:gd name="adj1" fmla="val 48457"/>
            </a:avLst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Prostokąt: zaokrąglone rogi 57">
            <a:extLst>
              <a:ext uri="{FF2B5EF4-FFF2-40B4-BE49-F238E27FC236}">
                <a16:creationId xmlns:a16="http://schemas.microsoft.com/office/drawing/2014/main" id="{996DBFDA-A4EF-F4D3-D3F9-66A99C17EA1A}"/>
              </a:ext>
            </a:extLst>
          </p:cNvPr>
          <p:cNvSpPr/>
          <p:nvPr/>
        </p:nvSpPr>
        <p:spPr>
          <a:xfrm>
            <a:off x="7309540" y="4830126"/>
            <a:ext cx="1582387" cy="822958"/>
          </a:xfrm>
          <a:prstGeom prst="roundRect">
            <a:avLst/>
          </a:prstGeom>
          <a:solidFill>
            <a:srgbClr val="B7A1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Communicate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Deployment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Success</a:t>
            </a:r>
          </a:p>
        </p:txBody>
      </p:sp>
      <p:cxnSp>
        <p:nvCxnSpPr>
          <p:cNvPr id="59" name="Łącznik prosty 41">
            <a:extLst>
              <a:ext uri="{FF2B5EF4-FFF2-40B4-BE49-F238E27FC236}">
                <a16:creationId xmlns:a16="http://schemas.microsoft.com/office/drawing/2014/main" id="{98784AEF-B103-E00C-39E9-9E32C00BF8B4}"/>
              </a:ext>
            </a:extLst>
          </p:cNvPr>
          <p:cNvCxnSpPr>
            <a:cxnSpLocks/>
            <a:stCxn id="46" idx="2"/>
            <a:endCxn id="58" idx="3"/>
          </p:cNvCxnSpPr>
          <p:nvPr/>
        </p:nvCxnSpPr>
        <p:spPr>
          <a:xfrm rot="5400000">
            <a:off x="8651105" y="4695439"/>
            <a:ext cx="786989" cy="305343"/>
          </a:xfrm>
          <a:prstGeom prst="bentConnector2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Łącznik prosty 41">
            <a:extLst>
              <a:ext uri="{FF2B5EF4-FFF2-40B4-BE49-F238E27FC236}">
                <a16:creationId xmlns:a16="http://schemas.microsoft.com/office/drawing/2014/main" id="{4A837584-350E-08FC-051B-E0FCDB6C8424}"/>
              </a:ext>
            </a:extLst>
          </p:cNvPr>
          <p:cNvCxnSpPr>
            <a:cxnSpLocks/>
            <a:stCxn id="47" idx="2"/>
          </p:cNvCxnSpPr>
          <p:nvPr/>
        </p:nvCxnSpPr>
        <p:spPr>
          <a:xfrm rot="5400000">
            <a:off x="9611557" y="3746061"/>
            <a:ext cx="939749" cy="2407114"/>
          </a:xfrm>
          <a:prstGeom prst="bentConnector2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Prostokąt: zaokrąglone rogi 64">
            <a:extLst>
              <a:ext uri="{FF2B5EF4-FFF2-40B4-BE49-F238E27FC236}">
                <a16:creationId xmlns:a16="http://schemas.microsoft.com/office/drawing/2014/main" id="{6A2CD650-43D3-C545-21F1-A7F72E8B0145}"/>
              </a:ext>
            </a:extLst>
          </p:cNvPr>
          <p:cNvSpPr/>
          <p:nvPr/>
        </p:nvSpPr>
        <p:spPr>
          <a:xfrm>
            <a:off x="4968263" y="4823137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 Change Request</a:t>
            </a:r>
          </a:p>
        </p:txBody>
      </p:sp>
      <p:sp>
        <p:nvSpPr>
          <p:cNvPr id="66" name="Prostokąt: zaokrąglone rogi 65">
            <a:extLst>
              <a:ext uri="{FF2B5EF4-FFF2-40B4-BE49-F238E27FC236}">
                <a16:creationId xmlns:a16="http://schemas.microsoft.com/office/drawing/2014/main" id="{62AA0470-53FB-5FE5-BD16-3A9A2635FFC5}"/>
              </a:ext>
            </a:extLst>
          </p:cNvPr>
          <p:cNvSpPr/>
          <p:nvPr/>
        </p:nvSpPr>
        <p:spPr>
          <a:xfrm>
            <a:off x="2594682" y="4821533"/>
            <a:ext cx="1582387" cy="822958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Create Incident (optional)</a:t>
            </a:r>
          </a:p>
        </p:txBody>
      </p:sp>
      <p:cxnSp>
        <p:nvCxnSpPr>
          <p:cNvPr id="67" name="Łącznik prosty 66">
            <a:extLst>
              <a:ext uri="{FF2B5EF4-FFF2-40B4-BE49-F238E27FC236}">
                <a16:creationId xmlns:a16="http://schemas.microsoft.com/office/drawing/2014/main" id="{B08F1440-8F3F-CD4C-4460-1864F82DA9DB}"/>
              </a:ext>
            </a:extLst>
          </p:cNvPr>
          <p:cNvCxnSpPr>
            <a:cxnSpLocks/>
            <a:stCxn id="58" idx="1"/>
            <a:endCxn id="65" idx="3"/>
          </p:cNvCxnSpPr>
          <p:nvPr/>
        </p:nvCxnSpPr>
        <p:spPr>
          <a:xfrm flipH="1" flipV="1">
            <a:off x="6550650" y="5234616"/>
            <a:ext cx="758890" cy="6989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Łącznik prosty 71">
            <a:extLst>
              <a:ext uri="{FF2B5EF4-FFF2-40B4-BE49-F238E27FC236}">
                <a16:creationId xmlns:a16="http://schemas.microsoft.com/office/drawing/2014/main" id="{3CC76764-11DC-F256-0D8F-09C27D7A2C1A}"/>
              </a:ext>
            </a:extLst>
          </p:cNvPr>
          <p:cNvCxnSpPr>
            <a:cxnSpLocks/>
            <a:stCxn id="65" idx="1"/>
            <a:endCxn id="66" idx="3"/>
          </p:cNvCxnSpPr>
          <p:nvPr/>
        </p:nvCxnSpPr>
        <p:spPr>
          <a:xfrm flipH="1" flipV="1">
            <a:off x="4177069" y="5233012"/>
            <a:ext cx="791194" cy="1604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Prostokąt: zaokrąglone rogi 75">
            <a:extLst>
              <a:ext uri="{FF2B5EF4-FFF2-40B4-BE49-F238E27FC236}">
                <a16:creationId xmlns:a16="http://schemas.microsoft.com/office/drawing/2014/main" id="{A30890AA-59F3-2EB2-5128-CBF1B08EE744}"/>
              </a:ext>
            </a:extLst>
          </p:cNvPr>
          <p:cNvSpPr/>
          <p:nvPr/>
        </p:nvSpPr>
        <p:spPr>
          <a:xfrm>
            <a:off x="149721" y="4999659"/>
            <a:ext cx="727393" cy="307777"/>
          </a:xfrm>
          <a:prstGeom prst="roundRect">
            <a:avLst/>
          </a:prstGeom>
          <a:solidFill>
            <a:srgbClr val="B7A1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600" dirty="0">
              <a:solidFill>
                <a:schemeClr val="tx1"/>
              </a:solidFill>
            </a:endParaRPr>
          </a:p>
        </p:txBody>
      </p:sp>
      <p:sp>
        <p:nvSpPr>
          <p:cNvPr id="77" name="pole tekstowe 76">
            <a:extLst>
              <a:ext uri="{FF2B5EF4-FFF2-40B4-BE49-F238E27FC236}">
                <a16:creationId xmlns:a16="http://schemas.microsoft.com/office/drawing/2014/main" id="{C0A993E3-F70E-2129-5FF6-72592915CBFE}"/>
              </a:ext>
            </a:extLst>
          </p:cNvPr>
          <p:cNvSpPr txBox="1"/>
          <p:nvPr/>
        </p:nvSpPr>
        <p:spPr>
          <a:xfrm>
            <a:off x="898698" y="4983377"/>
            <a:ext cx="13649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/>
              <a:t>Communication</a:t>
            </a:r>
            <a:endParaRPr lang="en-US" sz="1400" b="1" dirty="0"/>
          </a:p>
        </p:txBody>
      </p:sp>
      <p:sp>
        <p:nvSpPr>
          <p:cNvPr id="78" name="Prostokąt: zaokrąglone rogi 77">
            <a:extLst>
              <a:ext uri="{FF2B5EF4-FFF2-40B4-BE49-F238E27FC236}">
                <a16:creationId xmlns:a16="http://schemas.microsoft.com/office/drawing/2014/main" id="{0CD71924-29FA-74FC-02CB-2F7039430FD5}"/>
              </a:ext>
            </a:extLst>
          </p:cNvPr>
          <p:cNvSpPr/>
          <p:nvPr/>
        </p:nvSpPr>
        <p:spPr>
          <a:xfrm>
            <a:off x="153065" y="5427067"/>
            <a:ext cx="727393" cy="307777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600" dirty="0">
              <a:solidFill>
                <a:schemeClr val="tx1"/>
              </a:solidFill>
            </a:endParaRPr>
          </a:p>
        </p:txBody>
      </p:sp>
      <p:sp>
        <p:nvSpPr>
          <p:cNvPr id="79" name="pole tekstowe 78">
            <a:extLst>
              <a:ext uri="{FF2B5EF4-FFF2-40B4-BE49-F238E27FC236}">
                <a16:creationId xmlns:a16="http://schemas.microsoft.com/office/drawing/2014/main" id="{B9AB9CF2-42AC-329D-40BB-AFDC4ABEE689}"/>
              </a:ext>
            </a:extLst>
          </p:cNvPr>
          <p:cNvSpPr txBox="1"/>
          <p:nvPr/>
        </p:nvSpPr>
        <p:spPr>
          <a:xfrm>
            <a:off x="896497" y="5318588"/>
            <a:ext cx="1285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400" b="1" dirty="0"/>
              <a:t>Service Now</a:t>
            </a:r>
            <a:br>
              <a:rPr lang="pl-PL" sz="1400" b="1" dirty="0"/>
            </a:br>
            <a:r>
              <a:rPr lang="pl-PL" sz="1400" b="1" dirty="0"/>
              <a:t>ITIL operations</a:t>
            </a:r>
            <a:endParaRPr lang="en-US" sz="1400" b="1" dirty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29E7A707-EF6F-D4B8-3F47-EACA7822BFE7}"/>
              </a:ext>
            </a:extLst>
          </p:cNvPr>
          <p:cNvCxnSpPr>
            <a:cxnSpLocks/>
            <a:stCxn id="45" idx="0"/>
            <a:endCxn id="41" idx="2"/>
          </p:cNvCxnSpPr>
          <p:nvPr/>
        </p:nvCxnSpPr>
        <p:spPr>
          <a:xfrm flipV="1">
            <a:off x="10985182" y="1677687"/>
            <a:ext cx="0" cy="433412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D85D8FA7-EF68-B207-89C8-9CD3264C2D72}"/>
              </a:ext>
            </a:extLst>
          </p:cNvPr>
          <p:cNvSpPr/>
          <p:nvPr/>
        </p:nvSpPr>
        <p:spPr>
          <a:xfrm>
            <a:off x="2594682" y="3598246"/>
            <a:ext cx="1582387" cy="82295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chemeClr val="tx1"/>
                </a:solidFill>
              </a:rPr>
              <a:t>Store Event </a:t>
            </a:r>
            <a:br>
              <a:rPr lang="pl-PL" sz="1600" dirty="0">
                <a:solidFill>
                  <a:schemeClr val="tx1"/>
                </a:solidFill>
              </a:rPr>
            </a:br>
            <a:r>
              <a:rPr lang="pl-PL" sz="1600" dirty="0">
                <a:solidFill>
                  <a:schemeClr val="tx1"/>
                </a:solidFill>
              </a:rPr>
              <a:t>in Splunk</a:t>
            </a:r>
          </a:p>
        </p:txBody>
      </p: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E3543537-7F40-0327-07DE-50DE177E5064}"/>
              </a:ext>
            </a:extLst>
          </p:cNvPr>
          <p:cNvCxnSpPr>
            <a:cxnSpLocks/>
            <a:stCxn id="3" idx="2"/>
            <a:endCxn id="66" idx="0"/>
          </p:cNvCxnSpPr>
          <p:nvPr/>
        </p:nvCxnSpPr>
        <p:spPr>
          <a:xfrm>
            <a:off x="3385876" y="4421205"/>
            <a:ext cx="0" cy="400328"/>
          </a:xfrm>
          <a:prstGeom prst="line">
            <a:avLst/>
          </a:prstGeom>
          <a:ln w="603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50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C7740-732A-02B8-5B84-08BC482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A6CAC4-41AC-5B7C-5C73-081C2E8D7650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Obraz 4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7443A1C4-7D3A-0904-EA02-6352A4511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344" y="1782523"/>
            <a:ext cx="11586258" cy="1765093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464430B7-AD9B-27A2-9612-C219C6103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44" y="1100580"/>
            <a:ext cx="11586258" cy="497847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222ADB2E-2479-ADE3-79F0-E283C570BF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344" y="3618028"/>
            <a:ext cx="11586258" cy="1063582"/>
          </a:xfrm>
          <a:prstGeom prst="rect">
            <a:avLst/>
          </a:prstGeom>
        </p:spPr>
      </p:pic>
      <p:sp>
        <p:nvSpPr>
          <p:cNvPr id="16" name="Tytuł 6">
            <a:extLst>
              <a:ext uri="{FF2B5EF4-FFF2-40B4-BE49-F238E27FC236}">
                <a16:creationId xmlns:a16="http://schemas.microsoft.com/office/drawing/2014/main" id="{83B5CD8D-2947-9827-4E36-443C942BDEB0}"/>
              </a:ext>
            </a:extLst>
          </p:cNvPr>
          <p:cNvSpPr txBox="1">
            <a:spLocks/>
          </p:cNvSpPr>
          <p:nvPr/>
        </p:nvSpPr>
        <p:spPr>
          <a:xfrm>
            <a:off x="2361835" y="-147813"/>
            <a:ext cx="7279275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dirty="0"/>
              <a:t>Oracle Deployment Pipeline Executions </a:t>
            </a:r>
          </a:p>
        </p:txBody>
      </p:sp>
    </p:spTree>
    <p:extLst>
      <p:ext uri="{BB962C8B-B14F-4D97-AF65-F5344CB8AC3E}">
        <p14:creationId xmlns:p14="http://schemas.microsoft.com/office/powerpoint/2010/main" val="396544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9CED4BD-DB74-C3EF-F9DB-006502305A7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Obraz 7" descr="Obraz zawierający zrzut ekranu, tekst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5318E444-0E0C-4A04-770F-F1596D1D4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6" y="1183262"/>
            <a:ext cx="11440968" cy="2815550"/>
          </a:xfrm>
          <a:prstGeom prst="rect">
            <a:avLst/>
          </a:prstGeom>
        </p:spPr>
      </p:pic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D814CB33-04F7-84F4-FCF1-9B62E15D8196}"/>
              </a:ext>
            </a:extLst>
          </p:cNvPr>
          <p:cNvCxnSpPr>
            <a:cxnSpLocks/>
          </p:cNvCxnSpPr>
          <p:nvPr/>
        </p:nvCxnSpPr>
        <p:spPr>
          <a:xfrm flipV="1">
            <a:off x="6363194" y="4363645"/>
            <a:ext cx="0" cy="977461"/>
          </a:xfrm>
          <a:prstGeom prst="straightConnector1">
            <a:avLst/>
          </a:prstGeom>
          <a:ln w="5715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CBA38741-D278-1494-E04F-47B7D5A2F8F8}"/>
              </a:ext>
            </a:extLst>
          </p:cNvPr>
          <p:cNvSpPr txBox="1"/>
          <p:nvPr/>
        </p:nvSpPr>
        <p:spPr>
          <a:xfrm>
            <a:off x="4578675" y="5463936"/>
            <a:ext cx="43060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/>
              <a:t>Default Runner image for stages/jobs in Pipeline</a:t>
            </a:r>
            <a:endParaRPr lang="en-US" sz="2400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6495DE8E-5E9E-D6D3-F099-B99395A56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15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AEF1-525B-BF18-B1FB-D90D827BA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0716312-A6E6-57EA-3512-7A07D52B23E9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20</a:t>
            </a:fld>
            <a:endParaRPr lang="en-US" dirty="0"/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C89DCFE0-62BF-80D3-C45F-F2CB503CFA4D}"/>
              </a:ext>
            </a:extLst>
          </p:cNvPr>
          <p:cNvCxnSpPr>
            <a:cxnSpLocks/>
          </p:cNvCxnSpPr>
          <p:nvPr/>
        </p:nvCxnSpPr>
        <p:spPr>
          <a:xfrm flipH="1">
            <a:off x="6646460" y="3396956"/>
            <a:ext cx="1733265" cy="0"/>
          </a:xfrm>
          <a:prstGeom prst="straightConnector1">
            <a:avLst/>
          </a:prstGeom>
          <a:ln w="57150">
            <a:solidFill>
              <a:schemeClr val="bg1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2663040-3A82-510A-D0FC-9B0416F367A4}"/>
              </a:ext>
            </a:extLst>
          </p:cNvPr>
          <p:cNvSpPr txBox="1"/>
          <p:nvPr/>
        </p:nvSpPr>
        <p:spPr>
          <a:xfrm>
            <a:off x="9084186" y="3166123"/>
            <a:ext cx="2236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400" dirty="0"/>
              <a:t>Pipeline stages</a:t>
            </a:r>
            <a:endParaRPr lang="en-US" sz="2400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4C62B5FE-F852-13E6-2008-AA27BECBD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4" name="Obraz 3" descr="Obraz zawierający tekst, zrzut ekranu, Czcionka, menu&#10;&#10;Zawartość wygenerowana przez AI może być niepoprawna.">
            <a:extLst>
              <a:ext uri="{FF2B5EF4-FFF2-40B4-BE49-F238E27FC236}">
                <a16:creationId xmlns:a16="http://schemas.microsoft.com/office/drawing/2014/main" id="{36973A91-8235-3062-BABF-D2BC07745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9" y="1186787"/>
            <a:ext cx="4900500" cy="40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189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9D901-0FF7-FABB-7704-04829B2B1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78871A80-AEA0-7C54-55F9-BC12EC8FBDA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F459AEFC-BD26-8B8E-37F8-9FF1A350827C}"/>
              </a:ext>
            </a:extLst>
          </p:cNvPr>
          <p:cNvSpPr txBox="1"/>
          <p:nvPr/>
        </p:nvSpPr>
        <p:spPr>
          <a:xfrm>
            <a:off x="3702033" y="5910841"/>
            <a:ext cx="478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Test preparation stage (server + configuration)</a:t>
            </a:r>
            <a:endParaRPr lang="en-US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A70EC342-672D-6276-CC65-A1787D07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5" name="Obraz 4" descr="Obraz zawierający zrzut ekranu, tekst&#10;&#10;Zawartość wygenerowana przez AI może być niepoprawna.">
            <a:extLst>
              <a:ext uri="{FF2B5EF4-FFF2-40B4-BE49-F238E27FC236}">
                <a16:creationId xmlns:a16="http://schemas.microsoft.com/office/drawing/2014/main" id="{1A480452-0222-EEDA-6486-DDA2E34FA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19" y="947159"/>
            <a:ext cx="11647561" cy="4745303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BE11BCDA-178F-9AB6-6E2B-58DD7D2F3393}"/>
              </a:ext>
            </a:extLst>
          </p:cNvPr>
          <p:cNvSpPr/>
          <p:nvPr/>
        </p:nvSpPr>
        <p:spPr>
          <a:xfrm>
            <a:off x="335666" y="2002420"/>
            <a:ext cx="4328931" cy="42826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08913570-E6E6-A855-1DC1-18823A822E9F}"/>
              </a:ext>
            </a:extLst>
          </p:cNvPr>
          <p:cNvSpPr/>
          <p:nvPr/>
        </p:nvSpPr>
        <p:spPr>
          <a:xfrm>
            <a:off x="335665" y="3682679"/>
            <a:ext cx="4328931" cy="1178688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39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E240-F3CD-149F-11EF-F1435E7E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5F3EC727-D4D6-36C2-68B8-7DB1E6439BA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DF1CF476-7F09-3EA5-4208-56DE930AE11E}"/>
              </a:ext>
            </a:extLst>
          </p:cNvPr>
          <p:cNvSpPr txBox="1"/>
          <p:nvPr/>
        </p:nvSpPr>
        <p:spPr>
          <a:xfrm>
            <a:off x="4405437" y="5876321"/>
            <a:ext cx="478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Example preparation stage test</a:t>
            </a:r>
            <a:endParaRPr lang="en-US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C37F1C2C-42F3-99B9-40FD-38B3E303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8" name="Obraz 7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531C6005-C98F-9D3D-3FBB-813CD8B25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398" y="981678"/>
            <a:ext cx="9087763" cy="4909597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FA66DD66-D6E8-2AEE-75EA-AD25600B993F}"/>
              </a:ext>
            </a:extLst>
          </p:cNvPr>
          <p:cNvSpPr/>
          <p:nvPr/>
        </p:nvSpPr>
        <p:spPr>
          <a:xfrm>
            <a:off x="1421399" y="1240421"/>
            <a:ext cx="3787210" cy="58837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82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3B3D-716F-21B6-0CE2-ACF12CB4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3A3DF0D8-13E7-C2E2-276E-01AF1B559F58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818A1DD6-D49B-D88A-C6DE-5C8EA7E60492}"/>
              </a:ext>
            </a:extLst>
          </p:cNvPr>
          <p:cNvSpPr txBox="1"/>
          <p:nvPr/>
        </p:nvSpPr>
        <p:spPr>
          <a:xfrm>
            <a:off x="4405437" y="5876321"/>
            <a:ext cx="4787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/>
              <a:t>Example preparation stage test</a:t>
            </a:r>
            <a:endParaRPr lang="en-US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0E12E802-6208-FA73-84D9-FD3F4154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4" name="Obraz 3" descr="Obraz zawierający tekst, zrzut ekranu, oprogramowanie, wyświetlacz&#10;&#10;Zawartość wygenerowana przez AI może być niepoprawna.">
            <a:extLst>
              <a:ext uri="{FF2B5EF4-FFF2-40B4-BE49-F238E27FC236}">
                <a16:creationId xmlns:a16="http://schemas.microsoft.com/office/drawing/2014/main" id="{3BDD80F4-5F26-7246-964C-E85332125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83" y="1156131"/>
            <a:ext cx="11354428" cy="4549209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0C9E4B07-C829-45A7-8F10-42210D567145}"/>
              </a:ext>
            </a:extLst>
          </p:cNvPr>
          <p:cNvSpPr/>
          <p:nvPr/>
        </p:nvSpPr>
        <p:spPr>
          <a:xfrm>
            <a:off x="834165" y="1657109"/>
            <a:ext cx="5462463" cy="59995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86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BB38098E-3FC9-6E88-7F27-7BEBE6C0B426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E898FAFB-3ED6-98C7-FE8E-D34279BA633D}"/>
              </a:ext>
            </a:extLst>
          </p:cNvPr>
          <p:cNvSpPr txBox="1"/>
          <p:nvPr/>
        </p:nvSpPr>
        <p:spPr>
          <a:xfrm>
            <a:off x="4265939" y="177941"/>
            <a:ext cx="38152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Tests </a:t>
            </a:r>
            <a:r>
              <a:rPr lang="pl-PL" sz="3200" b="1" dirty="0"/>
              <a:t>– Gitlab UI </a:t>
            </a:r>
            <a:endParaRPr lang="en-US" sz="3200" b="1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5A2B33B0-ACCE-341E-FDB3-91141E4BB372}"/>
              </a:ext>
            </a:extLst>
          </p:cNvPr>
          <p:cNvSpPr txBox="1"/>
          <p:nvPr/>
        </p:nvSpPr>
        <p:spPr>
          <a:xfrm>
            <a:off x="472966" y="7627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 report for every pipeline run</a:t>
            </a:r>
            <a:r>
              <a:rPr lang="pl-PL" dirty="0"/>
              <a:t>.</a:t>
            </a:r>
            <a:endParaRPr lang="en-US" dirty="0"/>
          </a:p>
        </p:txBody>
      </p:sp>
      <p:pic>
        <p:nvPicPr>
          <p:cNvPr id="12" name="Obraz 11" descr="Obraz zawierający zrzut ekranu, tekst, oprogramowanie, Oprogramowanie multimedialne&#10;&#10;Zawartość wygenerowana przez AI może być niepoprawna.">
            <a:extLst>
              <a:ext uri="{FF2B5EF4-FFF2-40B4-BE49-F238E27FC236}">
                <a16:creationId xmlns:a16="http://schemas.microsoft.com/office/drawing/2014/main" id="{1C01A1EB-291A-22EF-C258-16B44F2D9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66" y="1592389"/>
            <a:ext cx="11401202" cy="39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48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4FB40-D897-0450-6A1B-C3C2493CF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6DA2C121-1FF9-5073-610C-EA04A689382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B4EE8C89-06D4-FB99-A9B2-DDA91E9E6E31}"/>
              </a:ext>
            </a:extLst>
          </p:cNvPr>
          <p:cNvSpPr txBox="1"/>
          <p:nvPr/>
        </p:nvSpPr>
        <p:spPr>
          <a:xfrm>
            <a:off x="3493252" y="5449344"/>
            <a:ext cx="4787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dirty="0"/>
              <a:t>Update Relations in CMDB (</a:t>
            </a:r>
            <a:r>
              <a:rPr lang="pl-PL" dirty="0" err="1"/>
              <a:t>Snow</a:t>
            </a:r>
            <a:r>
              <a:rPr lang="pl-PL" dirty="0"/>
              <a:t>) using SNOW </a:t>
            </a:r>
            <a:r>
              <a:rPr lang="pl-PL" dirty="0" err="1"/>
              <a:t>library</a:t>
            </a:r>
            <a:endParaRPr lang="en-US" dirty="0"/>
          </a:p>
        </p:txBody>
      </p:sp>
      <p:sp>
        <p:nvSpPr>
          <p:cNvPr id="19" name="Tytuł 6">
            <a:extLst>
              <a:ext uri="{FF2B5EF4-FFF2-40B4-BE49-F238E27FC236}">
                <a16:creationId xmlns:a16="http://schemas.microsoft.com/office/drawing/2014/main" id="{7D6AB684-642C-0BE4-AF43-BEA4B200B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8631" y="0"/>
            <a:ext cx="6194737" cy="822960"/>
          </a:xfrm>
        </p:spPr>
        <p:txBody>
          <a:bodyPr/>
          <a:lstStyle/>
          <a:p>
            <a:r>
              <a:rPr lang="pl-PL" dirty="0"/>
              <a:t>Gitlab Pipelines – code tour</a:t>
            </a:r>
            <a:endParaRPr lang="en-US" dirty="0"/>
          </a:p>
        </p:txBody>
      </p:sp>
      <p:pic>
        <p:nvPicPr>
          <p:cNvPr id="5" name="Obraz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CA69CC4-5538-A237-A485-28282E3CB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8" y="1378537"/>
            <a:ext cx="10250437" cy="3721495"/>
          </a:xfrm>
          <a:prstGeom prst="rect">
            <a:avLst/>
          </a:prstGeom>
        </p:spPr>
      </p:pic>
      <p:sp>
        <p:nvSpPr>
          <p:cNvPr id="3" name="Prostokąt 2">
            <a:extLst>
              <a:ext uri="{FF2B5EF4-FFF2-40B4-BE49-F238E27FC236}">
                <a16:creationId xmlns:a16="http://schemas.microsoft.com/office/drawing/2014/main" id="{D9FB03E3-D6C4-394F-98E5-0A8048FD1EB2}"/>
              </a:ext>
            </a:extLst>
          </p:cNvPr>
          <p:cNvSpPr/>
          <p:nvPr/>
        </p:nvSpPr>
        <p:spPr>
          <a:xfrm>
            <a:off x="1179565" y="1847246"/>
            <a:ext cx="6066187" cy="43296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1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37C58F25-5DAD-7EA1-895C-7B2B3004424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7E72DD6D-9CD6-F89A-8C53-C4E0F85DB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654" y="0"/>
            <a:ext cx="6194737" cy="822960"/>
          </a:xfrm>
        </p:spPr>
        <p:txBody>
          <a:bodyPr/>
          <a:lstStyle/>
          <a:p>
            <a:r>
              <a:rPr lang="pl-PL" dirty="0"/>
              <a:t>Oracle Database creation</a:t>
            </a:r>
            <a:endParaRPr lang="en-US" dirty="0"/>
          </a:p>
        </p:txBody>
      </p:sp>
      <p:pic>
        <p:nvPicPr>
          <p:cNvPr id="4" name="Obraz 3" descr="Obraz zawierający tekst, zrzut ekranu&#10;&#10;Zawartość wygenerowana przez AI może być niepoprawna.">
            <a:extLst>
              <a:ext uri="{FF2B5EF4-FFF2-40B4-BE49-F238E27FC236}">
                <a16:creationId xmlns:a16="http://schemas.microsoft.com/office/drawing/2014/main" id="{4B0D03D0-9359-3C8D-5E04-310B32129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716" y="965074"/>
            <a:ext cx="8032612" cy="5224336"/>
          </a:xfrm>
          <a:prstGeom prst="rect">
            <a:avLst/>
          </a:prstGeom>
        </p:spPr>
      </p:pic>
      <p:sp>
        <p:nvSpPr>
          <p:cNvPr id="5" name="Prostokąt 4">
            <a:extLst>
              <a:ext uri="{FF2B5EF4-FFF2-40B4-BE49-F238E27FC236}">
                <a16:creationId xmlns:a16="http://schemas.microsoft.com/office/drawing/2014/main" id="{7AF76702-55D0-8D78-3196-74AB105257B8}"/>
              </a:ext>
            </a:extLst>
          </p:cNvPr>
          <p:cNvSpPr/>
          <p:nvPr/>
        </p:nvSpPr>
        <p:spPr>
          <a:xfrm>
            <a:off x="1735149" y="1731499"/>
            <a:ext cx="6066187" cy="43296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7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0C3C0-F122-FBC3-3156-C8C9AE73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061B34F2-15E5-CC00-DD5E-8B9F8E416A21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Tytuł 6">
            <a:extLst>
              <a:ext uri="{FF2B5EF4-FFF2-40B4-BE49-F238E27FC236}">
                <a16:creationId xmlns:a16="http://schemas.microsoft.com/office/drawing/2014/main" id="{96464C84-2486-F529-BD37-ED3C235F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952" y="-127321"/>
            <a:ext cx="6194737" cy="822960"/>
          </a:xfrm>
        </p:spPr>
        <p:txBody>
          <a:bodyPr/>
          <a:lstStyle/>
          <a:p>
            <a:r>
              <a:rPr lang="pl-PL" dirty="0"/>
              <a:t>Example rollback scenario</a:t>
            </a:r>
            <a:endParaRPr lang="en-US" dirty="0"/>
          </a:p>
        </p:txBody>
      </p:sp>
      <p:pic>
        <p:nvPicPr>
          <p:cNvPr id="13" name="Obraz 12" descr="Obraz zawierający tekst, zrzut ekranu, menu&#10;&#10;Zawartość wygenerowana przez AI może być niepoprawna.">
            <a:extLst>
              <a:ext uri="{FF2B5EF4-FFF2-40B4-BE49-F238E27FC236}">
                <a16:creationId xmlns:a16="http://schemas.microsoft.com/office/drawing/2014/main" id="{AADFD194-555B-A34C-6179-ACE89FCE0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2642" y="827927"/>
            <a:ext cx="6864508" cy="5961493"/>
          </a:xfrm>
          <a:prstGeom prst="rect">
            <a:avLst/>
          </a:prstGeom>
        </p:spPr>
      </p:pic>
      <p:sp>
        <p:nvSpPr>
          <p:cNvPr id="14" name="Prostokąt 13">
            <a:extLst>
              <a:ext uri="{FF2B5EF4-FFF2-40B4-BE49-F238E27FC236}">
                <a16:creationId xmlns:a16="http://schemas.microsoft.com/office/drawing/2014/main" id="{D4E00BA2-FEF9-EDD6-AC51-3232A58F19CE}"/>
              </a:ext>
            </a:extLst>
          </p:cNvPr>
          <p:cNvSpPr/>
          <p:nvPr/>
        </p:nvSpPr>
        <p:spPr>
          <a:xfrm>
            <a:off x="2701802" y="2865817"/>
            <a:ext cx="6066187" cy="43296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rostokąt 14">
            <a:extLst>
              <a:ext uri="{FF2B5EF4-FFF2-40B4-BE49-F238E27FC236}">
                <a16:creationId xmlns:a16="http://schemas.microsoft.com/office/drawing/2014/main" id="{5A6920CC-0FAF-5B55-1896-7ADF238F2DF7}"/>
              </a:ext>
            </a:extLst>
          </p:cNvPr>
          <p:cNvSpPr/>
          <p:nvPr/>
        </p:nvSpPr>
        <p:spPr>
          <a:xfrm>
            <a:off x="2701801" y="5813589"/>
            <a:ext cx="6066187" cy="43296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10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D6ECA-3AA3-558F-01A3-D832ABA8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E82CDACC-0812-DF55-BDC9-A31D24B5C4D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8185DE9-87BB-413B-3057-FAC48AC84A92}"/>
              </a:ext>
            </a:extLst>
          </p:cNvPr>
          <p:cNvSpPr txBox="1"/>
          <p:nvPr/>
        </p:nvSpPr>
        <p:spPr>
          <a:xfrm>
            <a:off x="5023945" y="177941"/>
            <a:ext cx="16291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Tests (I)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70CEB64-D8CC-6795-2B9C-89F731452EB9}"/>
              </a:ext>
            </a:extLst>
          </p:cNvPr>
          <p:cNvSpPr txBox="1"/>
          <p:nvPr/>
        </p:nvSpPr>
        <p:spPr>
          <a:xfrm>
            <a:off x="2291256" y="1165913"/>
            <a:ext cx="1250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Test Cases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38B37818-5F0F-86B9-3267-058F985FC6CB}"/>
              </a:ext>
            </a:extLst>
          </p:cNvPr>
          <p:cNvSpPr txBox="1"/>
          <p:nvPr/>
        </p:nvSpPr>
        <p:spPr>
          <a:xfrm>
            <a:off x="7803932" y="1165913"/>
            <a:ext cx="2096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dirty="0" err="1"/>
              <a:t>Pytest</a:t>
            </a:r>
            <a:r>
              <a:rPr lang="pl-PL" b="1" dirty="0"/>
              <a:t> </a:t>
            </a:r>
            <a:r>
              <a:rPr lang="pl-PL" b="1" dirty="0" err="1"/>
              <a:t>library</a:t>
            </a:r>
            <a:endParaRPr lang="en-US" b="1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AD746AEE-A7E3-318B-015A-4CFB6BCF3A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013680"/>
              </p:ext>
            </p:extLst>
          </p:nvPr>
        </p:nvGraphicFramePr>
        <p:xfrm>
          <a:off x="976411" y="2109265"/>
          <a:ext cx="10406292" cy="399221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01704486"/>
                    </a:ext>
                  </a:extLst>
                </a:gridCol>
                <a:gridCol w="3709626">
                  <a:extLst>
                    <a:ext uri="{9D8B030D-6E8A-4147-A177-3AD203B41FA5}">
                      <a16:colId xmlns:a16="http://schemas.microsoft.com/office/drawing/2014/main" val="2136650692"/>
                    </a:ext>
                  </a:extLst>
                </a:gridCol>
                <a:gridCol w="2601573">
                  <a:extLst>
                    <a:ext uri="{9D8B030D-6E8A-4147-A177-3AD203B41FA5}">
                      <a16:colId xmlns:a16="http://schemas.microsoft.com/office/drawing/2014/main" val="3688558324"/>
                    </a:ext>
                  </a:extLst>
                </a:gridCol>
                <a:gridCol w="2601573">
                  <a:extLst>
                    <a:ext uri="{9D8B030D-6E8A-4147-A177-3AD203B41FA5}">
                      <a16:colId xmlns:a16="http://schemas.microsoft.com/office/drawing/2014/main" val="261409014"/>
                    </a:ext>
                  </a:extLst>
                </a:gridCol>
              </a:tblGrid>
              <a:tr h="413218"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Unique</a:t>
                      </a:r>
                      <a:r>
                        <a:rPr lang="pl-PL" b="0" dirty="0"/>
                        <a:t> ID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Test </a:t>
                      </a:r>
                      <a:r>
                        <a:rPr lang="pl-PL" b="0" dirty="0" err="1"/>
                        <a:t>Name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Requirement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Acceptance</a:t>
                      </a:r>
                      <a:r>
                        <a:rPr lang="pl-PL" b="0" dirty="0"/>
                        <a:t> </a:t>
                      </a:r>
                      <a:r>
                        <a:rPr lang="pl-PL" b="0" dirty="0" err="1"/>
                        <a:t>Criteria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90732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req001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test_deploy.py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Check Oracle Software / Oracle database have installed/created</a:t>
                      </a:r>
                    </a:p>
                    <a:p>
                      <a:pPr algn="ctr"/>
                      <a:r>
                        <a:rPr lang="en-US" dirty="0"/>
                        <a:t>successfully 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Oracle Software </a:t>
                      </a:r>
                      <a:r>
                        <a:rPr lang="pl-PL" dirty="0" err="1"/>
                        <a:t>Installed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90469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req002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test_qualifiedcheckbox.py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if Qualified checkbox is checked in SNOW for new database CI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 err="1"/>
                        <a:t>Qualified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checkbox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checked</a:t>
                      </a:r>
                      <a:r>
                        <a:rPr lang="pl-PL" dirty="0"/>
                        <a:t> in Configuration Item in </a:t>
                      </a:r>
                      <a:r>
                        <a:rPr lang="pl-PL" dirty="0" err="1"/>
                        <a:t>Servicenow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89196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req003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test_backup_retention.py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if backup retention for database has been set correctly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dirty="0"/>
                        <a:t>Backup retention is </a:t>
                      </a:r>
                      <a:r>
                        <a:rPr lang="pl-PL" dirty="0" err="1"/>
                        <a:t>correct</a:t>
                      </a:r>
                      <a:r>
                        <a:rPr lang="pl-PL" dirty="0"/>
                        <a:t> (</a:t>
                      </a:r>
                      <a:r>
                        <a:rPr lang="pl-PL" dirty="0" err="1"/>
                        <a:t>prd</a:t>
                      </a:r>
                      <a:r>
                        <a:rPr lang="pl-PL" dirty="0"/>
                        <a:t> – 21 </a:t>
                      </a:r>
                      <a:r>
                        <a:rPr lang="pl-PL" dirty="0" err="1"/>
                        <a:t>days</a:t>
                      </a:r>
                      <a:r>
                        <a:rPr lang="pl-PL" dirty="0"/>
                        <a:t>, </a:t>
                      </a:r>
                      <a:r>
                        <a:rPr lang="pl-PL" dirty="0" err="1"/>
                        <a:t>nonprd</a:t>
                      </a:r>
                      <a:r>
                        <a:rPr lang="pl-PL" dirty="0"/>
                        <a:t> – 14 </a:t>
                      </a:r>
                      <a:r>
                        <a:rPr lang="pl-PL" dirty="0" err="1"/>
                        <a:t>days</a:t>
                      </a:r>
                      <a:r>
                        <a:rPr lang="pl-PL" dirty="0"/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60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431D-5C42-A2FD-6684-78E187D4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CB93BF2B-646B-D5F2-C5C5-B509B2D4457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23AC343-6E34-4D92-872B-F77736BC0887}"/>
              </a:ext>
            </a:extLst>
          </p:cNvPr>
          <p:cNvSpPr txBox="1"/>
          <p:nvPr/>
        </p:nvSpPr>
        <p:spPr>
          <a:xfrm>
            <a:off x="5023945" y="177941"/>
            <a:ext cx="2096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Tests (I</a:t>
            </a:r>
            <a:r>
              <a:rPr lang="pl-PL" sz="3200" b="1" dirty="0"/>
              <a:t>I</a:t>
            </a:r>
            <a:r>
              <a:rPr lang="en-US" sz="3200" b="1" dirty="0"/>
              <a:t>)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9FCA008A-7560-2CCA-26DE-5A9EB3EEE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325422"/>
              </p:ext>
            </p:extLst>
          </p:nvPr>
        </p:nvGraphicFramePr>
        <p:xfrm>
          <a:off x="976411" y="2109265"/>
          <a:ext cx="10490375" cy="34564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01704486"/>
                    </a:ext>
                  </a:extLst>
                </a:gridCol>
                <a:gridCol w="3584028">
                  <a:extLst>
                    <a:ext uri="{9D8B030D-6E8A-4147-A177-3AD203B41FA5}">
                      <a16:colId xmlns:a16="http://schemas.microsoft.com/office/drawing/2014/main" val="2136650692"/>
                    </a:ext>
                  </a:extLst>
                </a:gridCol>
                <a:gridCol w="4803227">
                  <a:extLst>
                    <a:ext uri="{9D8B030D-6E8A-4147-A177-3AD203B41FA5}">
                      <a16:colId xmlns:a16="http://schemas.microsoft.com/office/drawing/2014/main" val="3688558324"/>
                    </a:ext>
                  </a:extLst>
                </a:gridCol>
              </a:tblGrid>
              <a:tr h="413218"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Pipeline Stage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Fired</a:t>
                      </a:r>
                      <a:r>
                        <a:rPr lang="pl-PL" b="0" dirty="0"/>
                        <a:t> test(s)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Not-</a:t>
                      </a:r>
                      <a:r>
                        <a:rPr lang="pl-PL" b="0" dirty="0" err="1"/>
                        <a:t>fired</a:t>
                      </a:r>
                      <a:r>
                        <a:rPr lang="pl-PL" b="0" dirty="0"/>
                        <a:t> test(s)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90732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Oracle Software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test_deploy.py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test_qualifiedcheckbox.py</a:t>
                      </a:r>
                    </a:p>
                    <a:p>
                      <a:pPr algn="ctr"/>
                      <a:r>
                        <a:rPr lang="en-US" dirty="0"/>
                        <a:t>test_backup_retention.py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90469"/>
                  </a:ext>
                </a:extLst>
              </a:tr>
              <a:tr h="5631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Oracle Database</a:t>
                      </a:r>
                    </a:p>
                    <a:p>
                      <a:pPr algn="ctr"/>
                      <a:r>
                        <a:rPr lang="en-US" dirty="0"/>
                        <a:t>Creation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test_deploy.py</a:t>
                      </a:r>
                    </a:p>
                    <a:p>
                      <a:pPr algn="ctr"/>
                      <a:r>
                        <a:rPr lang="en-US" dirty="0"/>
                        <a:t>test_backup_retention.py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test_qualifiedcheckbox.py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89196"/>
                  </a:ext>
                </a:extLst>
              </a:tr>
              <a:tr h="9272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 CI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test_qualifiedcheckbox.py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test_deploy.py</a:t>
                      </a:r>
                    </a:p>
                    <a:p>
                      <a:pPr algn="ctr"/>
                      <a:r>
                        <a:rPr lang="en-US" dirty="0"/>
                        <a:t>test_backup_retention.py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609339"/>
                  </a:ext>
                </a:extLst>
              </a:tr>
            </a:tbl>
          </a:graphicData>
        </a:graphic>
      </p:graphicFrame>
      <p:sp>
        <p:nvSpPr>
          <p:cNvPr id="7" name="pole tekstowe 6">
            <a:extLst>
              <a:ext uri="{FF2B5EF4-FFF2-40B4-BE49-F238E27FC236}">
                <a16:creationId xmlns:a16="http://schemas.microsoft.com/office/drawing/2014/main" id="{A4DBC3BF-3728-C5CF-884D-D3ED97ED4C05}"/>
              </a:ext>
            </a:extLst>
          </p:cNvPr>
          <p:cNvSpPr txBox="1"/>
          <p:nvPr/>
        </p:nvSpPr>
        <p:spPr>
          <a:xfrm>
            <a:off x="944880" y="12513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Pipeline Stages and Tests </a:t>
            </a:r>
          </a:p>
        </p:txBody>
      </p:sp>
    </p:spTree>
    <p:extLst>
      <p:ext uri="{BB962C8B-B14F-4D97-AF65-F5344CB8AC3E}">
        <p14:creationId xmlns:p14="http://schemas.microsoft.com/office/powerpoint/2010/main" val="28922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6EA3FFDE-4B45-62D5-0A49-6AF532F69DE4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781D1AA-4895-B5F4-056F-0374612BF6B5}"/>
              </a:ext>
            </a:extLst>
          </p:cNvPr>
          <p:cNvSpPr txBox="1"/>
          <p:nvPr/>
        </p:nvSpPr>
        <p:spPr>
          <a:xfrm>
            <a:off x="5023945" y="177941"/>
            <a:ext cx="20968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Validation</a:t>
            </a:r>
            <a:endParaRPr lang="en-US" sz="3200" b="1" dirty="0"/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5BF17D74-2EDF-5E3B-9E5B-EAEAFD5FE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483088"/>
              </p:ext>
            </p:extLst>
          </p:nvPr>
        </p:nvGraphicFramePr>
        <p:xfrm>
          <a:off x="429658" y="727434"/>
          <a:ext cx="11293809" cy="5029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610135">
                  <a:extLst>
                    <a:ext uri="{9D8B030D-6E8A-4147-A177-3AD203B41FA5}">
                      <a16:colId xmlns:a16="http://schemas.microsoft.com/office/drawing/2014/main" val="301704486"/>
                    </a:ext>
                  </a:extLst>
                </a:gridCol>
                <a:gridCol w="6683674">
                  <a:extLst>
                    <a:ext uri="{9D8B030D-6E8A-4147-A177-3AD203B41FA5}">
                      <a16:colId xmlns:a16="http://schemas.microsoft.com/office/drawing/2014/main" val="2136650692"/>
                    </a:ext>
                  </a:extLst>
                </a:gridCol>
              </a:tblGrid>
              <a:tr h="239835">
                <a:tc>
                  <a:txBody>
                    <a:bodyPr/>
                    <a:lstStyle/>
                    <a:p>
                      <a:pPr algn="ctr"/>
                      <a:r>
                        <a:rPr lang="pl-PL" b="0" dirty="0"/>
                        <a:t>Input </a:t>
                      </a:r>
                      <a:r>
                        <a:rPr lang="pl-PL" b="0" dirty="0" err="1"/>
                        <a:t>Parameter</a:t>
                      </a:r>
                      <a:r>
                        <a:rPr lang="pl-PL" b="0" dirty="0"/>
                        <a:t> </a:t>
                      </a:r>
                      <a:r>
                        <a:rPr lang="pl-PL" b="0" dirty="0" err="1"/>
                        <a:t>Name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b="0" dirty="0" err="1"/>
                        <a:t>Check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690732"/>
                  </a:ext>
                </a:extLst>
              </a:tr>
              <a:tr h="200456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business_service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If not called by </a:t>
                      </a:r>
                      <a:r>
                        <a:rPr lang="pl-PL" dirty="0"/>
                        <a:t>Web</a:t>
                      </a:r>
                      <a:r>
                        <a:rPr lang="en-US" dirty="0"/>
                        <a:t> Form then check if exists in 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390469"/>
                  </a:ext>
                </a:extLst>
              </a:tr>
              <a:tr h="5995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server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If not called by </a:t>
                      </a:r>
                      <a:r>
                        <a:rPr lang="pl-PL" dirty="0"/>
                        <a:t>Web</a:t>
                      </a:r>
                      <a:r>
                        <a:rPr lang="en-US" dirty="0"/>
                        <a:t> Form then check if exists in ServiceNow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789196"/>
                  </a:ext>
                </a:extLst>
              </a:tr>
              <a:tr h="419711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db_name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Database name has maximum 8 characters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609339"/>
                  </a:ext>
                </a:extLst>
              </a:tr>
              <a:tr h="309523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size_db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Is integer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491300"/>
                  </a:ext>
                </a:extLst>
              </a:tr>
              <a:tr h="7794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</a:t>
                      </a:r>
                      <a:r>
                        <a:rPr lang="en-US" dirty="0" err="1"/>
                        <a:t>level_support</a:t>
                      </a:r>
                      <a:endParaRPr lang="en-US" dirty="0"/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If not called by </a:t>
                      </a:r>
                      <a:r>
                        <a:rPr lang="pl-PL" dirty="0"/>
                        <a:t>Web</a:t>
                      </a:r>
                      <a:r>
                        <a:rPr lang="en-US" dirty="0"/>
                        <a:t> Form then if has value in set (‘Production’, ‘Test’, ‘Development’, ‘Sandpit’)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5688626"/>
                  </a:ext>
                </a:extLst>
              </a:tr>
              <a:tr h="9593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version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 not empty string</a:t>
                      </a:r>
                    </a:p>
                    <a:p>
                      <a:pPr algn="ctr"/>
                      <a:r>
                        <a:rPr lang="en-US" dirty="0"/>
                        <a:t>If not called by iCare Form then if value in in supported version:</a:t>
                      </a:r>
                    </a:p>
                    <a:p>
                      <a:pPr algn="ctr"/>
                      <a:r>
                        <a:rPr lang="en-US" dirty="0"/>
                        <a:t>12.2 18.3 18.6 18.8 18.12 18.13 18.14 19.14 19.15 19.17 19.18 19.19 19.20 19.21 19.22 19.23 19.24 19.26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74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07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D17E3-B617-1831-526D-DA507DF75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9BFCFF59-77D6-461B-070D-2D256F39ECE8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9EDD04C-64F5-85AA-3D30-D94C929B491C}"/>
              </a:ext>
            </a:extLst>
          </p:cNvPr>
          <p:cNvSpPr txBox="1"/>
          <p:nvPr/>
        </p:nvSpPr>
        <p:spPr>
          <a:xfrm>
            <a:off x="3513073" y="110546"/>
            <a:ext cx="56403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Web Form for Deployment</a:t>
            </a:r>
          </a:p>
        </p:txBody>
      </p:sp>
      <p:pic>
        <p:nvPicPr>
          <p:cNvPr id="5" name="Obraz 4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796D453C-6707-A597-8E46-D2D9B2920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005" y="766450"/>
            <a:ext cx="9379990" cy="532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11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08E8-9AA7-F077-5641-C0A92C999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3596758-83B4-F073-7DB5-5DAC5982C443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64631EC-B2AE-9D16-89C2-971963A58A34}"/>
              </a:ext>
            </a:extLst>
          </p:cNvPr>
          <p:cNvSpPr txBox="1"/>
          <p:nvPr/>
        </p:nvSpPr>
        <p:spPr>
          <a:xfrm>
            <a:off x="4416053" y="177598"/>
            <a:ext cx="36042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Automation via API</a:t>
            </a:r>
          </a:p>
        </p:txBody>
      </p:sp>
      <p:sp>
        <p:nvSpPr>
          <p:cNvPr id="4" name="Tytuł 6">
            <a:extLst>
              <a:ext uri="{FF2B5EF4-FFF2-40B4-BE49-F238E27FC236}">
                <a16:creationId xmlns:a16="http://schemas.microsoft.com/office/drawing/2014/main" id="{18B9AF52-C6BB-3719-EDA7-71FD06EBDA9A}"/>
              </a:ext>
            </a:extLst>
          </p:cNvPr>
          <p:cNvSpPr txBox="1">
            <a:spLocks/>
          </p:cNvSpPr>
          <p:nvPr/>
        </p:nvSpPr>
        <p:spPr>
          <a:xfrm>
            <a:off x="345129" y="287067"/>
            <a:ext cx="4516803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Pre-checks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EE1DA84A-6788-FEA2-6638-305AEE923A0F}"/>
              </a:ext>
            </a:extLst>
          </p:cNvPr>
          <p:cNvSpPr txBox="1"/>
          <p:nvPr/>
        </p:nvSpPr>
        <p:spPr>
          <a:xfrm>
            <a:off x="345128" y="1445478"/>
            <a:ext cx="114649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curl -u USER:PASS -H 'Content-Type: application/json' </a:t>
            </a:r>
          </a:p>
          <a:p>
            <a:r>
              <a:rPr lang="en-US" dirty="0"/>
              <a:t>https://mercury.com/v1/form/oracle_deployment_operation/version/1/validate --data '{"mail_address":„</a:t>
            </a:r>
            <a:r>
              <a:rPr lang="pl-PL" dirty="0"/>
              <a:t>tomasz.ziss@example.com</a:t>
            </a:r>
            <a:r>
              <a:rPr lang="en-US" dirty="0"/>
              <a:t>","userid":„</a:t>
            </a:r>
            <a:r>
              <a:rPr lang="pl-PL" dirty="0"/>
              <a:t>tziss</a:t>
            </a:r>
            <a:r>
              <a:rPr lang="en-US" dirty="0"/>
              <a:t>","request_id":"RITMIACAPI","ci_name":„</a:t>
            </a:r>
            <a:r>
              <a:rPr lang="pl-PL" dirty="0"/>
              <a:t>PRD</a:t>
            </a:r>
            <a:r>
              <a:rPr lang="en-US" dirty="0"/>
              <a:t>@</a:t>
            </a:r>
            <a:r>
              <a:rPr lang="pl-PL" dirty="0"/>
              <a:t>host.</a:t>
            </a:r>
            <a:r>
              <a:rPr lang="en-US" dirty="0"/>
              <a:t>com","ora_check":"Y","operational_test":"N","oracle_version":"19.26","email_notification": "No"}'</a:t>
            </a:r>
          </a:p>
        </p:txBody>
      </p:sp>
      <p:sp>
        <p:nvSpPr>
          <p:cNvPr id="8" name="Tytuł 6">
            <a:extLst>
              <a:ext uri="{FF2B5EF4-FFF2-40B4-BE49-F238E27FC236}">
                <a16:creationId xmlns:a16="http://schemas.microsoft.com/office/drawing/2014/main" id="{98E206FD-1611-B934-8994-939ECCD050C4}"/>
              </a:ext>
            </a:extLst>
          </p:cNvPr>
          <p:cNvSpPr txBox="1">
            <a:spLocks/>
          </p:cNvSpPr>
          <p:nvPr/>
        </p:nvSpPr>
        <p:spPr>
          <a:xfrm>
            <a:off x="345128" y="2602331"/>
            <a:ext cx="4516803" cy="822960"/>
          </a:xfrm>
          <a:prstGeom prst="rect">
            <a:avLst/>
          </a:prstGeom>
          <a:noFill/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5000"/>
              </a:lnSpc>
              <a:spcBef>
                <a:spcPct val="0"/>
              </a:spcBef>
              <a:buNone/>
              <a:defRPr lang="en-US" sz="3200" b="0" i="0" kern="1200" baseline="0">
                <a:solidFill>
                  <a:schemeClr val="tx1"/>
                </a:solidFill>
                <a:latin typeface="+mj-lt"/>
                <a:ea typeface="+mn-ea"/>
                <a:cs typeface="Oracle Sans Tab" panose="020B0503020204020204" pitchFamily="34" charset="0"/>
              </a:defRPr>
            </a:lvl1pPr>
          </a:lstStyle>
          <a:p>
            <a:r>
              <a:rPr lang="pl-PL" sz="2000" dirty="0"/>
              <a:t>Submit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ADC7F660-756C-3157-6A58-D75985142758}"/>
              </a:ext>
            </a:extLst>
          </p:cNvPr>
          <p:cNvSpPr txBox="1"/>
          <p:nvPr/>
        </p:nvSpPr>
        <p:spPr>
          <a:xfrm>
            <a:off x="255157" y="3760742"/>
            <a:ext cx="114649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curl -u USER:PASS -H 'Content-Type: application/json' </a:t>
            </a:r>
          </a:p>
          <a:p>
            <a:r>
              <a:rPr lang="en-US" dirty="0"/>
              <a:t>https://mercury.com/v1/form/oracle_deployment_operation/version/1/submit --data '{"version":"19.26","server":„</a:t>
            </a:r>
            <a:r>
              <a:rPr lang="pl-PL" dirty="0"/>
              <a:t>example</a:t>
            </a:r>
            <a:r>
              <a:rPr lang="en-US" dirty="0"/>
              <a:t>.com","action":"installsw","mail_address":„</a:t>
            </a:r>
            <a:r>
              <a:rPr lang="pl-PL" dirty="0"/>
              <a:t>tomasz.ziss</a:t>
            </a:r>
            <a:r>
              <a:rPr lang="en-US" dirty="0"/>
              <a:t>@</a:t>
            </a:r>
            <a:r>
              <a:rPr lang="pl-PL" dirty="0"/>
              <a:t>example</a:t>
            </a:r>
            <a:r>
              <a:rPr lang="en-US" dirty="0"/>
              <a:t>.com","request_id":"RITMORAPRE","userid":"</a:t>
            </a:r>
            <a:r>
              <a:rPr lang="pl-PL" dirty="0"/>
              <a:t> tziss</a:t>
            </a:r>
            <a:r>
              <a:rPr lang="en-US" dirty="0"/>
              <a:t>"}'</a:t>
            </a:r>
          </a:p>
        </p:txBody>
      </p:sp>
    </p:spTree>
    <p:extLst>
      <p:ext uri="{BB962C8B-B14F-4D97-AF65-F5344CB8AC3E}">
        <p14:creationId xmlns:p14="http://schemas.microsoft.com/office/powerpoint/2010/main" val="219694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37D1-14EC-4BD5-54A5-CB6D3C4D6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8016FBC4-0666-F0BE-F578-5B05B861B21F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B782439C-9DBD-30E7-2F40-254D0BF4AA14}"/>
              </a:ext>
            </a:extLst>
          </p:cNvPr>
          <p:cNvSpPr txBox="1"/>
          <p:nvPr/>
        </p:nvSpPr>
        <p:spPr>
          <a:xfrm>
            <a:off x="3422074" y="246872"/>
            <a:ext cx="5777344" cy="87111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lang="pl-PL" sz="3200" b="1" dirty="0"/>
              <a:t>Automatic Regression tests (I)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8CF7F863-B6D1-F35C-8793-BF529BCA9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976391"/>
              </p:ext>
            </p:extLst>
          </p:nvPr>
        </p:nvGraphicFramePr>
        <p:xfrm>
          <a:off x="501358" y="1143237"/>
          <a:ext cx="1978605" cy="1917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59535">
                  <a:extLst>
                    <a:ext uri="{9D8B030D-6E8A-4147-A177-3AD203B41FA5}">
                      <a16:colId xmlns:a16="http://schemas.microsoft.com/office/drawing/2014/main" val="642295709"/>
                    </a:ext>
                  </a:extLst>
                </a:gridCol>
                <a:gridCol w="659535">
                  <a:extLst>
                    <a:ext uri="{9D8B030D-6E8A-4147-A177-3AD203B41FA5}">
                      <a16:colId xmlns:a16="http://schemas.microsoft.com/office/drawing/2014/main" val="675232421"/>
                    </a:ext>
                  </a:extLst>
                </a:gridCol>
                <a:gridCol w="659535">
                  <a:extLst>
                    <a:ext uri="{9D8B030D-6E8A-4147-A177-3AD203B41FA5}">
                      <a16:colId xmlns:a16="http://schemas.microsoft.com/office/drawing/2014/main" val="3757423222"/>
                    </a:ext>
                  </a:extLst>
                </a:gridCol>
              </a:tblGrid>
              <a:tr h="479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31260"/>
                  </a:ext>
                </a:extLst>
              </a:tr>
              <a:tr h="479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903347"/>
                  </a:ext>
                </a:extLst>
              </a:tr>
              <a:tr h="479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432486"/>
                  </a:ext>
                </a:extLst>
              </a:tr>
              <a:tr h="47947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413994"/>
                  </a:ext>
                </a:extLst>
              </a:tr>
            </a:tbl>
          </a:graphicData>
        </a:graphic>
      </p:graphicFrame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77F872E-0768-B365-5B17-95C5458DAC00}"/>
              </a:ext>
            </a:extLst>
          </p:cNvPr>
          <p:cNvSpPr txBox="1"/>
          <p:nvPr/>
        </p:nvSpPr>
        <p:spPr>
          <a:xfrm>
            <a:off x="19190" y="3270464"/>
            <a:ext cx="2809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i="1" dirty="0"/>
              <a:t>Tests Sets </a:t>
            </a:r>
            <a:br>
              <a:rPr lang="pl-PL" i="1" dirty="0"/>
            </a:br>
            <a:r>
              <a:rPr lang="pl-PL" i="1" dirty="0"/>
              <a:t>(Multipipeline defintion)</a:t>
            </a:r>
            <a:endParaRPr lang="en-US" i="1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35DCC1EF-6733-FB6B-5299-7E880B9F6CDA}"/>
              </a:ext>
            </a:extLst>
          </p:cNvPr>
          <p:cNvSpPr txBox="1"/>
          <p:nvPr/>
        </p:nvSpPr>
        <p:spPr>
          <a:xfrm>
            <a:off x="3550366" y="3270464"/>
            <a:ext cx="2809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i="1" dirty="0"/>
              <a:t>Build dynamically pipeline (multiple stages) for each Test Set</a:t>
            </a:r>
            <a:endParaRPr lang="en-US" i="1" dirty="0"/>
          </a:p>
        </p:txBody>
      </p:sp>
      <p:sp>
        <p:nvSpPr>
          <p:cNvPr id="14" name="Strzałka: w prawo 13">
            <a:extLst>
              <a:ext uri="{FF2B5EF4-FFF2-40B4-BE49-F238E27FC236}">
                <a16:creationId xmlns:a16="http://schemas.microsoft.com/office/drawing/2014/main" id="{43FCC921-050B-31FF-251F-6737D2F18F80}"/>
              </a:ext>
            </a:extLst>
          </p:cNvPr>
          <p:cNvSpPr/>
          <p:nvPr/>
        </p:nvSpPr>
        <p:spPr>
          <a:xfrm>
            <a:off x="3032483" y="1964227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9D687519-A5FE-6535-7513-3908C736C71B}"/>
              </a:ext>
            </a:extLst>
          </p:cNvPr>
          <p:cNvSpPr txBox="1"/>
          <p:nvPr/>
        </p:nvSpPr>
        <p:spPr>
          <a:xfrm>
            <a:off x="7786976" y="3460516"/>
            <a:ext cx="2809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i="1" dirty="0"/>
              <a:t>Pipelines for each TestSet </a:t>
            </a:r>
            <a:endParaRPr lang="en-US" i="1" dirty="0"/>
          </a:p>
        </p:txBody>
      </p:sp>
      <p:sp>
        <p:nvSpPr>
          <p:cNvPr id="17" name="Strzałka: w prawo 16">
            <a:extLst>
              <a:ext uri="{FF2B5EF4-FFF2-40B4-BE49-F238E27FC236}">
                <a16:creationId xmlns:a16="http://schemas.microsoft.com/office/drawing/2014/main" id="{FB3F96C0-9A84-E014-666C-9E401ECC980C}"/>
              </a:ext>
            </a:extLst>
          </p:cNvPr>
          <p:cNvSpPr/>
          <p:nvPr/>
        </p:nvSpPr>
        <p:spPr>
          <a:xfrm>
            <a:off x="5826670" y="1985294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3" name="Obraz 22">
            <a:extLst>
              <a:ext uri="{FF2B5EF4-FFF2-40B4-BE49-F238E27FC236}">
                <a16:creationId xmlns:a16="http://schemas.microsoft.com/office/drawing/2014/main" id="{389BA563-425F-AF87-2DA4-C3360F4ED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603" y="1145414"/>
            <a:ext cx="4543037" cy="967499"/>
          </a:xfrm>
          <a:prstGeom prst="rect">
            <a:avLst/>
          </a:prstGeom>
        </p:spPr>
      </p:pic>
      <p:pic>
        <p:nvPicPr>
          <p:cNvPr id="24" name="Obraz 23">
            <a:extLst>
              <a:ext uri="{FF2B5EF4-FFF2-40B4-BE49-F238E27FC236}">
                <a16:creationId xmlns:a16="http://schemas.microsoft.com/office/drawing/2014/main" id="{39980976-3BE7-0C1E-F271-0462663B3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7603" y="2302965"/>
            <a:ext cx="4543037" cy="967499"/>
          </a:xfrm>
          <a:prstGeom prst="rect">
            <a:avLst/>
          </a:prstGeom>
        </p:spPr>
      </p:pic>
      <p:pic>
        <p:nvPicPr>
          <p:cNvPr id="31" name="Obraz 30" descr="Obraz zawierający zegar, Zegar ścienny, Zegar Quartz, budzik&#10;&#10;Zawartość wygenerowana przez AI może być niepoprawna.">
            <a:extLst>
              <a:ext uri="{FF2B5EF4-FFF2-40B4-BE49-F238E27FC236}">
                <a16:creationId xmlns:a16="http://schemas.microsoft.com/office/drawing/2014/main" id="{D4EE3D3D-1346-58F3-5906-6C17DE242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424" y="5333123"/>
            <a:ext cx="952549" cy="901746"/>
          </a:xfrm>
          <a:prstGeom prst="rect">
            <a:avLst/>
          </a:prstGeom>
        </p:spPr>
      </p:pic>
      <p:sp>
        <p:nvSpPr>
          <p:cNvPr id="32" name="Strzałka: w prawo 31">
            <a:extLst>
              <a:ext uri="{FF2B5EF4-FFF2-40B4-BE49-F238E27FC236}">
                <a16:creationId xmlns:a16="http://schemas.microsoft.com/office/drawing/2014/main" id="{B7F71EFD-111B-8D7E-EBF2-917F90941B62}"/>
              </a:ext>
            </a:extLst>
          </p:cNvPr>
          <p:cNvSpPr/>
          <p:nvPr/>
        </p:nvSpPr>
        <p:spPr>
          <a:xfrm rot="16200000">
            <a:off x="954299" y="4322321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A855A485-16FA-5829-7697-281203C52E4C}"/>
              </a:ext>
            </a:extLst>
          </p:cNvPr>
          <p:cNvSpPr txBox="1"/>
          <p:nvPr/>
        </p:nvSpPr>
        <p:spPr>
          <a:xfrm>
            <a:off x="3032483" y="5588538"/>
            <a:ext cx="7973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3600" dirty="0">
                <a:solidFill>
                  <a:srgbClr val="00B050"/>
                </a:solidFill>
              </a:rPr>
              <a:t>Dynamic child pipeline generation (YAML)</a:t>
            </a:r>
            <a:endParaRPr lang="en-US" sz="3600" dirty="0">
              <a:solidFill>
                <a:srgbClr val="00B050"/>
              </a:solidFill>
            </a:endParaRPr>
          </a:p>
        </p:txBody>
      </p: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0274CAC0-4EC1-AB8C-C125-2BA2974F65AA}"/>
              </a:ext>
            </a:extLst>
          </p:cNvPr>
          <p:cNvCxnSpPr/>
          <p:nvPr/>
        </p:nvCxnSpPr>
        <p:spPr>
          <a:xfrm flipV="1">
            <a:off x="5009804" y="4281484"/>
            <a:ext cx="0" cy="119639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0336625-201C-E479-A9F2-253395817E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3428283"/>
              </p:ext>
            </p:extLst>
          </p:nvPr>
        </p:nvGraphicFramePr>
        <p:xfrm>
          <a:off x="4035716" y="1535176"/>
          <a:ext cx="1536821" cy="1382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25351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BBA1-DF9A-724E-75FD-1D9C9F46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1EBABC77-FB85-6BA6-8466-38CB096DB6C2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8CF4C3C-5A58-8678-E538-A524C72FA695}"/>
              </a:ext>
            </a:extLst>
          </p:cNvPr>
          <p:cNvSpPr txBox="1"/>
          <p:nvPr/>
        </p:nvSpPr>
        <p:spPr>
          <a:xfrm>
            <a:off x="3422074" y="246872"/>
            <a:ext cx="6483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Automatic Regression tests (II)</a:t>
            </a: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7ED9F5DF-C016-D012-239D-09F93B1C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60" y="1077739"/>
            <a:ext cx="11152909" cy="1241632"/>
          </a:xfrm>
          <a:prstGeom prst="rect">
            <a:avLst/>
          </a:prstGeom>
        </p:spPr>
      </p:pic>
      <p:pic>
        <p:nvPicPr>
          <p:cNvPr id="13" name="Obraz 12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0EA03D6A-1DC0-B91C-E209-D768F888F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97" y="3758316"/>
            <a:ext cx="5072723" cy="1763563"/>
          </a:xfrm>
          <a:prstGeom prst="rect">
            <a:avLst/>
          </a:prstGeom>
        </p:spPr>
      </p:pic>
      <p:pic>
        <p:nvPicPr>
          <p:cNvPr id="4" name="Obraz 3" descr="Obraz zawierający tekst, zrzut ekranu, Czcionka, dokument&#10;&#10;Zawartość wygenerowana przez AI może być niepoprawna.">
            <a:extLst>
              <a:ext uri="{FF2B5EF4-FFF2-40B4-BE49-F238E27FC236}">
                <a16:creationId xmlns:a16="http://schemas.microsoft.com/office/drawing/2014/main" id="{D0B6D2B7-D138-BBEA-618B-C886AA5B3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9509" y="2565465"/>
            <a:ext cx="3491742" cy="3647830"/>
          </a:xfrm>
          <a:prstGeom prst="rect">
            <a:avLst/>
          </a:prstGeom>
        </p:spPr>
      </p:pic>
      <p:sp>
        <p:nvSpPr>
          <p:cNvPr id="5" name="Strzałka: w prawo 4">
            <a:extLst>
              <a:ext uri="{FF2B5EF4-FFF2-40B4-BE49-F238E27FC236}">
                <a16:creationId xmlns:a16="http://schemas.microsoft.com/office/drawing/2014/main" id="{B7E68908-E08E-4058-596F-B2C4DE6D9B85}"/>
              </a:ext>
            </a:extLst>
          </p:cNvPr>
          <p:cNvSpPr/>
          <p:nvPr/>
        </p:nvSpPr>
        <p:spPr>
          <a:xfrm rot="5400000">
            <a:off x="2415337" y="2816042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trzałka: w prawo 7">
            <a:extLst>
              <a:ext uri="{FF2B5EF4-FFF2-40B4-BE49-F238E27FC236}">
                <a16:creationId xmlns:a16="http://schemas.microsoft.com/office/drawing/2014/main" id="{FBE35976-396B-FB97-9C42-A00741144698}"/>
              </a:ext>
            </a:extLst>
          </p:cNvPr>
          <p:cNvSpPr/>
          <p:nvPr/>
        </p:nvSpPr>
        <p:spPr>
          <a:xfrm>
            <a:off x="5373114" y="4350278"/>
            <a:ext cx="1066800" cy="453108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25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48948-1388-5C2C-1F7D-B071EC68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468CCD9A-7FC5-696B-6642-156E647E133C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22C1F25-7348-70DE-06E4-B00379BD585F}"/>
              </a:ext>
            </a:extLst>
          </p:cNvPr>
          <p:cNvSpPr txBox="1"/>
          <p:nvPr/>
        </p:nvSpPr>
        <p:spPr>
          <a:xfrm>
            <a:off x="3422074" y="246872"/>
            <a:ext cx="6483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/>
              <a:t>Automatic Regression tests (III)</a:t>
            </a:r>
          </a:p>
        </p:txBody>
      </p:sp>
      <p:pic>
        <p:nvPicPr>
          <p:cNvPr id="9" name="Obraz 8" descr="Obraz zawierający Oprogramowanie multimedialne, oprogramowanie, Oprogramowanie graficzne, zrzut ekranu&#10;&#10;Zawartość wygenerowana przez AI może być niepoprawna.">
            <a:extLst>
              <a:ext uri="{FF2B5EF4-FFF2-40B4-BE49-F238E27FC236}">
                <a16:creationId xmlns:a16="http://schemas.microsoft.com/office/drawing/2014/main" id="{044EE1F2-DC2D-2FFC-3F6F-4D709DE57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268" y="1875495"/>
            <a:ext cx="11765464" cy="260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6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3C1922EE-BBB9-56F2-55D0-385B3838938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D0B8665-B1FD-5A19-A988-A21CE67BD2B1}"/>
              </a:ext>
            </a:extLst>
          </p:cNvPr>
          <p:cNvSpPr txBox="1"/>
          <p:nvPr/>
        </p:nvSpPr>
        <p:spPr>
          <a:xfrm>
            <a:off x="4662177" y="179406"/>
            <a:ext cx="37772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3200" b="1" dirty="0" err="1"/>
              <a:t>Lessons</a:t>
            </a:r>
            <a:r>
              <a:rPr lang="pl-PL" sz="3200" b="1" dirty="0"/>
              <a:t> </a:t>
            </a:r>
            <a:r>
              <a:rPr lang="pl-PL" sz="3200" b="1" dirty="0" err="1"/>
              <a:t>Learned</a:t>
            </a:r>
            <a:endParaRPr lang="en-US" sz="3200" b="1" dirty="0"/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98A90329-248A-ACED-3235-DC38CA8A7F85}"/>
              </a:ext>
            </a:extLst>
          </p:cNvPr>
          <p:cNvSpPr txBox="1"/>
          <p:nvPr/>
        </p:nvSpPr>
        <p:spPr>
          <a:xfrm>
            <a:off x="531222" y="1028343"/>
            <a:ext cx="1112955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Ensure</a:t>
            </a:r>
            <a:r>
              <a:rPr lang="pl-PL" dirty="0"/>
              <a:t> pipeline with </a:t>
            </a:r>
            <a:r>
              <a:rPr lang="pl-PL" dirty="0" err="1"/>
              <a:t>default</a:t>
            </a:r>
            <a:r>
              <a:rPr lang="pl-PL" dirty="0"/>
              <a:t> </a:t>
            </a:r>
            <a:r>
              <a:rPr lang="pl-PL" dirty="0" err="1"/>
              <a:t>parameters</a:t>
            </a:r>
            <a:r>
              <a:rPr lang="pl-PL" dirty="0"/>
              <a:t> </a:t>
            </a:r>
            <a:r>
              <a:rPr lang="pl-PL" dirty="0" err="1"/>
              <a:t>works</a:t>
            </a:r>
            <a:r>
              <a:rPr lang="pl-PL" dirty="0"/>
              <a:t> </a:t>
            </a:r>
            <a:r>
              <a:rPr lang="pl-PL" dirty="0" err="1"/>
              <a:t>correctly</a:t>
            </a:r>
            <a:r>
              <a:rPr lang="pl-PL" dirty="0"/>
              <a:t> and </a:t>
            </a:r>
            <a:r>
              <a:rPr lang="pl-PL" dirty="0" err="1"/>
              <a:t>perform</a:t>
            </a:r>
            <a:r>
              <a:rPr lang="pl-PL" dirty="0"/>
              <a:t> </a:t>
            </a:r>
            <a:r>
              <a:rPr lang="pl-PL" dirty="0" err="1"/>
              <a:t>enough</a:t>
            </a:r>
            <a:r>
              <a:rPr lang="pl-PL" dirty="0"/>
              <a:t> tests as part of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Remember</a:t>
            </a:r>
            <a:r>
              <a:rPr lang="pl-PL" dirty="0"/>
              <a:t> </a:t>
            </a:r>
            <a:r>
              <a:rPr lang="pl-PL" dirty="0" err="1"/>
              <a:t>that</a:t>
            </a:r>
            <a:r>
              <a:rPr lang="pl-PL" dirty="0"/>
              <a:t> </a:t>
            </a:r>
            <a:r>
              <a:rPr lang="pl-PL" dirty="0" err="1"/>
              <a:t>writing</a:t>
            </a:r>
            <a:r>
              <a:rPr lang="pl-PL" dirty="0"/>
              <a:t> pipeline is not classic programming. Do not assume every programming tricks/techniques </a:t>
            </a:r>
            <a:r>
              <a:rPr lang="pl-PL" dirty="0" err="1"/>
              <a:t>work</a:t>
            </a:r>
            <a:r>
              <a:rPr lang="pl-PL" dirty="0"/>
              <a:t> </a:t>
            </a:r>
            <a:r>
              <a:rPr lang="pl-PL" dirty="0" err="1"/>
              <a:t>exactly</a:t>
            </a:r>
            <a:r>
              <a:rPr lang="pl-PL" dirty="0"/>
              <a:t> the same with as in programming language. </a:t>
            </a:r>
            <a:r>
              <a:rPr lang="pl-PL" dirty="0" err="1"/>
              <a:t>Check</a:t>
            </a:r>
            <a:r>
              <a:rPr lang="pl-PL" dirty="0"/>
              <a:t> code </a:t>
            </a:r>
            <a:r>
              <a:rPr lang="pl-PL" dirty="0" err="1"/>
              <a:t>frequently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Design </a:t>
            </a:r>
            <a:r>
              <a:rPr lang="pl-PL" dirty="0" err="1"/>
              <a:t>you</a:t>
            </a:r>
            <a:r>
              <a:rPr lang="pl-PL" dirty="0"/>
              <a:t> artificats flow </a:t>
            </a:r>
            <a:r>
              <a:rPr lang="pl-PL" dirty="0" err="1"/>
              <a:t>between</a:t>
            </a:r>
            <a:r>
              <a:rPr lang="pl-PL" dirty="0"/>
              <a:t> stage in pipelines. </a:t>
            </a:r>
            <a:r>
              <a:rPr lang="pl-PL" dirty="0" err="1"/>
              <a:t>If</a:t>
            </a:r>
            <a:r>
              <a:rPr lang="pl-PL" dirty="0"/>
              <a:t> stage </a:t>
            </a:r>
            <a:r>
              <a:rPr lang="pl-PL" dirty="0" err="1"/>
              <a:t>has</a:t>
            </a:r>
            <a:r>
              <a:rPr lang="pl-PL" dirty="0"/>
              <a:t> </a:t>
            </a:r>
            <a:r>
              <a:rPr lang="pl-PL" dirty="0" err="1"/>
              <a:t>more</a:t>
            </a:r>
            <a:r>
              <a:rPr lang="pl-PL" dirty="0"/>
              <a:t> </a:t>
            </a:r>
            <a:r>
              <a:rPr lang="pl-PL" dirty="0" err="1"/>
              <a:t>than</a:t>
            </a:r>
            <a:r>
              <a:rPr lang="pl-PL" dirty="0"/>
              <a:t> 10 </a:t>
            </a:r>
            <a:r>
              <a:rPr lang="pl-PL" dirty="0" err="1"/>
              <a:t>inputs</a:t>
            </a:r>
            <a:r>
              <a:rPr lang="pl-PL" dirty="0"/>
              <a:t> from </a:t>
            </a:r>
            <a:r>
              <a:rPr lang="pl-PL" dirty="0" err="1"/>
              <a:t>other</a:t>
            </a:r>
            <a:r>
              <a:rPr lang="pl-PL" dirty="0"/>
              <a:t> stages it could be </a:t>
            </a:r>
            <a:r>
              <a:rPr lang="pl-PL" dirty="0" err="1"/>
              <a:t>unstable</a:t>
            </a: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 err="1"/>
              <a:t>Review</a:t>
            </a:r>
            <a:r>
              <a:rPr lang="pl-PL" dirty="0"/>
              <a:t> </a:t>
            </a:r>
            <a:r>
              <a:rPr lang="pl-PL" dirty="0" err="1"/>
              <a:t>your</a:t>
            </a:r>
            <a:r>
              <a:rPr lang="pl-PL" dirty="0"/>
              <a:t> rollback and </a:t>
            </a:r>
            <a:r>
              <a:rPr lang="pl-PL" dirty="0" err="1"/>
              <a:t>job</a:t>
            </a:r>
            <a:r>
              <a:rPr lang="pl-PL" dirty="0"/>
              <a:t> </a:t>
            </a:r>
            <a:r>
              <a:rPr lang="pl-PL" dirty="0" err="1"/>
              <a:t>retry</a:t>
            </a:r>
            <a:r>
              <a:rPr lang="pl-PL" dirty="0"/>
              <a:t> </a:t>
            </a:r>
            <a:r>
              <a:rPr lang="pl-PL" dirty="0" err="1"/>
              <a:t>strategy</a:t>
            </a:r>
            <a:endParaRPr lang="pl-PL" dirty="0"/>
          </a:p>
          <a:p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Gitlab – </a:t>
            </a:r>
            <a:r>
              <a:rPr lang="pl-PL" dirty="0" err="1"/>
              <a:t>there</a:t>
            </a:r>
            <a:r>
              <a:rPr lang="pl-PL" dirty="0"/>
              <a:t> is </a:t>
            </a:r>
            <a:r>
              <a:rPr lang="pl-PL" dirty="0" err="1"/>
              <a:t>so</a:t>
            </a:r>
            <a:r>
              <a:rPr lang="pl-PL" dirty="0"/>
              <a:t> </a:t>
            </a:r>
            <a:r>
              <a:rPr lang="pl-PL" dirty="0" err="1"/>
              <a:t>many</a:t>
            </a:r>
            <a:r>
              <a:rPr lang="pl-PL" dirty="0"/>
              <a:t> </a:t>
            </a:r>
            <a:r>
              <a:rPr lang="pl-PL" dirty="0" err="1"/>
              <a:t>diffirent</a:t>
            </a:r>
            <a:r>
              <a:rPr lang="pl-PL" dirty="0"/>
              <a:t> </a:t>
            </a:r>
            <a:r>
              <a:rPr lang="pl-PL" dirty="0" err="1"/>
              <a:t>configurations</a:t>
            </a:r>
            <a:r>
              <a:rPr lang="pl-PL" dirty="0"/>
              <a:t> (</a:t>
            </a:r>
            <a:r>
              <a:rPr lang="pl-PL" dirty="0" err="1"/>
              <a:t>plugins</a:t>
            </a:r>
            <a:r>
              <a:rPr lang="pl-PL" dirty="0"/>
              <a:t>/</a:t>
            </a:r>
            <a:r>
              <a:rPr lang="pl-PL" dirty="0" err="1"/>
              <a:t>extensions</a:t>
            </a:r>
            <a:r>
              <a:rPr lang="pl-PL" dirty="0"/>
              <a:t>) </a:t>
            </a:r>
            <a:r>
              <a:rPr lang="pl-PL" dirty="0" err="1"/>
              <a:t>across</a:t>
            </a:r>
            <a:r>
              <a:rPr lang="pl-PL" dirty="0"/>
              <a:t> enterprises. </a:t>
            </a:r>
            <a:r>
              <a:rPr lang="pl-PL" dirty="0" err="1"/>
              <a:t>Think</a:t>
            </a:r>
            <a:r>
              <a:rPr lang="pl-PL" dirty="0"/>
              <a:t> portability and </a:t>
            </a:r>
            <a:r>
              <a:rPr lang="pl-PL" dirty="0" err="1"/>
              <a:t>stability</a:t>
            </a:r>
            <a:r>
              <a:rPr lang="pl-PL" dirty="0"/>
              <a:t>. Gitlab </a:t>
            </a:r>
            <a:r>
              <a:rPr lang="pl-PL" dirty="0" err="1"/>
              <a:t>helps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</a:t>
            </a:r>
            <a:r>
              <a:rPr lang="pl-PL" dirty="0" err="1"/>
              <a:t>here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Gitlab </a:t>
            </a:r>
            <a:r>
              <a:rPr lang="pl-PL" dirty="0" err="1"/>
              <a:t>executor</a:t>
            </a:r>
            <a:r>
              <a:rPr lang="pl-PL" dirty="0"/>
              <a:t> – </a:t>
            </a:r>
            <a:r>
              <a:rPr lang="pl-PL" dirty="0" err="1"/>
              <a:t>are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big </a:t>
            </a:r>
            <a:r>
              <a:rPr lang="pl-PL" dirty="0" err="1"/>
              <a:t>enough</a:t>
            </a:r>
            <a:r>
              <a:rPr lang="pl-PL" dirty="0"/>
              <a:t> to </a:t>
            </a:r>
            <a:r>
              <a:rPr lang="pl-PL" dirty="0" err="1"/>
              <a:t>use</a:t>
            </a:r>
            <a:r>
              <a:rPr lang="pl-PL" dirty="0"/>
              <a:t> </a:t>
            </a:r>
            <a:r>
              <a:rPr lang="pl-PL" dirty="0" err="1"/>
              <a:t>Kubernetes</a:t>
            </a:r>
            <a:r>
              <a:rPr lang="pl-PL" dirty="0"/>
              <a:t> </a:t>
            </a:r>
            <a:r>
              <a:rPr lang="pl-PL" dirty="0" err="1"/>
              <a:t>Executor</a:t>
            </a:r>
            <a:r>
              <a:rPr lang="pl-PL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dirty="0"/>
              <a:t>Use automatic test </a:t>
            </a:r>
            <a:r>
              <a:rPr lang="pl-PL" dirty="0" err="1"/>
              <a:t>regression</a:t>
            </a:r>
            <a:r>
              <a:rPr lang="pl-PL" dirty="0"/>
              <a:t> and TDD techniques – </a:t>
            </a:r>
            <a:r>
              <a:rPr lang="pl-PL" dirty="0" err="1"/>
              <a:t>DevOps</a:t>
            </a:r>
            <a:r>
              <a:rPr lang="pl-PL" dirty="0"/>
              <a:t> </a:t>
            </a:r>
            <a:r>
              <a:rPr lang="pl-PL" dirty="0" err="1"/>
              <a:t>helps</a:t>
            </a:r>
            <a:r>
              <a:rPr lang="pl-PL" dirty="0"/>
              <a:t> to </a:t>
            </a:r>
            <a:r>
              <a:rPr lang="pl-PL" dirty="0" err="1"/>
              <a:t>perform</a:t>
            </a:r>
            <a:r>
              <a:rPr lang="pl-PL" dirty="0"/>
              <a:t> a lot of automation </a:t>
            </a:r>
            <a:r>
              <a:rPr lang="pl-PL" dirty="0" err="1"/>
              <a:t>executions</a:t>
            </a:r>
            <a:r>
              <a:rPr lang="pl-P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6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FB12F099-6A43-4CD8-A38D-F5C3F7E6013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F53C967-B173-6A20-269A-36AF9AED1E65}"/>
              </a:ext>
            </a:extLst>
          </p:cNvPr>
          <p:cNvSpPr txBox="1"/>
          <p:nvPr/>
        </p:nvSpPr>
        <p:spPr>
          <a:xfrm>
            <a:off x="249382" y="2456696"/>
            <a:ext cx="116932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9600" dirty="0"/>
              <a:t>Show me the </a:t>
            </a:r>
            <a:r>
              <a:rPr lang="pl-PL" sz="9600" dirty="0" err="1"/>
              <a:t>code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799749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umeru slajdu 1">
            <a:extLst>
              <a:ext uri="{FF2B5EF4-FFF2-40B4-BE49-F238E27FC236}">
                <a16:creationId xmlns:a16="http://schemas.microsoft.com/office/drawing/2014/main" id="{331C978C-379F-FF0F-BF65-9B262E3ECFD5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345D60D9-5372-5F40-9443-0F9AE5BDC3C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925EB36A-9EB7-7A50-AF54-A46DB8EF1D5E}"/>
              </a:ext>
            </a:extLst>
          </p:cNvPr>
          <p:cNvSpPr txBox="1"/>
          <p:nvPr/>
        </p:nvSpPr>
        <p:spPr>
          <a:xfrm>
            <a:off x="4310486" y="2813054"/>
            <a:ext cx="38347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4800" b="1" dirty="0" err="1">
                <a:solidFill>
                  <a:schemeClr val="accent4"/>
                </a:solidFill>
              </a:rPr>
              <a:t>Thank</a:t>
            </a:r>
            <a:r>
              <a:rPr lang="pl-PL" sz="4800" b="1" dirty="0">
                <a:solidFill>
                  <a:schemeClr val="accent4"/>
                </a:solidFill>
              </a:rPr>
              <a:t> </a:t>
            </a:r>
            <a:r>
              <a:rPr lang="pl-PL" sz="4800" b="1" dirty="0" err="1">
                <a:solidFill>
                  <a:schemeClr val="accent4"/>
                </a:solidFill>
              </a:rPr>
              <a:t>You</a:t>
            </a:r>
            <a:r>
              <a:rPr lang="pl-PL" sz="4800" b="1" dirty="0">
                <a:solidFill>
                  <a:schemeClr val="accent4"/>
                </a:solidFill>
              </a:rPr>
              <a:t> </a:t>
            </a:r>
            <a:r>
              <a:rPr lang="pl-PL" sz="4800" b="1" dirty="0">
                <a:solidFill>
                  <a:schemeClr val="accent4"/>
                </a:solidFill>
                <a:sym typeface="Wingdings" panose="05000000000000000000" pitchFamily="2" charset="2"/>
              </a:rPr>
              <a:t></a:t>
            </a:r>
            <a:endParaRPr lang="en-US" sz="48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99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arent Master">
  <a:themeElements>
    <a:clrScheme name="Oracle Redwood 08-26-2020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Fla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 cap="flat" cmpd="sng" algn="ctr">
          <a:solidFill>
            <a:schemeClr val="phClr">
              <a:shade val="65000"/>
            </a:schemeClr>
          </a:solidFill>
          <a:prstDash val="solid"/>
        </a:ln>
        <a:ln w="3175" cap="flat" cmpd="sng" algn="ctr">
          <a:solidFill>
            <a:schemeClr val="phClr"/>
          </a:solidFill>
          <a:prstDash val="solid"/>
        </a:ln>
        <a:ln w="0" cap="flat" cmpd="sng" algn="ctr">
          <a:noFill/>
        </a:ln>
      </a:lnStyleLst>
      <a:effectStyleLst>
        <a:effectStyle>
          <a:effectLst>
            <a:blur/>
          </a:effectLst>
        </a:effectStyle>
        <a:effectStyle>
          <a:effectLst>
            <a:blur/>
          </a:effectLst>
        </a:effectStyle>
        <a:effectStyle>
          <a:effectLst>
            <a:fillOverlay blend="darken">
              <a:solidFill>
                <a:schemeClr val="phClr">
                  <a:shade val="30000"/>
                </a:schemeClr>
              </a:solidFill>
            </a:fillOverlay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Ocean">
      <a:srgbClr val="2C5967"/>
    </a:custClr>
    <a:custClr name="Surf">
      <a:srgbClr val="41817E"/>
    </a:custClr>
    <a:custClr name="Sand">
      <a:srgbClr val="E5DBBE"/>
    </a:custClr>
    <a:custClr name="Pebble">
      <a:srgbClr val="8B8580"/>
    </a:custClr>
    <a:custClr name="Granite">
      <a:srgbClr val="67605B"/>
    </a:custClr>
    <a:custClr name="Position 6">
      <a:srgbClr val="FFFFFF"/>
    </a:custClr>
    <a:custClr name="Highlight/hyperlink dark theme">
      <a:srgbClr val="F0CC71"/>
    </a:custClr>
    <a:custClr name="Highlight/numbered list light theme">
      <a:srgbClr val="AE562C"/>
    </a:custClr>
    <a:custClr name="Hyperlink light theme (default)">
      <a:srgbClr val="00688C"/>
    </a:custClr>
    <a:custClr name="Numbered list dark theme">
      <a:srgbClr val="759C6C"/>
    </a:custClr>
    <a:custClr name="Brand: Neutral 30">
      <a:srgbClr val="F1EFED"/>
    </a:custClr>
    <a:custClr name="Developer: Pebble 30">
      <a:srgbClr val="E7F0FD"/>
    </a:custClr>
    <a:custClr name="Database: Slate 30">
      <a:srgbClr val="E7F2F2"/>
    </a:custClr>
    <a:custClr name="Cloud Platform: Pine 30">
      <a:srgbClr val="E0F5E7"/>
    </a:custClr>
    <a:custClr name="Finance / Operations: Teal 30">
      <a:srgbClr val="E8F1F0"/>
    </a:custClr>
    <a:custClr name="NetSuite: Ocean 30">
      <a:srgbClr val="E7F2F5"/>
    </a:custClr>
    <a:custClr name="GBU: Lilac 30">
      <a:srgbClr val="EBEFFE"/>
    </a:custClr>
    <a:custClr name="CX/Marketing: Plum 30">
      <a:srgbClr val="F5ECFB"/>
    </a:custClr>
    <a:custClr name="HCM/HR: Rose 30">
      <a:srgbClr val="FBECEF"/>
    </a:custClr>
    <a:custClr name="SCM: Sienna 30">
      <a:srgbClr val="FCEDD9"/>
    </a:custClr>
    <a:custClr name="Brand: Neutral 70">
      <a:srgbClr val="AEA8A2"/>
    </a:custClr>
    <a:custClr name="Developer: Pebble 70">
      <a:srgbClr val="A2AAB6"/>
    </a:custClr>
    <a:custClr name="Database: Slate 70">
      <a:srgbClr val="99ADAE"/>
    </a:custClr>
    <a:custClr name="Cloud Platform: Pine 70">
      <a:srgbClr val="86B596"/>
    </a:custClr>
    <a:custClr name="Finance / Operations: Teal 70">
      <a:srgbClr val="89B2B0"/>
    </a:custClr>
    <a:custClr name="NetSuite: Ocean 70">
      <a:srgbClr val="81B2C3"/>
    </a:custClr>
    <a:custClr name="GBU: Lilac 70">
      <a:srgbClr val="A0A9C5"/>
    </a:custClr>
    <a:custClr name="CX/Marketing: Plum 70">
      <a:srgbClr val="B7A1C4"/>
    </a:custClr>
    <a:custClr name="HCM/HR: Rose 70">
      <a:srgbClr val="CE9BA7"/>
    </a:custClr>
    <a:custClr name="SCM: Sienna 70">
      <a:srgbClr val="D39F5D"/>
    </a:custClr>
    <a:custClr name="Brand: Neutral 140">
      <a:srgbClr val="514C47"/>
    </a:custClr>
    <a:custClr name="Developer: Pebble 140">
      <a:srgbClr val="494D53"/>
    </a:custClr>
    <a:custClr name="Database: Slate 140">
      <a:srgbClr val="464F4F"/>
    </a:custClr>
    <a:custClr name="Cloud Platform: Pine 140">
      <a:srgbClr val="33553C"/>
    </a:custClr>
    <a:custClr name="Finance / Operations: Teal 140">
      <a:srgbClr val="315357"/>
    </a:custClr>
    <a:custClr name="NetSuite: Ocean 140">
      <a:srgbClr val="2C5266"/>
    </a:custClr>
    <a:custClr name="GBU: Lilac 140">
      <a:srgbClr val="464C68"/>
    </a:custClr>
    <a:custClr name="CX/Marketing: Plum 140">
      <a:srgbClr val="594564"/>
    </a:custClr>
    <a:custClr name="HCM/HR: Rose 140">
      <a:srgbClr val="6C3F49"/>
    </a:custClr>
    <a:custClr name="SCM: Sienna 140">
      <a:srgbClr val="713F25"/>
    </a:custClr>
    <a:custClr name="Brand: Neutral 170">
      <a:srgbClr val="312D2A"/>
    </a:custClr>
    <a:custClr name="Developer: Pebble 170">
      <a:srgbClr val="2B2E32"/>
    </a:custClr>
    <a:custClr name="Database: Slate 170">
      <a:srgbClr val="2A2F2F"/>
    </a:custClr>
    <a:custClr name="Cloud Platform: Pine 170">
      <a:srgbClr val="1E3224"/>
    </a:custClr>
    <a:custClr name="Finance / Operations: Teal 170">
      <a:srgbClr val="1E3133"/>
    </a:custClr>
    <a:custClr name="NetSuite: Ocean 170">
      <a:srgbClr val="1A2F3F"/>
    </a:custClr>
    <a:custClr name="GBU: Lilac 170">
      <a:srgbClr val="2A2D3F"/>
    </a:custClr>
    <a:custClr name="CX/Marketing: Plum 170">
      <a:srgbClr val="36293C"/>
    </a:custClr>
    <a:custClr name="HCM/HR: Rose 170">
      <a:srgbClr val="41242B"/>
    </a:custClr>
    <a:custClr name="SCM: Sienna 170">
      <a:srgbClr val="442616"/>
    </a:custClr>
  </a:custClrLst>
  <a:extLst>
    <a:ext uri="{05A4C25C-085E-4340-85A3-A5531E510DB2}">
      <thm15:themeFamily xmlns:thm15="http://schemas.microsoft.com/office/thememl/2012/main" name="Presentation16" id="{6391EB39-2F7E-7E48-B8E0-526BE2EC03D5}" vid="{AE088C0C-C74B-2744-B44F-F37E1D6E1089}"/>
    </a:ext>
  </a:extLst>
</a:theme>
</file>

<file path=ppt/theme/theme2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racle 1.13 original colors">
      <a:dk1>
        <a:srgbClr val="312D2A"/>
      </a:dk1>
      <a:lt1>
        <a:srgbClr val="FCFBFA"/>
      </a:lt1>
      <a:dk2>
        <a:srgbClr val="312D2A"/>
      </a:dk2>
      <a:lt2>
        <a:srgbClr val="FCFBFA"/>
      </a:lt2>
      <a:accent1>
        <a:srgbClr val="C74634"/>
      </a:accent1>
      <a:accent2>
        <a:srgbClr val="FACD62"/>
      </a:accent2>
      <a:accent3>
        <a:srgbClr val="94AFAF"/>
      </a:accent3>
      <a:accent4>
        <a:srgbClr val="2B6242"/>
      </a:accent4>
      <a:accent5>
        <a:srgbClr val="AE562C"/>
      </a:accent5>
      <a:accent6>
        <a:srgbClr val="759C6C"/>
      </a:accent6>
      <a:hlink>
        <a:srgbClr val="2C5967"/>
      </a:hlink>
      <a:folHlink>
        <a:srgbClr val="2C5967"/>
      </a:folHlink>
    </a:clrScheme>
    <a:fontScheme name="Oracle">
      <a:majorFont>
        <a:latin typeface="Georgia"/>
        <a:ea typeface=""/>
        <a:cs typeface=""/>
      </a:majorFont>
      <a:minorFont>
        <a:latin typeface="Oracl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acle Redwood 06-2020">
    <a:dk1>
      <a:srgbClr val="312D2A"/>
    </a:dk1>
    <a:lt1>
      <a:srgbClr val="FCFBFA"/>
    </a:lt1>
    <a:dk2>
      <a:srgbClr val="312D2A"/>
    </a:dk2>
    <a:lt2>
      <a:srgbClr val="FCFBFA"/>
    </a:lt2>
    <a:accent1>
      <a:srgbClr val="C74634"/>
    </a:accent1>
    <a:accent2>
      <a:srgbClr val="FACD62"/>
    </a:accent2>
    <a:accent3>
      <a:srgbClr val="94AFAF"/>
    </a:accent3>
    <a:accent4>
      <a:srgbClr val="2B6242"/>
    </a:accent4>
    <a:accent5>
      <a:srgbClr val="AE562C"/>
    </a:accent5>
    <a:accent6>
      <a:srgbClr val="759C6C"/>
    </a:accent6>
    <a:hlink>
      <a:srgbClr val="2C5967"/>
    </a:hlink>
    <a:folHlink>
      <a:srgbClr val="2C596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Parent Master Pillars</Template>
  <TotalTime>6307</TotalTime>
  <Words>7218</Words>
  <Application>Microsoft Office PowerPoint</Application>
  <PresentationFormat>Panoramiczny</PresentationFormat>
  <Paragraphs>931</Paragraphs>
  <Slides>38</Slides>
  <Notes>35</Notes>
  <HiddenSlides>0</HiddenSlides>
  <MMClips>0</MMClips>
  <ScaleCrop>false</ScaleCrop>
  <HeadingPairs>
    <vt:vector size="6" baseType="variant">
      <vt:variant>
        <vt:lpstr>Używane czcionki</vt:lpstr>
      </vt:variant>
      <vt:variant>
        <vt:i4>7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38</vt:i4>
      </vt:variant>
    </vt:vector>
  </HeadingPairs>
  <TitlesOfParts>
    <vt:vector size="46" baseType="lpstr">
      <vt:lpstr>Arial</vt:lpstr>
      <vt:lpstr>Oracle Sans</vt:lpstr>
      <vt:lpstr>Oracle Sans Light</vt:lpstr>
      <vt:lpstr>Oracle Sans Tab</vt:lpstr>
      <vt:lpstr>Oracle Sans Tab Light</vt:lpstr>
      <vt:lpstr>System Font Regular</vt:lpstr>
      <vt:lpstr>Wingdings</vt:lpstr>
      <vt:lpstr>Parent Master</vt:lpstr>
      <vt:lpstr>Gitlab – How we built handsom pipelines</vt:lpstr>
      <vt:lpstr>Prezentacja programu PowerPoint</vt:lpstr>
      <vt:lpstr>Learn more &amp; connect with the Oracle ACE Program</vt:lpstr>
      <vt:lpstr>Agenda</vt:lpstr>
      <vt:lpstr>Prezentacja programu PowerPoint</vt:lpstr>
      <vt:lpstr>Prezentacja programu PowerPoint</vt:lpstr>
      <vt:lpstr>Gitlab Ci/CD</vt:lpstr>
      <vt:lpstr>Our Technology Stack – Oracle automation</vt:lpstr>
      <vt:lpstr>Prezentacja programu PowerPoint</vt:lpstr>
      <vt:lpstr>Our Gitlab Runner images</vt:lpstr>
      <vt:lpstr>Managing Material with Git – Primer (I)</vt:lpstr>
      <vt:lpstr>Managing Material with Git – Primer (II)</vt:lpstr>
      <vt:lpstr>Our Automation - summary</vt:lpstr>
      <vt:lpstr>Example - Oracle IaaS Offering</vt:lpstr>
      <vt:lpstr>Oracle IaaS Deployment</vt:lpstr>
      <vt:lpstr>Pipeline</vt:lpstr>
      <vt:lpstr>Prezentacja programu PowerPoint</vt:lpstr>
      <vt:lpstr>Prezentacja programu PowerPoint</vt:lpstr>
      <vt:lpstr>Gitlab Pipelines – code tour</vt:lpstr>
      <vt:lpstr>Gitlab Pipelines – code tour</vt:lpstr>
      <vt:lpstr>Gitlab Pipelines – code tour</vt:lpstr>
      <vt:lpstr>Gitlab Pipelines – code tour</vt:lpstr>
      <vt:lpstr>Gitlab Pipelines – code tour</vt:lpstr>
      <vt:lpstr>Prezentacja programu PowerPoint</vt:lpstr>
      <vt:lpstr>Gitlab Pipelines – code tour</vt:lpstr>
      <vt:lpstr>Oracle Database creation</vt:lpstr>
      <vt:lpstr>Example rollback scenario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What’s different about this template?</dc:title>
  <dc:creator>Bob Daly</dc:creator>
  <cp:lastModifiedBy>Ziss, Tomasz</cp:lastModifiedBy>
  <cp:revision>771</cp:revision>
  <dcterms:created xsi:type="dcterms:W3CDTF">2023-05-09T20:20:48Z</dcterms:created>
  <dcterms:modified xsi:type="dcterms:W3CDTF">2026-09-10T05:32:46Z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2231507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MSIP_Label_a4de43ec-192a-49eb-8e54-baeb8c71bbbe_Enabled">
    <vt:lpwstr>true</vt:lpwstr>
  </property>
  <property fmtid="{D5CDD505-2E9C-101B-9397-08002B2CF9AE}" pid="6" name="MSIP_Label_a4de43ec-192a-49eb-8e54-baeb8c71bbbe_SetDate">
    <vt:lpwstr>2025-09-01T11:43:06Z</vt:lpwstr>
  </property>
  <property fmtid="{D5CDD505-2E9C-101B-9397-08002B2CF9AE}" pid="7" name="MSIP_Label_a4de43ec-192a-49eb-8e54-baeb8c71bbbe_Method">
    <vt:lpwstr>Standard</vt:lpwstr>
  </property>
  <property fmtid="{D5CDD505-2E9C-101B-9397-08002B2CF9AE}" pid="8" name="MSIP_Label_a4de43ec-192a-49eb-8e54-baeb8c71bbbe_Name">
    <vt:lpwstr>Confidential – Oracle Internal</vt:lpwstr>
  </property>
  <property fmtid="{D5CDD505-2E9C-101B-9397-08002B2CF9AE}" pid="9" name="MSIP_Label_a4de43ec-192a-49eb-8e54-baeb8c71bbbe_SiteId">
    <vt:lpwstr>4e2c6054-71cb-48f1-bd6c-3a9705aca71b</vt:lpwstr>
  </property>
  <property fmtid="{D5CDD505-2E9C-101B-9397-08002B2CF9AE}" pid="10" name="MSIP_Label_a4de43ec-192a-49eb-8e54-baeb8c71bbbe_ActionId">
    <vt:lpwstr>efb3e30f-8b01-4751-a28c-9825463ae24b</vt:lpwstr>
  </property>
  <property fmtid="{D5CDD505-2E9C-101B-9397-08002B2CF9AE}" pid="11" name="MSIP_Label_a4de43ec-192a-49eb-8e54-baeb8c71bbbe_ContentBits">
    <vt:lpwstr>2</vt:lpwstr>
  </property>
  <property fmtid="{D5CDD505-2E9C-101B-9397-08002B2CF9AE}" pid="12" name="MSIP_Label_a4de43ec-192a-49eb-8e54-baeb8c71bbbe_Tag">
    <vt:lpwstr>50, 3, 0, 1</vt:lpwstr>
  </property>
  <property fmtid="{D5CDD505-2E9C-101B-9397-08002B2CF9AE}" pid="13" name="ClassificationContentMarkingFooterLocations">
    <vt:lpwstr>Parent Master:5</vt:lpwstr>
  </property>
  <property fmtid="{D5CDD505-2E9C-101B-9397-08002B2CF9AE}" pid="14" name="ClassificationContentMarkingFooterText">
    <vt:lpwstr>Confidential – Oracle Internal</vt:lpwstr>
  </property>
</Properties>
</file>